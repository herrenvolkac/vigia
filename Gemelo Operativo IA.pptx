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3"/>
  </p:notesMasterIdLst>
  <p:sldIdLst>
    <p:sldId id="256" r:id="rId2"/>
  </p:sldIdLst>
  <p:sldSz cx="14630400" cy="8229600"/>
  <p:notesSz cx="8229600" cy="146304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9156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BB929-4175-4C3B-90C9-2D8DC31AE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  <a:prstGeom prst="rect">
            <a:avLst/>
          </a:prstGeom>
        </p:spPr>
        <p:txBody>
          <a:bodyPr anchor="b"/>
          <a:lstStyle>
            <a:lvl1pPr algn="ctr"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8A942A-BD5D-405F-BDE0-4D9F9E653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40E3E3-D07C-400D-AECC-294D74B205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9B8597-644C-486D-8B8E-6AD6DB88A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32C094-A41B-4A0C-A64C-AC21C0A3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4659227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D6E2C7-D205-4897-9C40-CC8DBB6E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C3BEA0-3353-4EEC-9269-EA607822D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9F1B07-314A-4F88-9E88-10668003EF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F924EF-F705-49D8-BDAA-0D69EC329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819304-CD9F-4053-8CEA-3BCE8F320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5773689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4C981-84A2-4F1E-B48A-D16B83AF4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  <a:prstGeom prst="rect">
            <a:avLst/>
          </a:prstGeo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9539E8-5DE5-4995-A2EE-F58F88A5D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D75CE1-9D6D-4198-AA3A-30F874C203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48A34B-5CFB-40D7-B3D0-50DF460BC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95C84D-DE9B-4703-91AA-89472CA6D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755303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14222-BC3A-4F91-AFED-CD62D5D08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113C2F-8EB2-42BC-901E-88FE9FA8B1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A9C38C-AD2A-4606-832E-7AD3841A8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7033F0-2C94-4F00-B058-12EE2CC65D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2AC4FD-2F30-40A2-A160-9C6FBFF4E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5CC69E-8BCE-4C0B-ADB1-97C8949B0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4135470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D571B-B609-4945-A1F6-7854ED0B9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7D5172-1597-4C7D-9D16-4B588F96A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BEB8F9-8D27-417C-A686-833A91919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6CC6E9F-2CF2-4A63-9D4A-0AAAA050C5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E706C6B-DB2D-42B6-8722-8D7888B97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652C2C9-0476-4538-8736-B4E2034826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29/4/2026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29D586D-F1C5-456C-B0D1-6086163A0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92FB9BC-773A-4110-AEA8-C857EF403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2447171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59DF51-3F9C-458A-B5D0-ECFC7E639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65582F1-D0CB-4E81-908D-32782BA032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29/4/2026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3CD4D6D-645A-4F4C-B133-3D4ED8E51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D9369D8-32DF-4F4B-BD41-62A0FA656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6327532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9ECD40C-698A-45D2-9C78-488770EC3B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29/4/2026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F172F0-9771-4CAB-9AF0-3E8BFBA4D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877159-5889-4624-8A24-171DA636F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937224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C3C21E-8D09-42C1-A8B5-5A95E0351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  <a:prstGeom prst="rect">
            <a:avLst/>
          </a:prstGeo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4867D3-F191-4AA0-9054-E0EC765C9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  <a:prstGeom prst="rect">
            <a:avLst/>
          </a:prstGeo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0E65A4-AACE-4A4F-8018-D43518766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D937AD-6AB5-4AC7-B54F-274B51522E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44C449-D909-4D86-A1EF-76008D823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454E14-6FB7-472D-9E14-99D14FF99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884462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7B429-2F7D-4160-A0B1-1C523E803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  <a:prstGeom prst="rect">
            <a:avLst/>
          </a:prstGeo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145B17B-FD95-4F17-BB97-C0E0B5705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B646E7-EE2D-4E6C-82CC-43F3A1FE4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686C25-3D53-4391-9400-C60698E039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F24C836-4AAF-41C0-BD69-1E80BE9FD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177A8F-135F-4D1B-8A11-C345550BE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38280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DD358-E746-4E3B-95C7-660342496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AFD907F-BFFE-4C7D-A033-B6E92C291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B6DF30-BCB2-4BBF-B20C-EF007A6B47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61490C-DAF7-4906-A32D-AF62B8A9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5B33CC-08BE-47F0-8B42-D13455D0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7052103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FE4134-DE51-4460-AE4F-8EF0936923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698C57-FFD0-4D6B-BF83-D023437A1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3B89F3-F403-4B8E-8D99-EF30ADA6B2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E3973F-5451-4E19-BB2E-A2DA05875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8B4E8C-1554-417B-BB8F-47E1B0A3D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362117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21977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B4ABEC1-171E-4FEB-BBCB-592AD6178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027" t="24695" r="15395" b="29386"/>
          <a:stretch/>
        </p:blipFill>
        <p:spPr>
          <a:xfrm>
            <a:off x="12564271" y="7588577"/>
            <a:ext cx="2066130" cy="635796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36E01DFA-9770-45A7-9FF6-6A03BE6F67BD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" y="653511"/>
            <a:ext cx="14630400" cy="80796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F46C915A-17D8-485B-99E4-B867363437B4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" y="5246"/>
            <a:ext cx="14630400" cy="62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39">
            <a:extLst>
              <a:ext uri="{FF2B5EF4-FFF2-40B4-BE49-F238E27FC236}">
                <a16:creationId xmlns:a16="http://schemas.microsoft.com/office/drawing/2014/main" id="{797DEF5D-7791-48CA-92AC-39BDEB0FC5B7}"/>
              </a:ext>
            </a:extLst>
          </p:cNvPr>
          <p:cNvSpPr/>
          <p:nvPr/>
        </p:nvSpPr>
        <p:spPr>
          <a:xfrm>
            <a:off x="7521560" y="3290324"/>
            <a:ext cx="6709172" cy="3656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41" name="Shape 39"/>
          <p:cNvSpPr/>
          <p:nvPr/>
        </p:nvSpPr>
        <p:spPr>
          <a:xfrm>
            <a:off x="7483078" y="2520077"/>
            <a:ext cx="6709172" cy="3656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2" name="Text 0"/>
          <p:cNvSpPr/>
          <p:nvPr/>
        </p:nvSpPr>
        <p:spPr>
          <a:xfrm>
            <a:off x="287321" y="127500"/>
            <a:ext cx="8749308" cy="411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i="1" dirty="0" err="1">
                <a:solidFill>
                  <a:schemeClr val="bg1"/>
                </a:solidFill>
                <a:latin typeface="+mj-lt"/>
                <a:ea typeface="Sora Semi Bold" pitchFamily="34" charset="-122"/>
                <a:cs typeface="Sora Semi Bold" pitchFamily="34" charset="-120"/>
              </a:rPr>
              <a:t>VigIA</a:t>
            </a:r>
            <a:r>
              <a:rPr lang="en-US" sz="2550" b="1" i="1" dirty="0">
                <a:solidFill>
                  <a:schemeClr val="bg1"/>
                </a:solidFill>
                <a:latin typeface="+mj-lt"/>
                <a:ea typeface="Sora Semi Bold" pitchFamily="34" charset="-122"/>
                <a:cs typeface="Sora Semi Bold" pitchFamily="34" charset="-120"/>
              </a:rPr>
              <a:t>/</a:t>
            </a:r>
            <a:r>
              <a:rPr lang="en-US" sz="2550" b="1" i="1" dirty="0" err="1">
                <a:solidFill>
                  <a:schemeClr val="bg1"/>
                </a:solidFill>
                <a:latin typeface="+mj-lt"/>
                <a:ea typeface="Sora Semi Bold" pitchFamily="34" charset="-122"/>
                <a:cs typeface="Sora Semi Bold" pitchFamily="34" charset="-120"/>
              </a:rPr>
              <a:t>Evaluación</a:t>
            </a:r>
            <a:r>
              <a:rPr lang="en-US" sz="2550" b="1" i="1" dirty="0">
                <a:solidFill>
                  <a:schemeClr val="bg1"/>
                </a:solidFill>
                <a:latin typeface="+mj-lt"/>
                <a:ea typeface="Sora Semi Bold" pitchFamily="34" charset="-122"/>
                <a:cs typeface="Sora Semi Bold" pitchFamily="34" charset="-120"/>
              </a:rPr>
              <a:t> de </a:t>
            </a:r>
            <a:r>
              <a:rPr lang="en-US" sz="2550" b="1" i="1" dirty="0" err="1">
                <a:solidFill>
                  <a:schemeClr val="bg1"/>
                </a:solidFill>
                <a:latin typeface="+mj-lt"/>
                <a:ea typeface="Sora Semi Bold" pitchFamily="34" charset="-122"/>
                <a:cs typeface="Sora Semi Bold" pitchFamily="34" charset="-120"/>
              </a:rPr>
              <a:t>productividad</a:t>
            </a:r>
            <a:r>
              <a:rPr lang="en-US" sz="2550" b="1" i="1" dirty="0">
                <a:solidFill>
                  <a:schemeClr val="bg1"/>
                </a:solidFill>
                <a:latin typeface="+mj-lt"/>
                <a:ea typeface="Sora Semi Bold" pitchFamily="34" charset="-122"/>
                <a:cs typeface="Sora Semi Bold" pitchFamily="34" charset="-120"/>
              </a:rPr>
              <a:t> con IA – Centro de </a:t>
            </a:r>
            <a:r>
              <a:rPr lang="en-US" sz="2550" b="1" i="1" dirty="0" err="1">
                <a:solidFill>
                  <a:schemeClr val="bg1"/>
                </a:solidFill>
                <a:latin typeface="+mj-lt"/>
                <a:ea typeface="Sora Semi Bold" pitchFamily="34" charset="-122"/>
                <a:cs typeface="Sora Semi Bold" pitchFamily="34" charset="-120"/>
              </a:rPr>
              <a:t>Distribución</a:t>
            </a:r>
            <a:endParaRPr lang="en-US" sz="2550" b="1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333696" y="862101"/>
            <a:ext cx="164723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🎯</a:t>
            </a:r>
            <a:r>
              <a:rPr lang="en-US" b="1" dirty="0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Objetivo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11870" y="1111698"/>
            <a:ext cx="6724412" cy="1704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ES" sz="13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33696" y="3362186"/>
            <a:ext cx="202430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✔️</a:t>
            </a:r>
            <a:r>
              <a:rPr lang="en-US" b="1" dirty="0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Alcance del Proyecto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11870" y="3599293"/>
            <a:ext cx="6642984" cy="397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1550"/>
              </a:lnSpc>
            </a:pPr>
            <a:r>
              <a:rPr lang="es-AR" sz="1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proyecto abarca </a:t>
            </a:r>
            <a:r>
              <a:rPr lang="es-ES" sz="1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operaciones de </a:t>
            </a:r>
            <a:r>
              <a:rPr lang="es-ES" sz="13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picking</a:t>
            </a:r>
            <a:r>
              <a:rPr lang="es-ES" sz="1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 la s</a:t>
            </a:r>
            <a:r>
              <a:rPr lang="es-AR" sz="13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ucursal</a:t>
            </a:r>
            <a:r>
              <a:rPr lang="es-AR" sz="1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93.</a:t>
            </a:r>
            <a:endParaRPr lang="en-US" sz="13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 rot="5400000">
            <a:off x="3199421" y="2523219"/>
            <a:ext cx="7200" cy="4829543"/>
          </a:xfrm>
          <a:prstGeom prst="roundRect">
            <a:avLst>
              <a:gd name="adj" fmla="val 345034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13" name="Shape 11"/>
          <p:cNvSpPr/>
          <p:nvPr/>
        </p:nvSpPr>
        <p:spPr>
          <a:xfrm rot="5400000">
            <a:off x="1019558" y="5091467"/>
            <a:ext cx="375523" cy="7200"/>
          </a:xfrm>
          <a:prstGeom prst="roundRect">
            <a:avLst>
              <a:gd name="adj" fmla="val 345034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4264" y="4806572"/>
            <a:ext cx="281583" cy="281583"/>
          </a:xfrm>
          <a:prstGeom prst="roundRect">
            <a:avLst>
              <a:gd name="adj" fmla="val 18674"/>
            </a:avLst>
          </a:prstGeom>
          <a:solidFill>
            <a:schemeClr val="accent1">
              <a:lumMod val="60000"/>
              <a:lumOff val="40000"/>
            </a:schemeClr>
          </a:solidFill>
          <a:ln w="762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6174" y="4823776"/>
            <a:ext cx="197644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1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41177" y="5282829"/>
            <a:ext cx="542103" cy="214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 err="1">
                <a:latin typeface="Arial" panose="020B0604020202020204" pitchFamily="34" charset="0"/>
                <a:cs typeface="Arial" panose="020B0604020202020204" pitchFamily="34" charset="0"/>
              </a:rPr>
              <a:t>Análisis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8150" y="4714019"/>
            <a:ext cx="2736294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 rot="5400000">
            <a:off x="1897618" y="4762420"/>
            <a:ext cx="375523" cy="7200"/>
          </a:xfrm>
          <a:prstGeom prst="roundRect">
            <a:avLst>
              <a:gd name="adj" fmla="val 345034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46414" y="4805934"/>
            <a:ext cx="281583" cy="281583"/>
          </a:xfrm>
          <a:prstGeom prst="roundRect">
            <a:avLst>
              <a:gd name="adj" fmla="val 18674"/>
            </a:avLst>
          </a:prstGeom>
          <a:solidFill>
            <a:schemeClr val="accent1">
              <a:lumMod val="60000"/>
              <a:lumOff val="40000"/>
            </a:schemeClr>
          </a:solidFill>
          <a:ln w="762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88324" y="4823139"/>
            <a:ext cx="197644" cy="2470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2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631216" y="4374497"/>
            <a:ext cx="164723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Planificación</a:t>
            </a:r>
          </a:p>
        </p:txBody>
      </p:sp>
      <p:sp>
        <p:nvSpPr>
          <p:cNvPr id="23" name="Shape 21"/>
          <p:cNvSpPr/>
          <p:nvPr/>
        </p:nvSpPr>
        <p:spPr>
          <a:xfrm rot="5400000">
            <a:off x="2728582" y="5084555"/>
            <a:ext cx="375523" cy="7200"/>
          </a:xfrm>
          <a:prstGeom prst="roundRect">
            <a:avLst>
              <a:gd name="adj" fmla="val 345034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77177" y="4805742"/>
            <a:ext cx="281583" cy="281583"/>
          </a:xfrm>
          <a:prstGeom prst="roundRect">
            <a:avLst>
              <a:gd name="adj" fmla="val 18674"/>
            </a:avLst>
          </a:prstGeom>
          <a:solidFill>
            <a:schemeClr val="accent1">
              <a:lumMod val="60000"/>
              <a:lumOff val="40000"/>
            </a:schemeClr>
          </a:solidFill>
          <a:ln w="762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19087" y="4822947"/>
            <a:ext cx="197644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3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38150" y="5933267"/>
            <a:ext cx="2736294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33696" y="7158722"/>
            <a:ext cx="28449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📅</a:t>
            </a:r>
            <a:r>
              <a:rPr lang="en-US" b="1" dirty="0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Fecha Estimada de Finalización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49917" y="7356487"/>
            <a:ext cx="3750069" cy="568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2500" dirty="0">
                <a:solidFill>
                  <a:srgbClr val="626C3B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01/06/2026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475458" y="1068824"/>
            <a:ext cx="193821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👥</a:t>
            </a:r>
            <a:r>
              <a:rPr lang="en-US" b="1" dirty="0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Equipo del Proyecto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475458" y="1415534"/>
            <a:ext cx="6724412" cy="1477804"/>
          </a:xfrm>
          <a:prstGeom prst="roundRect">
            <a:avLst>
              <a:gd name="adj" fmla="val 355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83078" y="1423154"/>
            <a:ext cx="6709172" cy="3656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33" name="Text 31"/>
          <p:cNvSpPr/>
          <p:nvPr/>
        </p:nvSpPr>
        <p:spPr>
          <a:xfrm>
            <a:off x="7608213" y="1505783"/>
            <a:ext cx="1758672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Patrocinador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624774" y="1505783"/>
            <a:ext cx="4442341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50"/>
              </a:lnSpc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Guillermo </a:t>
            </a:r>
            <a:r>
              <a:rPr lang="en-US" sz="1200" dirty="0" err="1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Novelino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// Alejandro Torres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483078" y="1788795"/>
            <a:ext cx="6709172" cy="3656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36" name="Text 34"/>
          <p:cNvSpPr/>
          <p:nvPr/>
        </p:nvSpPr>
        <p:spPr>
          <a:xfrm>
            <a:off x="7565231" y="3353726"/>
            <a:ext cx="1758672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Areas </a:t>
            </a:r>
            <a:r>
              <a:rPr lang="en-US" sz="1200" dirty="0" err="1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Interesadas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624773" y="3351296"/>
            <a:ext cx="4442341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Centro de </a:t>
            </a:r>
            <a:r>
              <a:rPr lang="en-US" sz="1200" dirty="0" err="1">
                <a:solidFill>
                  <a:srgbClr val="3B35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Distribución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- 093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483078" y="2154436"/>
            <a:ext cx="6709172" cy="3656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608213" y="2237065"/>
            <a:ext cx="1758672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 err="1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Experto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Sistemas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624774" y="2237065"/>
            <a:ext cx="4442341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Luciano Zuromskas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608213" y="2602706"/>
            <a:ext cx="1758672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Equipo Técnico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624774" y="2602706"/>
            <a:ext cx="4442341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433607" y="4158972"/>
            <a:ext cx="168080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🗓️</a:t>
            </a:r>
            <a:r>
              <a:rPr lang="en-US" b="1" dirty="0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Hitos Principales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475458" y="4753622"/>
            <a:ext cx="6437828" cy="156448"/>
          </a:xfrm>
          <a:prstGeom prst="roundRect">
            <a:avLst>
              <a:gd name="adj" fmla="val 33611"/>
            </a:avLst>
          </a:prstGeom>
          <a:solidFill>
            <a:schemeClr val="accent1">
              <a:lumMod val="20000"/>
              <a:lumOff val="80000"/>
            </a:schemeClr>
          </a:solidFill>
          <a:ln w="762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75456" y="4722609"/>
            <a:ext cx="1800000" cy="198989"/>
          </a:xfrm>
          <a:prstGeom prst="roundRect">
            <a:avLst>
              <a:gd name="adj" fmla="val 3361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</p:sp>
      <p:sp>
        <p:nvSpPr>
          <p:cNvPr id="47" name="Text 45"/>
          <p:cNvSpPr/>
          <p:nvPr/>
        </p:nvSpPr>
        <p:spPr>
          <a:xfrm>
            <a:off x="14007108" y="4753622"/>
            <a:ext cx="192762" cy="156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</a:p>
        </p:txBody>
      </p:sp>
      <p:sp>
        <p:nvSpPr>
          <p:cNvPr id="48" name="Text 46"/>
          <p:cNvSpPr/>
          <p:nvPr/>
        </p:nvSpPr>
        <p:spPr>
          <a:xfrm>
            <a:off x="7475458" y="4953275"/>
            <a:ext cx="164723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250" dirty="0" err="1">
                <a:latin typeface="Arial" panose="020B0604020202020204" pitchFamily="34" charset="0"/>
                <a:cs typeface="Arial" panose="020B0604020202020204" pitchFamily="34" charset="0"/>
              </a:rPr>
              <a:t>Análisis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50" dirty="0" err="1">
                <a:latin typeface="Arial" panose="020B0604020202020204" pitchFamily="34" charset="0"/>
                <a:cs typeface="Arial" panose="020B0604020202020204" pitchFamily="34" charset="0"/>
              </a:rPr>
              <a:t>situación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 actual</a:t>
            </a:r>
          </a:p>
        </p:txBody>
      </p:sp>
      <p:sp>
        <p:nvSpPr>
          <p:cNvPr id="50" name="Shape 48"/>
          <p:cNvSpPr/>
          <p:nvPr/>
        </p:nvSpPr>
        <p:spPr>
          <a:xfrm>
            <a:off x="7492462" y="5373455"/>
            <a:ext cx="6406396" cy="156448"/>
          </a:xfrm>
          <a:prstGeom prst="roundRect">
            <a:avLst>
              <a:gd name="adj" fmla="val 33611"/>
            </a:avLst>
          </a:prstGeom>
          <a:solidFill>
            <a:schemeClr val="accent1">
              <a:lumMod val="20000"/>
              <a:lumOff val="80000"/>
            </a:schemeClr>
          </a:solidFill>
          <a:ln w="762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75458" y="5373456"/>
            <a:ext cx="1080000" cy="156447"/>
          </a:xfrm>
          <a:prstGeom prst="roundRect">
            <a:avLst>
              <a:gd name="adj" fmla="val 3361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</p:sp>
      <p:sp>
        <p:nvSpPr>
          <p:cNvPr id="52" name="Text 50"/>
          <p:cNvSpPr/>
          <p:nvPr/>
        </p:nvSpPr>
        <p:spPr>
          <a:xfrm>
            <a:off x="13975675" y="5401738"/>
            <a:ext cx="224195" cy="156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20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492462" y="5601196"/>
            <a:ext cx="164723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250" dirty="0" err="1">
                <a:latin typeface="Arial" panose="020B0604020202020204" pitchFamily="34" charset="0"/>
                <a:cs typeface="Arial" panose="020B0604020202020204" pitchFamily="34" charset="0"/>
              </a:rPr>
              <a:t>Configuración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50" dirty="0" err="1">
                <a:latin typeface="Arial" panose="020B0604020202020204" pitchFamily="34" charset="0"/>
                <a:cs typeface="Arial" panose="020B0604020202020204" pitchFamily="34" charset="0"/>
              </a:rPr>
              <a:t>Promp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50" dirty="0" err="1">
                <a:latin typeface="Arial" panose="020B0604020202020204" pitchFamily="34" charset="0"/>
                <a:cs typeface="Arial" panose="020B0604020202020204" pitchFamily="34" charset="0"/>
              </a:rPr>
              <a:t>Limites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475458" y="5974437"/>
            <a:ext cx="6437828" cy="156448"/>
          </a:xfrm>
          <a:prstGeom prst="roundRect">
            <a:avLst>
              <a:gd name="adj" fmla="val 33611"/>
            </a:avLst>
          </a:prstGeom>
          <a:solidFill>
            <a:schemeClr val="accent1">
              <a:lumMod val="20000"/>
              <a:lumOff val="80000"/>
            </a:schemeClr>
          </a:solidFill>
          <a:ln w="762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75456" y="5974437"/>
            <a:ext cx="360000" cy="194354"/>
          </a:xfrm>
          <a:prstGeom prst="roundRect">
            <a:avLst>
              <a:gd name="adj" fmla="val 3361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</p:sp>
      <p:sp>
        <p:nvSpPr>
          <p:cNvPr id="57" name="Text 55"/>
          <p:cNvSpPr/>
          <p:nvPr/>
        </p:nvSpPr>
        <p:spPr>
          <a:xfrm>
            <a:off x="14007108" y="5974437"/>
            <a:ext cx="192762" cy="156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05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475458" y="6223620"/>
            <a:ext cx="164723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250" dirty="0" err="1">
                <a:latin typeface="Arial" panose="020B0604020202020204" pitchFamily="34" charset="0"/>
                <a:cs typeface="Arial" panose="020B0604020202020204" pitchFamily="34" charset="0"/>
              </a:rPr>
              <a:t>Generación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 de Power App para </a:t>
            </a:r>
            <a:r>
              <a:rPr lang="en-US" sz="1250" dirty="0" err="1">
                <a:latin typeface="Arial" panose="020B0604020202020204" pitchFamily="34" charset="0"/>
                <a:cs typeface="Arial" panose="020B0604020202020204" pitchFamily="34" charset="0"/>
              </a:rPr>
              <a:t>ingreso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50" dirty="0" err="1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475458" y="6660264"/>
            <a:ext cx="6437828" cy="156448"/>
          </a:xfrm>
          <a:prstGeom prst="roundRect">
            <a:avLst>
              <a:gd name="adj" fmla="val 33611"/>
            </a:avLst>
          </a:prstGeom>
          <a:solidFill>
            <a:schemeClr val="accent1">
              <a:lumMod val="20000"/>
              <a:lumOff val="80000"/>
            </a:schemeClr>
          </a:solidFill>
          <a:ln w="762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4007108" y="6660264"/>
            <a:ext cx="192762" cy="156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00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483078" y="6871541"/>
            <a:ext cx="164723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250" dirty="0" err="1">
                <a:latin typeface="Arial" panose="020B0604020202020204" pitchFamily="34" charset="0"/>
                <a:cs typeface="Arial" panose="020B0604020202020204" pitchFamily="34" charset="0"/>
              </a:rPr>
              <a:t>Pruebas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 On Line y </a:t>
            </a:r>
            <a:r>
              <a:rPr lang="en-US" sz="1250" dirty="0" err="1">
                <a:latin typeface="Arial" panose="020B0604020202020204" pitchFamily="34" charset="0"/>
                <a:cs typeface="Arial" panose="020B0604020202020204" pitchFamily="34" charset="0"/>
              </a:rPr>
              <a:t>Capacitación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5" name="Text 42">
            <a:extLst>
              <a:ext uri="{FF2B5EF4-FFF2-40B4-BE49-F238E27FC236}">
                <a16:creationId xmlns:a16="http://schemas.microsoft.com/office/drawing/2014/main" id="{69A0522F-E8BF-4C98-89C2-FED0F4747A88}"/>
              </a:ext>
            </a:extLst>
          </p:cNvPr>
          <p:cNvSpPr/>
          <p:nvPr/>
        </p:nvSpPr>
        <p:spPr>
          <a:xfrm>
            <a:off x="443809" y="4025480"/>
            <a:ext cx="202430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 err="1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Etapas</a:t>
            </a:r>
            <a:r>
              <a:rPr lang="en-US" b="1" dirty="0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Principales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031BF48A-7965-46E5-A226-F61922ED27D5}"/>
              </a:ext>
            </a:extLst>
          </p:cNvPr>
          <p:cNvSpPr/>
          <p:nvPr/>
        </p:nvSpPr>
        <p:spPr>
          <a:xfrm>
            <a:off x="2564524" y="5284875"/>
            <a:ext cx="164723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 err="1">
                <a:latin typeface="Arial" panose="020B0604020202020204" pitchFamily="34" charset="0"/>
                <a:cs typeface="Arial" panose="020B0604020202020204" pitchFamily="34" charset="0"/>
              </a:rPr>
              <a:t>Ejecución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 36">
            <a:extLst>
              <a:ext uri="{FF2B5EF4-FFF2-40B4-BE49-F238E27FC236}">
                <a16:creationId xmlns:a16="http://schemas.microsoft.com/office/drawing/2014/main" id="{F5798F66-01BF-42FE-92DA-BF6840840E55}"/>
              </a:ext>
            </a:extLst>
          </p:cNvPr>
          <p:cNvSpPr/>
          <p:nvPr/>
        </p:nvSpPr>
        <p:spPr>
          <a:xfrm>
            <a:off x="7498318" y="2874073"/>
            <a:ext cx="6709172" cy="3656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71" name="Text 37">
            <a:extLst>
              <a:ext uri="{FF2B5EF4-FFF2-40B4-BE49-F238E27FC236}">
                <a16:creationId xmlns:a16="http://schemas.microsoft.com/office/drawing/2014/main" id="{9A92B30A-10C5-47FA-92D4-00EC4C44B208}"/>
              </a:ext>
            </a:extLst>
          </p:cNvPr>
          <p:cNvSpPr/>
          <p:nvPr/>
        </p:nvSpPr>
        <p:spPr>
          <a:xfrm>
            <a:off x="7548206" y="3003080"/>
            <a:ext cx="1758672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 err="1">
                <a:solidFill>
                  <a:srgbClr val="3B35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 38">
            <a:extLst>
              <a:ext uri="{FF2B5EF4-FFF2-40B4-BE49-F238E27FC236}">
                <a16:creationId xmlns:a16="http://schemas.microsoft.com/office/drawing/2014/main" id="{1951A69B-E84F-4A66-AB98-36B85784D41F}"/>
              </a:ext>
            </a:extLst>
          </p:cNvPr>
          <p:cNvSpPr/>
          <p:nvPr/>
        </p:nvSpPr>
        <p:spPr>
          <a:xfrm>
            <a:off x="9564767" y="3003080"/>
            <a:ext cx="4442341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Centro de </a:t>
            </a:r>
            <a:r>
              <a:rPr lang="en-US" sz="1200" dirty="0" err="1">
                <a:solidFill>
                  <a:srgbClr val="3B35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Distribución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COTO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 40">
            <a:extLst>
              <a:ext uri="{FF2B5EF4-FFF2-40B4-BE49-F238E27FC236}">
                <a16:creationId xmlns:a16="http://schemas.microsoft.com/office/drawing/2014/main" id="{F6D996D6-AC37-43AB-80D3-1324BD5B4A8E}"/>
              </a:ext>
            </a:extLst>
          </p:cNvPr>
          <p:cNvSpPr/>
          <p:nvPr/>
        </p:nvSpPr>
        <p:spPr>
          <a:xfrm>
            <a:off x="7565231" y="1886914"/>
            <a:ext cx="1758672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 err="1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Lider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de Proyecto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 41">
            <a:extLst>
              <a:ext uri="{FF2B5EF4-FFF2-40B4-BE49-F238E27FC236}">
                <a16:creationId xmlns:a16="http://schemas.microsoft.com/office/drawing/2014/main" id="{C39A79B9-FF57-4860-A6D2-74702892158E}"/>
              </a:ext>
            </a:extLst>
          </p:cNvPr>
          <p:cNvSpPr/>
          <p:nvPr/>
        </p:nvSpPr>
        <p:spPr>
          <a:xfrm>
            <a:off x="9624772" y="1877247"/>
            <a:ext cx="4442341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Alejandro Delpiero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Estrella: 5 puntas 75">
            <a:extLst>
              <a:ext uri="{FF2B5EF4-FFF2-40B4-BE49-F238E27FC236}">
                <a16:creationId xmlns:a16="http://schemas.microsoft.com/office/drawing/2014/main" id="{D3A75B94-5E33-4A68-B786-F224790EECA2}"/>
              </a:ext>
            </a:extLst>
          </p:cNvPr>
          <p:cNvSpPr/>
          <p:nvPr/>
        </p:nvSpPr>
        <p:spPr>
          <a:xfrm>
            <a:off x="577412" y="4719595"/>
            <a:ext cx="458549" cy="350407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DEB7AEBE-1C7B-4AB2-AFE0-9F73E722CDF7}"/>
              </a:ext>
            </a:extLst>
          </p:cNvPr>
          <p:cNvCxnSpPr/>
          <p:nvPr/>
        </p:nvCxnSpPr>
        <p:spPr>
          <a:xfrm>
            <a:off x="7141439" y="657421"/>
            <a:ext cx="11768" cy="7003101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 42">
            <a:extLst>
              <a:ext uri="{FF2B5EF4-FFF2-40B4-BE49-F238E27FC236}">
                <a16:creationId xmlns:a16="http://schemas.microsoft.com/office/drawing/2014/main" id="{BCCC0D2F-AC8A-42F5-9A5E-CFC63EA636C1}"/>
              </a:ext>
            </a:extLst>
          </p:cNvPr>
          <p:cNvSpPr/>
          <p:nvPr/>
        </p:nvSpPr>
        <p:spPr>
          <a:xfrm>
            <a:off x="333696" y="5863230"/>
            <a:ext cx="202430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 err="1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Restricciones</a:t>
            </a:r>
            <a:r>
              <a:rPr lang="en-US" b="1" dirty="0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mayores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Shape 21">
            <a:extLst>
              <a:ext uri="{FF2B5EF4-FFF2-40B4-BE49-F238E27FC236}">
                <a16:creationId xmlns:a16="http://schemas.microsoft.com/office/drawing/2014/main" id="{8D60D5E4-3B00-4A7F-A0F3-103ED3EA0083}"/>
              </a:ext>
            </a:extLst>
          </p:cNvPr>
          <p:cNvSpPr/>
          <p:nvPr/>
        </p:nvSpPr>
        <p:spPr>
          <a:xfrm rot="5400000">
            <a:off x="5052682" y="5103605"/>
            <a:ext cx="375523" cy="7200"/>
          </a:xfrm>
          <a:prstGeom prst="roundRect">
            <a:avLst>
              <a:gd name="adj" fmla="val 345034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79" name="Shape 22">
            <a:extLst>
              <a:ext uri="{FF2B5EF4-FFF2-40B4-BE49-F238E27FC236}">
                <a16:creationId xmlns:a16="http://schemas.microsoft.com/office/drawing/2014/main" id="{A1DC0466-4124-4B79-BF8F-F7F9066D3C75}"/>
              </a:ext>
            </a:extLst>
          </p:cNvPr>
          <p:cNvSpPr/>
          <p:nvPr/>
        </p:nvSpPr>
        <p:spPr>
          <a:xfrm>
            <a:off x="5101277" y="4824792"/>
            <a:ext cx="281583" cy="281583"/>
          </a:xfrm>
          <a:prstGeom prst="roundRect">
            <a:avLst>
              <a:gd name="adj" fmla="val 18674"/>
            </a:avLst>
          </a:prstGeom>
          <a:solidFill>
            <a:schemeClr val="accent1">
              <a:lumMod val="60000"/>
              <a:lumOff val="40000"/>
            </a:schemeClr>
          </a:solidFill>
          <a:ln w="762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80" name="Text 23">
            <a:extLst>
              <a:ext uri="{FF2B5EF4-FFF2-40B4-BE49-F238E27FC236}">
                <a16:creationId xmlns:a16="http://schemas.microsoft.com/office/drawing/2014/main" id="{D75A9330-DC53-425B-A7A3-7FBAC25CA8C2}"/>
              </a:ext>
            </a:extLst>
          </p:cNvPr>
          <p:cNvSpPr/>
          <p:nvPr/>
        </p:nvSpPr>
        <p:spPr>
          <a:xfrm>
            <a:off x="5143187" y="4841997"/>
            <a:ext cx="197644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5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Text 19">
            <a:extLst>
              <a:ext uri="{FF2B5EF4-FFF2-40B4-BE49-F238E27FC236}">
                <a16:creationId xmlns:a16="http://schemas.microsoft.com/office/drawing/2014/main" id="{00A824B8-2F72-4986-8ED3-45DBE72717B0}"/>
              </a:ext>
            </a:extLst>
          </p:cNvPr>
          <p:cNvSpPr/>
          <p:nvPr/>
        </p:nvSpPr>
        <p:spPr>
          <a:xfrm>
            <a:off x="5066724" y="5298060"/>
            <a:ext cx="164723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 err="1">
                <a:latin typeface="Arial" panose="020B0604020202020204" pitchFamily="34" charset="0"/>
                <a:cs typeface="Arial" panose="020B0604020202020204" pitchFamily="34" charset="0"/>
              </a:rPr>
              <a:t>Cierre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Shape 16">
            <a:extLst>
              <a:ext uri="{FF2B5EF4-FFF2-40B4-BE49-F238E27FC236}">
                <a16:creationId xmlns:a16="http://schemas.microsoft.com/office/drawing/2014/main" id="{505C2E5B-CCD0-4B62-B2AF-0742252DB5D5}"/>
              </a:ext>
            </a:extLst>
          </p:cNvPr>
          <p:cNvSpPr/>
          <p:nvPr/>
        </p:nvSpPr>
        <p:spPr>
          <a:xfrm rot="5400000">
            <a:off x="3751818" y="4768770"/>
            <a:ext cx="375523" cy="7200"/>
          </a:xfrm>
          <a:prstGeom prst="roundRect">
            <a:avLst>
              <a:gd name="adj" fmla="val 345034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83" name="Shape 17">
            <a:extLst>
              <a:ext uri="{FF2B5EF4-FFF2-40B4-BE49-F238E27FC236}">
                <a16:creationId xmlns:a16="http://schemas.microsoft.com/office/drawing/2014/main" id="{9A49B800-E476-4B4C-862F-CC69D34EDD3D}"/>
              </a:ext>
            </a:extLst>
          </p:cNvPr>
          <p:cNvSpPr/>
          <p:nvPr/>
        </p:nvSpPr>
        <p:spPr>
          <a:xfrm>
            <a:off x="3800614" y="4812284"/>
            <a:ext cx="281583" cy="281583"/>
          </a:xfrm>
          <a:prstGeom prst="roundRect">
            <a:avLst>
              <a:gd name="adj" fmla="val 18674"/>
            </a:avLst>
          </a:prstGeom>
          <a:solidFill>
            <a:schemeClr val="accent1">
              <a:lumMod val="60000"/>
              <a:lumOff val="40000"/>
            </a:schemeClr>
          </a:solidFill>
          <a:ln w="762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84" name="Text 18">
            <a:extLst>
              <a:ext uri="{FF2B5EF4-FFF2-40B4-BE49-F238E27FC236}">
                <a16:creationId xmlns:a16="http://schemas.microsoft.com/office/drawing/2014/main" id="{2FF4F736-93C4-4774-8BF2-9076816ABC3C}"/>
              </a:ext>
            </a:extLst>
          </p:cNvPr>
          <p:cNvSpPr/>
          <p:nvPr/>
        </p:nvSpPr>
        <p:spPr>
          <a:xfrm>
            <a:off x="3842524" y="4829489"/>
            <a:ext cx="197644" cy="2470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4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 19">
            <a:extLst>
              <a:ext uri="{FF2B5EF4-FFF2-40B4-BE49-F238E27FC236}">
                <a16:creationId xmlns:a16="http://schemas.microsoft.com/office/drawing/2014/main" id="{D3719983-9721-466E-804A-CDF6E6D9A2E0}"/>
              </a:ext>
            </a:extLst>
          </p:cNvPr>
          <p:cNvSpPr/>
          <p:nvPr/>
        </p:nvSpPr>
        <p:spPr>
          <a:xfrm>
            <a:off x="3285632" y="4374497"/>
            <a:ext cx="164723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 err="1">
                <a:latin typeface="Arial" panose="020B0604020202020204" pitchFamily="34" charset="0"/>
                <a:cs typeface="Arial" panose="020B0604020202020204" pitchFamily="34" charset="0"/>
              </a:rPr>
              <a:t>Monitoreo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 y control</a:t>
            </a:r>
          </a:p>
        </p:txBody>
      </p:sp>
      <p:sp>
        <p:nvSpPr>
          <p:cNvPr id="86" name="Text 38">
            <a:extLst>
              <a:ext uri="{FF2B5EF4-FFF2-40B4-BE49-F238E27FC236}">
                <a16:creationId xmlns:a16="http://schemas.microsoft.com/office/drawing/2014/main" id="{0FD66CB9-F668-4181-95F3-425E4C102E5A}"/>
              </a:ext>
            </a:extLst>
          </p:cNvPr>
          <p:cNvSpPr/>
          <p:nvPr/>
        </p:nvSpPr>
        <p:spPr>
          <a:xfrm>
            <a:off x="9637354" y="2583624"/>
            <a:ext cx="4442341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 err="1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Legales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, RRHH, IT, S&amp;H, </a:t>
            </a:r>
            <a:r>
              <a:rPr lang="en-US" sz="1200" dirty="0" err="1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Ingeniería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39830E4-2D7A-0229-923A-30F9B98538E4}"/>
              </a:ext>
            </a:extLst>
          </p:cNvPr>
          <p:cNvSpPr/>
          <p:nvPr/>
        </p:nvSpPr>
        <p:spPr>
          <a:xfrm>
            <a:off x="311870" y="6164429"/>
            <a:ext cx="6461216" cy="804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s-ES" sz="1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Acceso a la información </a:t>
            </a:r>
            <a:r>
              <a:rPr lang="es-ES" sz="13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es-ES" sz="1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line del WMS</a:t>
            </a: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s-ES" sz="1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funcionalidad basada en IA está condicionada a la disponibilidad y configuración corporativa del servicio externo, o a un servidor dedicado para gestionar agentes y modelos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3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CE89AC67-F17F-C1ED-B130-5725ED4E34BE}"/>
              </a:ext>
            </a:extLst>
          </p:cNvPr>
          <p:cNvSpPr/>
          <p:nvPr/>
        </p:nvSpPr>
        <p:spPr>
          <a:xfrm>
            <a:off x="255902" y="1199609"/>
            <a:ext cx="6724412" cy="2133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Apoyar la gestión operativa del Centro de distribución, permitiendo visibilidad histórica y en tiempo real con métricas accionables y robustas. El proyecto habilita: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Detección temprana de desvíos.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Gestión activa de la productividad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Evaluación justa del desempeño mediante indicadores ajustados por dificultad operativa.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Análisis histórico para transformar datos en mejoras operativas concretas y sostenibles</a:t>
            </a:r>
          </a:p>
          <a:p>
            <a:pPr lvl="1"/>
            <a:endParaRPr lang="es-ES" sz="13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sz="1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resultado esperado es una operación más predecible, más eficiente y sin sesgos en la toma de decisiones.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2777</TotalTime>
  <Words>238</Words>
  <Application>Microsoft Office PowerPoint</Application>
  <PresentationFormat>Personalizado</PresentationFormat>
  <Paragraphs>50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093 Jefe Ingenieria - Tonon Urbieta Caterina</dc:creator>
  <cp:lastModifiedBy>093 Ingenieria - Cucci Adrian Augusto</cp:lastModifiedBy>
  <cp:revision>43</cp:revision>
  <dcterms:created xsi:type="dcterms:W3CDTF">2025-09-03T13:53:30Z</dcterms:created>
  <dcterms:modified xsi:type="dcterms:W3CDTF">2026-04-29T13:40:03Z</dcterms:modified>
</cp:coreProperties>
</file>