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D3E3A0F0-4AB9-4929-B281-766C69510A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7DB8284-C9F1-4506-8764-CBEB9C1CB7E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 del Premio Individual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B0D8C116-707E-4B1F-ACE7-68A4307BC4A4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BF85FC4D-0017-4839-885C-1721B21CD23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ection-1-title">
            <a:extLst>
              <a:ext uri="{FF2B5EF4-FFF2-40B4-BE49-F238E27FC236}">
                <a16:creationId xmlns:a16="http://schemas.microsoft.com/office/drawing/2014/main" id="{5931D83A-04E1-4E68-B177-DD1D0A9F6EC4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Producción Horaria (Ph)</a:t>
            </a:r>
          </a:p>
        </p:txBody>
      </p:sp>
      <p:sp>
        <p:nvSpPr>
          <p:cNvPr id="6" name="section-1-formula">
            <a:extLst>
              <a:ext uri="{FF2B5EF4-FFF2-40B4-BE49-F238E27FC236}">
                <a16:creationId xmlns:a16="http://schemas.microsoft.com/office/drawing/2014/main" id="{97AC02FF-E141-4A09-AFD6-7FAE5735C658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 = Σ Producción − EC</a:t>
            </a:r>
          </a:p>
        </p:txBody>
      </p:sp>
      <p:sp>
        <p:nvSpPr>
          <p:cNvPr id="7" name="section-1-text">
            <a:extLst>
              <a:ext uri="{FF2B5EF4-FFF2-40B4-BE49-F238E27FC236}">
                <a16:creationId xmlns:a16="http://schemas.microsoft.com/office/drawing/2014/main" id="{48F8DE4A-508B-4272-992C-E22EFCFBD617}"/>
              </a:ext>
            </a:extLst>
          </p:cNvPr>
          <p:cNvSpPr>
            <a:spLocks noGrp="1"/>
          </p:cNvSpPr>
          <p:nvPr/>
        </p:nvSpPr>
        <p:spPr>
          <a:xfrm>
            <a:off x="4905375" y="19050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 mide sobre horas reloj reales. La unidad depende de la operación: UL, bultos, pallets, huecos, etc. Cambios de operación, sector o TNC válido se prorratean por minutos trabajados.</a:t>
            </a:r>
          </a:p>
        </p:txBody>
      </p:sp>
      <p:sp>
        <p:nvSpPr>
          <p:cNvPr id="8" name="section-2-title">
            <a:extLst>
              <a:ext uri="{FF2B5EF4-FFF2-40B4-BE49-F238E27FC236}">
                <a16:creationId xmlns:a16="http://schemas.microsoft.com/office/drawing/2014/main" id="{13A20803-5C58-4987-B759-97C16F8D0EFB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Premio Horario (Pp)</a:t>
            </a:r>
          </a:p>
        </p:txBody>
      </p:sp>
      <p:sp>
        <p:nvSpPr>
          <p:cNvPr id="9" name="section-2-formula">
            <a:extLst>
              <a:ext uri="{FF2B5EF4-FFF2-40B4-BE49-F238E27FC236}">
                <a16:creationId xmlns:a16="http://schemas.microsoft.com/office/drawing/2014/main" id="{ACC994F5-8A3F-4781-8F8E-6E6D3AC171CA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Pp = Ph vs Tabla</a:t>
            </a:r>
          </a:p>
        </p:txBody>
      </p:sp>
      <p:sp>
        <p:nvSpPr>
          <p:cNvPr id="10" name="section-2-text">
            <a:extLst>
              <a:ext uri="{FF2B5EF4-FFF2-40B4-BE49-F238E27FC236}">
                <a16:creationId xmlns:a16="http://schemas.microsoft.com/office/drawing/2014/main" id="{944C56A7-A82C-4A7C-BB44-DF183794FBC5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Producción Horaria se compara con la tabla de Operación / División / Sector. Si el período es menor a una hora, el premio se calcula proporcional.</a:t>
            </a:r>
          </a:p>
        </p:txBody>
      </p:sp>
      <p:sp>
        <p:nvSpPr>
          <p:cNvPr id="11" name="section-3-title">
            <a:extLst>
              <a:ext uri="{FF2B5EF4-FFF2-40B4-BE49-F238E27FC236}">
                <a16:creationId xmlns:a16="http://schemas.microsoft.com/office/drawing/2014/main" id="{FEB93895-4F32-4E77-B246-C426475F9D65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Pago Individual Diario (PID)</a:t>
            </a:r>
          </a:p>
        </p:txBody>
      </p:sp>
      <p:sp>
        <p:nvSpPr>
          <p:cNvPr id="12" name="section-3-formula">
            <a:extLst>
              <a:ext uri="{FF2B5EF4-FFF2-40B4-BE49-F238E27FC236}">
                <a16:creationId xmlns:a16="http://schemas.microsoft.com/office/drawing/2014/main" id="{4BC0B300-4555-4E85-9085-6724795FB1B3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PID = Σ Pp</a:t>
            </a:r>
          </a:p>
        </p:txBody>
      </p:sp>
      <p:sp>
        <p:nvSpPr>
          <p:cNvPr id="13" name="section-3-text">
            <a:extLst>
              <a:ext uri="{FF2B5EF4-FFF2-40B4-BE49-F238E27FC236}">
                <a16:creationId xmlns:a16="http://schemas.microsoft.com/office/drawing/2014/main" id="{8F3F4D9A-513B-4588-97AB-642FF7D7D155}"/>
              </a:ext>
            </a:extLst>
          </p:cNvPr>
          <p:cNvSpPr>
            <a:spLocks noGrp="1"/>
          </p:cNvSpPr>
          <p:nvPr/>
        </p:nvSpPr>
        <p:spPr>
          <a:xfrm>
            <a:off x="4905375" y="41529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Pago Individual Diario es la suma de todos los premios horarios obtenidos durante la jornada.</a:t>
            </a:r>
          </a:p>
        </p:txBody>
      </p:sp>
      <p:sp>
        <p:nvSpPr>
          <p:cNvPr id="14" name="refs-title">
            <a:extLst>
              <a:ext uri="{FF2B5EF4-FFF2-40B4-BE49-F238E27FC236}">
                <a16:creationId xmlns:a16="http://schemas.microsoft.com/office/drawing/2014/main" id="{3AC6FF7E-8BDD-4E83-AA38-D2308AB25A59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5" name="refs">
            <a:extLst>
              <a:ext uri="{FF2B5EF4-FFF2-40B4-BE49-F238E27FC236}">
                <a16:creationId xmlns:a16="http://schemas.microsoft.com/office/drawing/2014/main" id="{A18556EC-C5AA-4CFC-9FF3-76EA64B5A717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Ph → Producción Horaria    UL → Unidad de medida    EC → Errores Computables    Pp → Premio Horario    PID → Pago Individual Diario</a:t>
            </a:r>
          </a:p>
        </p:txBody>
      </p:sp>
    </p:spTree>
    <p:extLst>
      <p:ext uri="{BB962C8B-B14F-4D97-AF65-F5344CB8AC3E}">
        <p14:creationId xmlns:p14="http://schemas.microsoft.com/office/powerpoint/2010/main" val="134322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B7E7E037-9B59-4750-8D0C-6F23647AA58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B27668-5A3E-47B2-A6DE-C0E218CDA69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A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838E8CBF-6EAB-4951-80BB-57F15C96C592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38E7F6D1-70A4-43DF-82B2-3BDB681CC5F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ection-1-title">
            <a:extLst>
              <a:ext uri="{FF2B5EF4-FFF2-40B4-BE49-F238E27FC236}">
                <a16:creationId xmlns:a16="http://schemas.microsoft.com/office/drawing/2014/main" id="{E2AD77EC-232D-4489-841E-E140C3DBE608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Filtro Grupal</a:t>
            </a:r>
          </a:p>
        </p:txBody>
      </p:sp>
      <p:sp>
        <p:nvSpPr>
          <p:cNvPr id="6" name="section-1-formula">
            <a:extLst>
              <a:ext uri="{FF2B5EF4-FFF2-40B4-BE49-F238E27FC236}">
                <a16:creationId xmlns:a16="http://schemas.microsoft.com/office/drawing/2014/main" id="{363AD319-4C64-4EFD-BBB3-5B6D329DBCBD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FG = Vm × CO × MA</a:t>
            </a:r>
          </a:p>
        </p:txBody>
      </p:sp>
      <p:sp>
        <p:nvSpPr>
          <p:cNvPr id="7" name="section-1-text">
            <a:extLst>
              <a:ext uri="{FF2B5EF4-FFF2-40B4-BE49-F238E27FC236}">
                <a16:creationId xmlns:a16="http://schemas.microsoft.com/office/drawing/2014/main" id="{269375C0-703E-4999-B1A3-4D8195562C0A}"/>
              </a:ext>
            </a:extLst>
          </p:cNvPr>
          <p:cNvSpPr>
            <a:spLocks noGrp="1"/>
          </p:cNvSpPr>
          <p:nvPr/>
        </p:nvSpPr>
        <p:spPr>
          <a:xfrm>
            <a:off x="4905375" y="19050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grupo habilita la bolsa si supera el filtro mínimo definido para operación, división, sector y turno.</a:t>
            </a:r>
          </a:p>
        </p:txBody>
      </p:sp>
      <p:sp>
        <p:nvSpPr>
          <p:cNvPr id="8" name="section-2-title">
            <a:extLst>
              <a:ext uri="{FF2B5EF4-FFF2-40B4-BE49-F238E27FC236}">
                <a16:creationId xmlns:a16="http://schemas.microsoft.com/office/drawing/2014/main" id="{DDF43443-2C46-4824-864D-165B2350D4C3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Producción Final Grupal</a:t>
            </a:r>
          </a:p>
        </p:txBody>
      </p:sp>
      <p:sp>
        <p:nvSpPr>
          <p:cNvPr id="9" name="section-2-formula">
            <a:extLst>
              <a:ext uri="{FF2B5EF4-FFF2-40B4-BE49-F238E27FC236}">
                <a16:creationId xmlns:a16="http://schemas.microsoft.com/office/drawing/2014/main" id="{42486C7A-15E3-4532-A000-FB9B8C10B25F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PFG = Σ Ph</a:t>
            </a:r>
          </a:p>
        </p:txBody>
      </p:sp>
      <p:sp>
        <p:nvSpPr>
          <p:cNvPr id="10" name="section-2-text">
            <a:extLst>
              <a:ext uri="{FF2B5EF4-FFF2-40B4-BE49-F238E27FC236}">
                <a16:creationId xmlns:a16="http://schemas.microsoft.com/office/drawing/2014/main" id="{6D556FB0-C810-4791-AB04-E73583EE0C15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Es la suma de la producción horaria de todos los colaboradores que participaron en el turno.</a:t>
            </a:r>
          </a:p>
        </p:txBody>
      </p:sp>
      <p:sp>
        <p:nvSpPr>
          <p:cNvPr id="11" name="section-3-title">
            <a:extLst>
              <a:ext uri="{FF2B5EF4-FFF2-40B4-BE49-F238E27FC236}">
                <a16:creationId xmlns:a16="http://schemas.microsoft.com/office/drawing/2014/main" id="{A176071E-128A-419E-9EDC-68C798EEC885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Individual</a:t>
            </a:r>
          </a:p>
        </p:txBody>
      </p:sp>
      <p:sp>
        <p:nvSpPr>
          <p:cNvPr id="12" name="section-3-formula">
            <a:extLst>
              <a:ext uri="{FF2B5EF4-FFF2-40B4-BE49-F238E27FC236}">
                <a16:creationId xmlns:a16="http://schemas.microsoft.com/office/drawing/2014/main" id="{92FD13A0-EBA7-4276-ABC1-43E42F97B75F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(PID / Σ PID) × Bolsa</a:t>
            </a:r>
          </a:p>
        </p:txBody>
      </p:sp>
      <p:sp>
        <p:nvSpPr>
          <p:cNvPr id="13" name="section-3-text">
            <a:extLst>
              <a:ext uri="{FF2B5EF4-FFF2-40B4-BE49-F238E27FC236}">
                <a16:creationId xmlns:a16="http://schemas.microsoft.com/office/drawing/2014/main" id="{D34CB994-01DC-426A-96E4-101C6F716CF6}"/>
              </a:ext>
            </a:extLst>
          </p:cNvPr>
          <p:cNvSpPr>
            <a:spLocks noGrp="1"/>
          </p:cNvSpPr>
          <p:nvPr/>
        </p:nvSpPr>
        <p:spPr>
          <a:xfrm>
            <a:off x="4905375" y="41529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bolsa se distribuye en proporción al resultado individual dentro del grupo.</a:t>
            </a:r>
          </a:p>
        </p:txBody>
      </p:sp>
      <p:sp>
        <p:nvSpPr>
          <p:cNvPr id="14" name="refs-title">
            <a:extLst>
              <a:ext uri="{FF2B5EF4-FFF2-40B4-BE49-F238E27FC236}">
                <a16:creationId xmlns:a16="http://schemas.microsoft.com/office/drawing/2014/main" id="{2734FAB6-E37F-47AC-9B54-81ECB8F697CB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5" name="refs">
            <a:extLst>
              <a:ext uri="{FF2B5EF4-FFF2-40B4-BE49-F238E27FC236}">
                <a16:creationId xmlns:a16="http://schemas.microsoft.com/office/drawing/2014/main" id="{FB89233B-C4E9-4F0C-8291-E307D836B27F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Vm → Valor mínimo de operación/división/sector    CO → Operarios con movimiento    MA → Margen de colchón    PFG → Producción Final Grupal    PIA → Premio Individual Adicional</a:t>
            </a:r>
          </a:p>
        </p:txBody>
      </p:sp>
    </p:spTree>
    <p:extLst>
      <p:ext uri="{BB962C8B-B14F-4D97-AF65-F5344CB8AC3E}">
        <p14:creationId xmlns:p14="http://schemas.microsoft.com/office/powerpoint/2010/main" val="53938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EAAFF2AC-11DC-4E84-8193-05186EBCE11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EA04DAE-B5F1-4AB6-ACCF-2680F236FE7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Opción B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A7EB7E96-9F1B-4889-A645-C6A4A4084BEF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187F5CFE-4CAF-4B60-841B-05536802CCE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ection-1-title">
            <a:extLst>
              <a:ext uri="{FF2B5EF4-FFF2-40B4-BE49-F238E27FC236}">
                <a16:creationId xmlns:a16="http://schemas.microsoft.com/office/drawing/2014/main" id="{5361B844-9D8D-4E92-964F-619BD854AC47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Cumplimiento Individual</a:t>
            </a:r>
          </a:p>
        </p:txBody>
      </p:sp>
      <p:sp>
        <p:nvSpPr>
          <p:cNvPr id="6" name="section-1-formula">
            <a:extLst>
              <a:ext uri="{FF2B5EF4-FFF2-40B4-BE49-F238E27FC236}">
                <a16:creationId xmlns:a16="http://schemas.microsoft.com/office/drawing/2014/main" id="{E7BA23EB-B98E-473F-A4D9-DAD5BD4D3D64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 = 1 si PID turno &gt; 0</a:t>
            </a:r>
          </a:p>
        </p:txBody>
      </p:sp>
      <p:sp>
        <p:nvSpPr>
          <p:cNvPr id="7" name="section-1-text">
            <a:extLst>
              <a:ext uri="{FF2B5EF4-FFF2-40B4-BE49-F238E27FC236}">
                <a16:creationId xmlns:a16="http://schemas.microsoft.com/office/drawing/2014/main" id="{8786ECD5-33EF-4E67-B682-22B03AA64C57}"/>
              </a:ext>
            </a:extLst>
          </p:cNvPr>
          <p:cNvSpPr>
            <a:spLocks noGrp="1"/>
          </p:cNvSpPr>
          <p:nvPr/>
        </p:nvSpPr>
        <p:spPr>
          <a:xfrm>
            <a:off x="4905375" y="19050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Cada colaborador cuenta como cumplidor si obtiene premio individual mayor a cero en el turno evaluado.</a:t>
            </a:r>
          </a:p>
        </p:txBody>
      </p:sp>
      <p:sp>
        <p:nvSpPr>
          <p:cNvPr id="8" name="section-2-title">
            <a:extLst>
              <a:ext uri="{FF2B5EF4-FFF2-40B4-BE49-F238E27FC236}">
                <a16:creationId xmlns:a16="http://schemas.microsoft.com/office/drawing/2014/main" id="{FBB5B498-D206-4A35-A687-09F5ADA38195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Cumplimiento Grupal</a:t>
            </a:r>
          </a:p>
        </p:txBody>
      </p:sp>
      <p:sp>
        <p:nvSpPr>
          <p:cNvPr id="9" name="section-2-formula">
            <a:extLst>
              <a:ext uri="{FF2B5EF4-FFF2-40B4-BE49-F238E27FC236}">
                <a16:creationId xmlns:a16="http://schemas.microsoft.com/office/drawing/2014/main" id="{2489FB20-F971-4CA7-B994-8A428C437DCE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CG = Σ CI / CO</a:t>
            </a:r>
          </a:p>
        </p:txBody>
      </p:sp>
      <p:sp>
        <p:nvSpPr>
          <p:cNvPr id="10" name="section-2-text">
            <a:extLst>
              <a:ext uri="{FF2B5EF4-FFF2-40B4-BE49-F238E27FC236}">
                <a16:creationId xmlns:a16="http://schemas.microsoft.com/office/drawing/2014/main" id="{9FE0E12B-DD6D-4619-B5A8-600313346273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grupo cumple cuando al menos el 90% de los participantes obtiene premio individual positivo. El umbral es parametrizable.</a:t>
            </a:r>
          </a:p>
        </p:txBody>
      </p:sp>
      <p:sp>
        <p:nvSpPr>
          <p:cNvPr id="11" name="section-3-title">
            <a:extLst>
              <a:ext uri="{FF2B5EF4-FFF2-40B4-BE49-F238E27FC236}">
                <a16:creationId xmlns:a16="http://schemas.microsoft.com/office/drawing/2014/main" id="{9B771D04-7870-4F33-B431-12DF4928EDB1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por Horas</a:t>
            </a:r>
          </a:p>
        </p:txBody>
      </p:sp>
      <p:sp>
        <p:nvSpPr>
          <p:cNvPr id="12" name="section-3-formula">
            <a:extLst>
              <a:ext uri="{FF2B5EF4-FFF2-40B4-BE49-F238E27FC236}">
                <a16:creationId xmlns:a16="http://schemas.microsoft.com/office/drawing/2014/main" id="{4DEC9BE9-BA5E-4AD1-97B3-77280BD636C1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(Bolsa / HPG) × HPI</a:t>
            </a:r>
          </a:p>
        </p:txBody>
      </p:sp>
      <p:sp>
        <p:nvSpPr>
          <p:cNvPr id="13" name="section-3-text">
            <a:extLst>
              <a:ext uri="{FF2B5EF4-FFF2-40B4-BE49-F238E27FC236}">
                <a16:creationId xmlns:a16="http://schemas.microsoft.com/office/drawing/2014/main" id="{0612E0E3-F5B9-4574-995B-54F004792C3A}"/>
              </a:ext>
            </a:extLst>
          </p:cNvPr>
          <p:cNvSpPr>
            <a:spLocks noGrp="1"/>
          </p:cNvSpPr>
          <p:nvPr/>
        </p:nvSpPr>
        <p:spPr>
          <a:xfrm>
            <a:off x="4905375" y="41529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 el grupo cumple, la bolsa se distribuye de forma equitativa por hora participada.</a:t>
            </a:r>
          </a:p>
        </p:txBody>
      </p:sp>
      <p:sp>
        <p:nvSpPr>
          <p:cNvPr id="14" name="refs-title">
            <a:extLst>
              <a:ext uri="{FF2B5EF4-FFF2-40B4-BE49-F238E27FC236}">
                <a16:creationId xmlns:a16="http://schemas.microsoft.com/office/drawing/2014/main" id="{CFCAF2D6-B04A-4C5B-B5FE-06C3B1390693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5" name="refs">
            <a:extLst>
              <a:ext uri="{FF2B5EF4-FFF2-40B4-BE49-F238E27FC236}">
                <a16:creationId xmlns:a16="http://schemas.microsoft.com/office/drawing/2014/main" id="{4C4DBCBA-DFAE-49C7-8FD5-25B2A0BBE2D4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CI → Cumplimiento Individual    CG → Cumplimiento Grupal    CO → Operarios participantes    HPG → Horas participadas del grupo    HPI → Horas participadas individuales</a:t>
            </a:r>
          </a:p>
        </p:txBody>
      </p:sp>
    </p:spTree>
    <p:extLst>
      <p:ext uri="{BB962C8B-B14F-4D97-AF65-F5344CB8AC3E}">
        <p14:creationId xmlns:p14="http://schemas.microsoft.com/office/powerpoint/2010/main" val="333767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89B79866-7F0A-4585-BA9A-2B9A29BD0CA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CB62459-77BE-4C73-BC74-F3CBBB54157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Grupal — Planificación All In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66C1D4DF-7C60-4C10-A4EA-D04C4EEB0570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30901BDE-4F13-49ED-A6A5-C12B66741ED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ection-1-title">
            <a:extLst>
              <a:ext uri="{FF2B5EF4-FFF2-40B4-BE49-F238E27FC236}">
                <a16:creationId xmlns:a16="http://schemas.microsoft.com/office/drawing/2014/main" id="{6D7FAC5E-EA7E-4B90-B80C-72A6FCCA2F5E}"/>
              </a:ext>
            </a:extLst>
          </p:cNvPr>
          <p:cNvSpPr>
            <a:spLocks noGrp="1"/>
          </p:cNvSpPr>
          <p:nvPr/>
        </p:nvSpPr>
        <p:spPr>
          <a:xfrm>
            <a:off x="990600" y="1600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Cumplimiento de Planificación</a:t>
            </a:r>
          </a:p>
        </p:txBody>
      </p:sp>
      <p:sp>
        <p:nvSpPr>
          <p:cNvPr id="6" name="section-1-formula">
            <a:extLst>
              <a:ext uri="{FF2B5EF4-FFF2-40B4-BE49-F238E27FC236}">
                <a16:creationId xmlns:a16="http://schemas.microsoft.com/office/drawing/2014/main" id="{B7E91F6A-A6F4-4AA2-BB05-8CFAC758891A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CP = Ejecutado / Planificado</a:t>
            </a:r>
          </a:p>
        </p:txBody>
      </p:sp>
      <p:sp>
        <p:nvSpPr>
          <p:cNvPr id="7" name="section-1-text">
            <a:extLst>
              <a:ext uri="{FF2B5EF4-FFF2-40B4-BE49-F238E27FC236}">
                <a16:creationId xmlns:a16="http://schemas.microsoft.com/office/drawing/2014/main" id="{0B6C36FD-8757-474D-A4D1-478CC943C8CE}"/>
              </a:ext>
            </a:extLst>
          </p:cNvPr>
          <p:cNvSpPr>
            <a:spLocks noGrp="1"/>
          </p:cNvSpPr>
          <p:nvPr/>
        </p:nvSpPr>
        <p:spPr>
          <a:xfrm>
            <a:off x="4905375" y="19050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división / turno cumple si alcanza el objetivo definido contra planificación operativa.</a:t>
            </a:r>
          </a:p>
        </p:txBody>
      </p:sp>
      <p:sp>
        <p:nvSpPr>
          <p:cNvPr id="8" name="section-2-title">
            <a:extLst>
              <a:ext uri="{FF2B5EF4-FFF2-40B4-BE49-F238E27FC236}">
                <a16:creationId xmlns:a16="http://schemas.microsoft.com/office/drawing/2014/main" id="{D0C94F3D-01DB-45F3-A0E0-6CA1F302823D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Activación de Bolsa</a:t>
            </a:r>
          </a:p>
        </p:txBody>
      </p:sp>
      <p:sp>
        <p:nvSpPr>
          <p:cNvPr id="9" name="section-2-formula">
            <a:extLst>
              <a:ext uri="{FF2B5EF4-FFF2-40B4-BE49-F238E27FC236}">
                <a16:creationId xmlns:a16="http://schemas.microsoft.com/office/drawing/2014/main" id="{1F8E1F2E-6705-49CD-8D30-9941FE0B6C60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CP IN ≥ 90% y/o CP OUT ≥ 90%</a:t>
            </a:r>
          </a:p>
        </p:txBody>
      </p:sp>
      <p:sp>
        <p:nvSpPr>
          <p:cNvPr id="10" name="section-2-text">
            <a:extLst>
              <a:ext uri="{FF2B5EF4-FFF2-40B4-BE49-F238E27FC236}">
                <a16:creationId xmlns:a16="http://schemas.microsoft.com/office/drawing/2014/main" id="{C3218EFC-BD1D-4994-A1B2-905811A100B6}"/>
              </a:ext>
            </a:extLst>
          </p:cNvPr>
          <p:cNvSpPr>
            <a:spLocks noGrp="1"/>
          </p:cNvSpPr>
          <p:nvPr/>
        </p:nvSpPr>
        <p:spPr>
          <a:xfrm>
            <a:off x="4905375" y="30289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umbral es parametrizable. OUT se valida contra TMS; IN contra agenda de proveedores / recepción.</a:t>
            </a:r>
          </a:p>
        </p:txBody>
      </p:sp>
      <p:sp>
        <p:nvSpPr>
          <p:cNvPr id="11" name="section-3-title">
            <a:extLst>
              <a:ext uri="{FF2B5EF4-FFF2-40B4-BE49-F238E27FC236}">
                <a16:creationId xmlns:a16="http://schemas.microsoft.com/office/drawing/2014/main" id="{42590B99-EE17-4561-B1EB-5C9FD3BD8792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Distribución Equitativa</a:t>
            </a:r>
          </a:p>
        </p:txBody>
      </p:sp>
      <p:sp>
        <p:nvSpPr>
          <p:cNvPr id="12" name="section-3-formula">
            <a:extLst>
              <a:ext uri="{FF2B5EF4-FFF2-40B4-BE49-F238E27FC236}">
                <a16:creationId xmlns:a16="http://schemas.microsoft.com/office/drawing/2014/main" id="{8251781C-D2F8-4ED9-ADFE-5294C19B1093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PIA = (Bolsa / HPG) × HPI</a:t>
            </a:r>
          </a:p>
        </p:txBody>
      </p:sp>
      <p:sp>
        <p:nvSpPr>
          <p:cNvPr id="13" name="section-3-text">
            <a:extLst>
              <a:ext uri="{FF2B5EF4-FFF2-40B4-BE49-F238E27FC236}">
                <a16:creationId xmlns:a16="http://schemas.microsoft.com/office/drawing/2014/main" id="{AD718C91-218C-43D1-9F82-D3B09C4DAD4F}"/>
              </a:ext>
            </a:extLst>
          </p:cNvPr>
          <p:cNvSpPr>
            <a:spLocks noGrp="1"/>
          </p:cNvSpPr>
          <p:nvPr/>
        </p:nvSpPr>
        <p:spPr>
          <a:xfrm>
            <a:off x="4905375" y="41529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Todos los legajos que intervienen participan de la bolsa en proporción a sus horas efectivas del turno.</a:t>
            </a:r>
          </a:p>
        </p:txBody>
      </p:sp>
      <p:sp>
        <p:nvSpPr>
          <p:cNvPr id="14" name="refs-title">
            <a:extLst>
              <a:ext uri="{FF2B5EF4-FFF2-40B4-BE49-F238E27FC236}">
                <a16:creationId xmlns:a16="http://schemas.microsoft.com/office/drawing/2014/main" id="{EB75AA42-0D54-4132-9AAB-2745D76339E9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5" name="refs">
            <a:extLst>
              <a:ext uri="{FF2B5EF4-FFF2-40B4-BE49-F238E27FC236}">
                <a16:creationId xmlns:a16="http://schemas.microsoft.com/office/drawing/2014/main" id="{A3BC66A6-003C-4825-8046-7BF58EBF0ACF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CP → Cumplimiento de Planificación    IN → Ingreso / recepción    OUT → Salida / despacho    HPG → Horas participadas del grupo    HPI → Horas individuales</a:t>
            </a:r>
          </a:p>
        </p:txBody>
      </p:sp>
    </p:spTree>
    <p:extLst>
      <p:ext uri="{BB962C8B-B14F-4D97-AF65-F5344CB8AC3E}">
        <p14:creationId xmlns:p14="http://schemas.microsoft.com/office/powerpoint/2010/main" val="206121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E8C8E941-B992-4FB8-8C21-00DB5939D3A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ANEXO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BEA80D-9E2F-4B7B-BB84-47E22DE8D0D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Tablas de pago y bolsa grupal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0A66738-93DD-44FE-A346-D556D1152E1A}"/>
              </a:ext>
            </a:extLst>
          </p:cNvPr>
          <p:cNvSpPr>
            <a:spLocks noGrp="1"/>
          </p:cNvSpPr>
          <p:nvPr/>
        </p:nvSpPr>
        <p:spPr>
          <a:xfrm>
            <a:off x="514350" y="895350"/>
            <a:ext cx="990600" cy="476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>
              <a:ext uri="{FF2B5EF4-FFF2-40B4-BE49-F238E27FC236}">
                <a16:creationId xmlns:a16="http://schemas.microsoft.com/office/drawing/2014/main" id="{7AA76D99-55F6-4395-BC56-E02AE274929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1163300" cy="52959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individual-title">
            <a:extLst>
              <a:ext uri="{FF2B5EF4-FFF2-40B4-BE49-F238E27FC236}">
                <a16:creationId xmlns:a16="http://schemas.microsoft.com/office/drawing/2014/main" id="{2AE6FC40-4419-4E03-BC3A-00838962F36D}"/>
              </a:ext>
            </a:extLst>
          </p:cNvPr>
          <p:cNvSpPr>
            <a:spLocks noGrp="1"/>
          </p:cNvSpPr>
          <p:nvPr/>
        </p:nvSpPr>
        <p:spPr>
          <a:xfrm>
            <a:off x="990600" y="15811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 individual</a:t>
            </a:r>
          </a:p>
        </p:txBody>
      </p:sp>
      <p:sp>
        <p:nvSpPr>
          <p:cNvPr id="6" name="individual-formula">
            <a:extLst>
              <a:ext uri="{FF2B5EF4-FFF2-40B4-BE49-F238E27FC236}">
                <a16:creationId xmlns:a16="http://schemas.microsoft.com/office/drawing/2014/main" id="{A48398DA-1BD5-4351-BB3E-41DB004F6EFF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Pp = Ph vs Tabla</a:t>
            </a:r>
          </a:p>
        </p:txBody>
      </p:sp>
      <p:sp>
        <p:nvSpPr>
          <p:cNvPr id="7" name="individual-body">
            <a:extLst>
              <a:ext uri="{FF2B5EF4-FFF2-40B4-BE49-F238E27FC236}">
                <a16:creationId xmlns:a16="http://schemas.microsoft.com/office/drawing/2014/main" id="{503AE17A-2048-41EF-B85C-EDE3E5DA45F7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4476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tabla define cuánto se paga por hora según la productividad alcanzada.</a:t>
            </a:r>
          </a:p>
          <a:p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Clave de parametrización:</a:t>
            </a: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Operación + División + Sector + Nivel</a:t>
            </a:r>
          </a:p>
          <a:p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Formato:</a:t>
            </a: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Nivel | Desde/h | Hasta/h | Premio/h</a:t>
            </a:r>
          </a:p>
        </p:txBody>
      </p:sp>
      <p:sp>
        <p:nvSpPr>
          <p:cNvPr id="8" name="group-title">
            <a:extLst>
              <a:ext uri="{FF2B5EF4-FFF2-40B4-BE49-F238E27FC236}">
                <a16:creationId xmlns:a16="http://schemas.microsoft.com/office/drawing/2014/main" id="{6886ADFF-40FE-44DE-9B03-489C99165924}"/>
              </a:ext>
            </a:extLst>
          </p:cNvPr>
          <p:cNvSpPr>
            <a:spLocks noGrp="1"/>
          </p:cNvSpPr>
          <p:nvPr/>
        </p:nvSpPr>
        <p:spPr>
          <a:xfrm>
            <a:off x="6286500" y="15811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Tabla grupal</a:t>
            </a:r>
          </a:p>
        </p:txBody>
      </p:sp>
      <p:sp>
        <p:nvSpPr>
          <p:cNvPr id="9" name="group-formula">
            <a:extLst>
              <a:ext uri="{FF2B5EF4-FFF2-40B4-BE49-F238E27FC236}">
                <a16:creationId xmlns:a16="http://schemas.microsoft.com/office/drawing/2014/main" id="{16341E1C-093B-4AED-B947-EDCE00032176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= Pmin/h × HPG × FG</a:t>
            </a:r>
          </a:p>
        </p:txBody>
      </p:sp>
      <p:sp>
        <p:nvSpPr>
          <p:cNvPr id="10" name="group-body">
            <a:extLst>
              <a:ext uri="{FF2B5EF4-FFF2-40B4-BE49-F238E27FC236}">
                <a16:creationId xmlns:a16="http://schemas.microsoft.com/office/drawing/2014/main" id="{B9142F36-009B-4B06-8660-E5B5878E5F96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762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bolsa grupal es de un solo nivel: si cumple, se paga; si no cumple, es cero.</a:t>
            </a:r>
          </a:p>
          <a:p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Clave de parametrización:</a:t>
            </a: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Operación + División + Unidad operativa + Turno</a:t>
            </a:r>
          </a:p>
          <a:p>
            <a:endParaRPr sz="120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Formato:</a:t>
            </a:r>
          </a:p>
          <a:p>
            <a:pPr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Umbral | Pmin/h | Factor grupal | Bolsa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9B476151-C375-44DE-A4B1-33734F8235D1}"/>
              </a:ext>
            </a:extLst>
          </p:cNvPr>
          <p:cNvSpPr>
            <a:spLocks noGrp="1"/>
          </p:cNvSpPr>
          <p:nvPr/>
        </p:nvSpPr>
        <p:spPr>
          <a:xfrm>
            <a:off x="5886450" y="1581150"/>
            <a:ext cx="9525" cy="304800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2" name="closing">
            <a:extLst>
              <a:ext uri="{FF2B5EF4-FFF2-40B4-BE49-F238E27FC236}">
                <a16:creationId xmlns:a16="http://schemas.microsoft.com/office/drawing/2014/main" id="{B82E5152-F0C7-4B36-A08F-FC83C27DDB06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cálculo define cómo se mide. Las tablas definen cuánto se paga.</a:t>
            </a:r>
          </a:p>
        </p:txBody>
      </p:sp>
      <p:sp>
        <p:nvSpPr>
          <p:cNvPr id="13" name="refs-title">
            <a:extLst>
              <a:ext uri="{FF2B5EF4-FFF2-40B4-BE49-F238E27FC236}">
                <a16:creationId xmlns:a16="http://schemas.microsoft.com/office/drawing/2014/main" id="{36264284-D90D-4AAD-B2AB-8F4AECD8EEB1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Referencias</a:t>
            </a:r>
          </a:p>
        </p:txBody>
      </p:sp>
      <p:sp>
        <p:nvSpPr>
          <p:cNvPr id="14" name="refs">
            <a:extLst>
              <a:ext uri="{FF2B5EF4-FFF2-40B4-BE49-F238E27FC236}">
                <a16:creationId xmlns:a16="http://schemas.microsoft.com/office/drawing/2014/main" id="{7820E5EE-80B6-4723-BAA4-87FECCA3F1EC}"/>
              </a:ext>
            </a:extLst>
          </p:cNvPr>
          <p:cNvSpPr>
            <a:spLocks noGrp="1"/>
          </p:cNvSpPr>
          <p:nvPr/>
        </p:nvSpPr>
        <p:spPr>
          <a:xfrm>
            <a:off x="990600" y="5524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Ph → Producción Horaria    Pp → Premio Horario    Pmin/h → Premio mínimo horario    HPG → Horas participadas del grupo    FG → Factor grupal</a:t>
            </a: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DocSecurity>0</DocSecurity>
  <PresentationFormat>Panorámica</PresentationFormat>
  <Paragraphs>75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093 Ingenieria - Cucci Adrian Augusto</cp:lastModifiedBy>
  <cp:revision>1</cp:revision>
  <dcterms:created xsi:type="dcterms:W3CDTF">2026-07-29T19:26:01Z</dcterms:created>
  <dcterms:modified xsi:type="dcterms:W3CDTF">2026-07-30T12:48:33Z</dcterms:modified>
</cp:coreProperties>
</file>