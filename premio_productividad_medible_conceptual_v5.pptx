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6" r:id="rId9"/>
    <p:sldId id="290" r:id="rId10"/>
    <p:sldId id="287" r:id="rId11"/>
    <p:sldId id="289" r:id="rId12"/>
    <p:sldId id="288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514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717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201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907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4037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kicker">
            <a:extLst>
              <a:ext uri="{FF2B5EF4-FFF2-40B4-BE49-F238E27FC236}">
                <a16:creationId xmlns:a16="http://schemas.microsoft.com/office/drawing/2014/main" id="{1737AC98-64CD-49E5-BD1D-58B20514A99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PROPUESTA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C596AD-2C4A-4F62-919B-59976228F8E1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propuesta define productividad horaria por función y sector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79927DB9-DF73-4237-BF0A-B62CDB6A3873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main-panel">
            <a:extLst>
              <a:ext uri="{FF2B5EF4-FFF2-40B4-BE49-F238E27FC236}">
                <a16:creationId xmlns:a16="http://schemas.microsoft.com/office/drawing/2014/main" id="{04B69D3A-F5C5-4FFE-92F8-30DF2B174F3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5334000" cy="4143375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main-body">
            <a:extLst>
              <a:ext uri="{FF2B5EF4-FFF2-40B4-BE49-F238E27FC236}">
                <a16:creationId xmlns:a16="http://schemas.microsoft.com/office/drawing/2014/main" id="{00CD42BB-7CC6-41B1-AFD1-697F02C6494E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4876800" cy="3667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cambio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responde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pedido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medir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productividad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hora,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función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sector</a:t>
            </a:r>
            <a:r>
              <a:rPr lang="es-ES"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términos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prácticos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12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se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evalúa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contra la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escala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correspondiente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función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sector.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Las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escalas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deben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ser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validadas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sector.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surge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sumar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Los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errores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preparación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descuentan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El TNC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reduce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tiempo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computable;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exceso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TNC no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impacta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individual,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sujeto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 </a:t>
            </a:r>
            <a:r>
              <a:rPr sz="12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validación</a:t>
            </a:r>
            <a:r>
              <a:rPr sz="12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" name="validation-panel">
            <a:extLst>
              <a:ext uri="{FF2B5EF4-FFF2-40B4-BE49-F238E27FC236}">
                <a16:creationId xmlns:a16="http://schemas.microsoft.com/office/drawing/2014/main" id="{C659193A-8D4A-4818-B77D-5A3D6A27EEEB}"/>
              </a:ext>
            </a:extLst>
          </p:cNvPr>
          <p:cNvSpPr>
            <a:spLocks noGrp="1"/>
          </p:cNvSpPr>
          <p:nvPr/>
        </p:nvSpPr>
        <p:spPr>
          <a:xfrm>
            <a:off x="6381750" y="1190625"/>
            <a:ext cx="4953000" cy="4143375"/>
          </a:xfrm>
          <a:prstGeom prst="roundRect">
            <a:avLst>
              <a:gd name="adj" fmla="val 1839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7" name="validation-title">
            <a:extLst>
              <a:ext uri="{FF2B5EF4-FFF2-40B4-BE49-F238E27FC236}">
                <a16:creationId xmlns:a16="http://schemas.microsoft.com/office/drawing/2014/main" id="{1CA89F45-70E4-4F56-B022-4A2265B11D29}"/>
              </a:ext>
            </a:extLst>
          </p:cNvPr>
          <p:cNvSpPr>
            <a:spLocks noGrp="1"/>
          </p:cNvSpPr>
          <p:nvPr/>
        </p:nvSpPr>
        <p:spPr>
          <a:xfrm>
            <a:off x="6667500" y="14478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Validaciones esperadas</a:t>
            </a:r>
          </a:p>
        </p:txBody>
      </p:sp>
      <p:sp>
        <p:nvSpPr>
          <p:cNvPr id="8" name="validation-body">
            <a:extLst>
              <a:ext uri="{FF2B5EF4-FFF2-40B4-BE49-F238E27FC236}">
                <a16:creationId xmlns:a16="http://schemas.microsoft.com/office/drawing/2014/main" id="{FDB56859-21E2-4BD0-93E4-0483A1201865}"/>
              </a:ext>
            </a:extLst>
          </p:cNvPr>
          <p:cNvSpPr>
            <a:spLocks noGrp="1"/>
          </p:cNvSpPr>
          <p:nvPr/>
        </p:nvSpPr>
        <p:spPr>
          <a:xfrm>
            <a:off x="6667500" y="1885950"/>
            <a:ext cx="4333875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Método de cálculo: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premio por función + premio grupal - errores.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Medición física: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bultos, pallets, huecos o movimientos realizados.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No distancia ni esfuerzo estimado.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Tablas: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niveles de pago propuestos por sector.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Premio grupal: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criterio de activación por operación, unidad operativa y turno.</a:t>
            </a:r>
          </a:p>
        </p:txBody>
      </p:sp>
    </p:spTree>
    <p:extLst>
      <p:ext uri="{BB962C8B-B14F-4D97-AF65-F5344CB8AC3E}">
        <p14:creationId xmlns:p14="http://schemas.microsoft.com/office/powerpoint/2010/main" val="107572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EA4E4324-3F87-436C-B1D5-3AF5B8AF252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MEDICIÓN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7A38F47-7D56-41CB-8F91-105D1503104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operación se mide con su propia unidad operativa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F5EF71C-9501-476E-BE8F-4E852E4590B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362560706"/>
              </p:ext>
            </p:extLst>
          </p:nvPr>
        </p:nvGraphicFramePr>
        <p:xfrm>
          <a:off x="609600" y="1219200"/>
          <a:ext cx="5810250" cy="3760661"/>
        </p:xfrm>
        <a:graphic>
          <a:graphicData uri="http://schemas.openxmlformats.org/drawingml/2006/table">
            <a:tbl>
              <a:tblPr firstRow="1" bandRow="1"/>
              <a:tblGrid>
                <a:gridCol w="19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Operación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Unidad de medición propuesta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Picking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bultos preparados por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Carga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pallets cargados por hora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Carreteo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pallets trasladados por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Clark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pallets o movimientos físicos equivalentes por hora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 dirty="0">
                          <a:solidFill>
                            <a:srgbClr val="111827"/>
                          </a:solidFill>
                        </a:rPr>
                        <a:t>Control CHP + CBF</a:t>
                      </a:r>
                      <a:endParaRPr lang="es-ES" sz="713" b="0" dirty="0">
                        <a:solidFill>
                          <a:srgbClr val="111827"/>
                        </a:solidFill>
                      </a:endParaRPr>
                    </a:p>
                    <a:p>
                      <a:r>
                        <a:rPr lang="es-ES" sz="713" b="0" dirty="0">
                          <a:solidFill>
                            <a:srgbClr val="111827"/>
                          </a:solidFill>
                        </a:rPr>
                        <a:t>Control de Hueco de Picking</a:t>
                      </a:r>
                    </a:p>
                    <a:p>
                      <a:r>
                        <a:rPr lang="es-ES" sz="713" b="0" dirty="0">
                          <a:solidFill>
                            <a:srgbClr val="111827"/>
                          </a:solidFill>
                        </a:rPr>
                        <a:t>Control de Barre fondo </a:t>
                      </a:r>
                      <a:endParaRPr sz="713" b="0" dirty="0">
                        <a:solidFill>
                          <a:srgbClr val="11182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huecos controlados por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Control Manual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huecos controlados por hora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Recepción NOA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pallets recibidos/revisados por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0">
                          <a:solidFill>
                            <a:srgbClr val="111827"/>
                          </a:solidFill>
                        </a:rPr>
                        <a:t>Recepción Secos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827"/>
                          </a:solidFill>
                        </a:rPr>
                        <a:t>pallets recibidos/revisados por hora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713" b="1">
                          <a:solidFill>
                            <a:srgbClr val="111827"/>
                          </a:solidFill>
                        </a:rPr>
                        <a:t>Consolidación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13" dirty="0" err="1">
                          <a:solidFill>
                            <a:srgbClr val="111827"/>
                          </a:solidFill>
                        </a:rPr>
                        <a:t>bultos</a:t>
                      </a:r>
                      <a:r>
                        <a:rPr sz="713" dirty="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sz="713" dirty="0" err="1">
                          <a:solidFill>
                            <a:srgbClr val="111827"/>
                          </a:solidFill>
                        </a:rPr>
                        <a:t>transferidos</a:t>
                      </a:r>
                      <a:r>
                        <a:rPr sz="713" dirty="0">
                          <a:solidFill>
                            <a:srgbClr val="111827"/>
                          </a:solidFill>
                        </a:rPr>
                        <a:t> entre </a:t>
                      </a:r>
                      <a:r>
                        <a:rPr sz="713" dirty="0" err="1">
                          <a:solidFill>
                            <a:srgbClr val="111827"/>
                          </a:solidFill>
                        </a:rPr>
                        <a:t>contenedores</a:t>
                      </a:r>
                      <a:r>
                        <a:rPr sz="713" dirty="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sz="713" dirty="0" err="1">
                          <a:solidFill>
                            <a:srgbClr val="111827"/>
                          </a:solidFill>
                        </a:rPr>
                        <a:t>por</a:t>
                      </a:r>
                      <a:r>
                        <a:rPr sz="713" dirty="0">
                          <a:solidFill>
                            <a:srgbClr val="111827"/>
                          </a:solidFill>
                        </a:rPr>
                        <a:t>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consolidacion-panel">
            <a:extLst>
              <a:ext uri="{FF2B5EF4-FFF2-40B4-BE49-F238E27FC236}">
                <a16:creationId xmlns:a16="http://schemas.microsoft.com/office/drawing/2014/main" id="{460D794D-EF2C-4B67-A3A1-12E8521CA62B}"/>
              </a:ext>
            </a:extLst>
          </p:cNvPr>
          <p:cNvSpPr>
            <a:spLocks noGrp="1"/>
          </p:cNvSpPr>
          <p:nvPr/>
        </p:nvSpPr>
        <p:spPr>
          <a:xfrm>
            <a:off x="6896100" y="1219200"/>
            <a:ext cx="4476750" cy="3714750"/>
          </a:xfrm>
          <a:prstGeom prst="roundRect">
            <a:avLst>
              <a:gd name="adj" fmla="val 2051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6" name="consolidacion-title">
            <a:extLst>
              <a:ext uri="{FF2B5EF4-FFF2-40B4-BE49-F238E27FC236}">
                <a16:creationId xmlns:a16="http://schemas.microsoft.com/office/drawing/2014/main" id="{DC2718BA-97C8-4BBC-AC68-379CB877BCDD}"/>
              </a:ext>
            </a:extLst>
          </p:cNvPr>
          <p:cNvSpPr>
            <a:spLocks noGrp="1"/>
          </p:cNvSpPr>
          <p:nvPr/>
        </p:nvSpPr>
        <p:spPr>
          <a:xfrm>
            <a:off x="7181850" y="14859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Consolidación</a:t>
            </a: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: </a:t>
            </a:r>
            <a:r>
              <a:rPr sz="165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propuesta</a:t>
            </a: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inicial</a:t>
            </a:r>
            <a:r>
              <a:rPr lang="es-ES"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. Actualmente no se paga directo, sino como desprendimiento de otras operaciones. La propuesta es que se mida individualmente </a:t>
            </a:r>
            <a:r>
              <a:rPr lang="es-ES" sz="165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pregjnta</a:t>
            </a:r>
            <a:r>
              <a:rPr lang="es-ES"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a </a:t>
            </a:r>
            <a:r>
              <a:rPr lang="es-ES" sz="165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zappa</a:t>
            </a:r>
            <a:endParaRPr sz="165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onsolidacion-body">
            <a:extLst>
              <a:ext uri="{FF2B5EF4-FFF2-40B4-BE49-F238E27FC236}">
                <a16:creationId xmlns:a16="http://schemas.microsoft.com/office/drawing/2014/main" id="{57822352-CE6E-4F49-AFDD-14211021CEE5}"/>
              </a:ext>
            </a:extLst>
          </p:cNvPr>
          <p:cNvSpPr>
            <a:spLocks noGrp="1"/>
          </p:cNvSpPr>
          <p:nvPr/>
        </p:nvSpPr>
        <p:spPr>
          <a:xfrm>
            <a:off x="7181850" y="2844165"/>
            <a:ext cx="3810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medible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propia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Unidad: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bultos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transferidos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entre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palets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única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inicial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basada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los tiempos de alimentos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Factor de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velocidad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propuesto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1,50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sobre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Picking AL.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Justificación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la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mediana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equivalencias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sectoriales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observadas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es 1,00.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podrá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sectorizar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diferencias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relevantes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47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12286C69-03C8-4A29-8E0B-CF6DA2D1186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CÁLCULO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D11DFA-18D7-4E62-8E64-A0BA88246F1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pago combina resultado individual y responsabilidad grupal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9E1389C-6FA2-4AD3-B482-3B99E717F147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-panel">
            <a:extLst>
              <a:ext uri="{FF2B5EF4-FFF2-40B4-BE49-F238E27FC236}">
                <a16:creationId xmlns:a16="http://schemas.microsoft.com/office/drawing/2014/main" id="{F656ADC6-8341-4B7C-AD5A-B144DFC9427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left-title">
            <a:extLst>
              <a:ext uri="{FF2B5EF4-FFF2-40B4-BE49-F238E27FC236}">
                <a16:creationId xmlns:a16="http://schemas.microsoft.com/office/drawing/2014/main" id="{BA655597-3DD0-49A2-89BF-BDA2719FBA09}"/>
              </a:ext>
            </a:extLst>
          </p:cNvPr>
          <p:cNvSpPr>
            <a:spLocks noGrp="1"/>
          </p:cNvSpPr>
          <p:nvPr/>
        </p:nvSpPr>
        <p:spPr>
          <a:xfrm>
            <a:off x="876300" y="14859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Pago individual</a:t>
            </a:r>
          </a:p>
        </p:txBody>
      </p:sp>
      <p:sp>
        <p:nvSpPr>
          <p:cNvPr id="6" name="left-body">
            <a:extLst>
              <a:ext uri="{FF2B5EF4-FFF2-40B4-BE49-F238E27FC236}">
                <a16:creationId xmlns:a16="http://schemas.microsoft.com/office/drawing/2014/main" id="{74A7C81F-B4DA-437D-9716-0F2E3A35376A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461962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diario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</a:t>
            </a:r>
            <a:r>
              <a:rPr lang="es-ES"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Σ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horarios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Σ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unidades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logísticas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procesadas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hora</a:t>
            </a:r>
            <a:r>
              <a:rPr lang="es-AR"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- errores computables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parcial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minutos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/ 60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más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sector o TNC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calcula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proporcional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ight-panel">
            <a:extLst>
              <a:ext uri="{FF2B5EF4-FFF2-40B4-BE49-F238E27FC236}">
                <a16:creationId xmlns:a16="http://schemas.microsoft.com/office/drawing/2014/main" id="{F2A4FCBA-E1F8-4A82-89AB-70C903659778}"/>
              </a:ext>
            </a:extLst>
          </p:cNvPr>
          <p:cNvSpPr>
            <a:spLocks noGrp="1"/>
          </p:cNvSpPr>
          <p:nvPr/>
        </p:nvSpPr>
        <p:spPr>
          <a:xfrm>
            <a:off x="6343650" y="1238250"/>
            <a:ext cx="5238750" cy="409575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9DCD3CD6-3C66-4E38-B579-C61DC40327B2}"/>
              </a:ext>
            </a:extLst>
          </p:cNvPr>
          <p:cNvSpPr>
            <a:spLocks noGrp="1"/>
          </p:cNvSpPr>
          <p:nvPr/>
        </p:nvSpPr>
        <p:spPr>
          <a:xfrm>
            <a:off x="6610350" y="14859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Pago grupal</a:t>
            </a:r>
          </a:p>
        </p:txBody>
      </p:sp>
      <p:sp>
        <p:nvSpPr>
          <p:cNvPr id="9" name="right-body">
            <a:extLst>
              <a:ext uri="{FF2B5EF4-FFF2-40B4-BE49-F238E27FC236}">
                <a16:creationId xmlns:a16="http://schemas.microsoft.com/office/drawing/2014/main" id="{D00B4044-2A2D-462D-A051-18AD7A9C5F39}"/>
              </a:ext>
            </a:extLst>
          </p:cNvPr>
          <p:cNvSpPr>
            <a:spLocks noGrp="1"/>
          </p:cNvSpPr>
          <p:nvPr/>
        </p:nvSpPr>
        <p:spPr>
          <a:xfrm>
            <a:off x="6610350" y="1952625"/>
            <a:ext cx="461962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valor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× horas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participadas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Valor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=</a:t>
            </a: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/ horas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totales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participadas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</a:t>
            </a:r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distribuye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forma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equitativa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participada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se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reparte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según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bultos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individuales</a:t>
            </a: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59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45DF10FB-6D22-4BAE-8FFC-15C49071AD8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PREMIO GRUPAL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05E6A0-B7C5-4C3B-AE12-8C61BC9EE14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premio grupal tiende a medirse contra planificación del turno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A03E6F5-06F0-40A7-B8A2-9BE55EA451D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tup">
            <a:extLst>
              <a:ext uri="{FF2B5EF4-FFF2-40B4-BE49-F238E27FC236}">
                <a16:creationId xmlns:a16="http://schemas.microsoft.com/office/drawing/2014/main" id="{6C99151C-55B5-4627-8C44-E8185371191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evalúa por función, unidad operativa y turno. Ejemplos de unidad operativa: Secos 1, Refrigerados, NOA.</a:t>
            </a:r>
          </a:p>
        </p:txBody>
      </p:sp>
      <p:sp>
        <p:nvSpPr>
          <p:cNvPr id="5" name="ops-panel">
            <a:extLst>
              <a:ext uri="{FF2B5EF4-FFF2-40B4-BE49-F238E27FC236}">
                <a16:creationId xmlns:a16="http://schemas.microsoft.com/office/drawing/2014/main" id="{BA03E9B0-EB9B-41A9-908D-19D0067C3AF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333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ops-title">
            <a:extLst>
              <a:ext uri="{FF2B5EF4-FFF2-40B4-BE49-F238E27FC236}">
                <a16:creationId xmlns:a16="http://schemas.microsoft.com/office/drawing/2014/main" id="{4C693B8C-8547-4901-B74F-CBFE5F6604A7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Turnos y horas extra</a:t>
            </a:r>
          </a:p>
        </p:txBody>
      </p:sp>
      <p:sp>
        <p:nvSpPr>
          <p:cNvPr id="7" name="ops-body">
            <a:extLst>
              <a:ext uri="{FF2B5EF4-FFF2-40B4-BE49-F238E27FC236}">
                <a16:creationId xmlns:a16="http://schemas.microsoft.com/office/drawing/2014/main" id="{848DD5E2-DDBD-4963-9952-31804973BEE0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66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Mañana: 06:00 a 14:00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Tarde: 14:00 a 22:00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Noche: 22:00 a 06:00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Las horas extra se asignan al turno en el cual se realizan.</a:t>
            </a:r>
          </a:p>
        </p:txBody>
      </p:sp>
      <p:sp>
        <p:nvSpPr>
          <p:cNvPr id="8" name="option-a">
            <a:extLst>
              <a:ext uri="{FF2B5EF4-FFF2-40B4-BE49-F238E27FC236}">
                <a16:creationId xmlns:a16="http://schemas.microsoft.com/office/drawing/2014/main" id="{95B43C97-8897-4F4D-BA7C-3AB74D37BF3B}"/>
              </a:ext>
            </a:extLst>
          </p:cNvPr>
          <p:cNvSpPr>
            <a:spLocks noGrp="1"/>
          </p:cNvSpPr>
          <p:nvPr/>
        </p:nvSpPr>
        <p:spPr>
          <a:xfrm>
            <a:off x="4324350" y="169545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a-title">
            <a:extLst>
              <a:ext uri="{FF2B5EF4-FFF2-40B4-BE49-F238E27FC236}">
                <a16:creationId xmlns:a16="http://schemas.microsoft.com/office/drawing/2014/main" id="{62980943-2F03-4C5E-8207-6F68E519B046}"/>
              </a:ext>
            </a:extLst>
          </p:cNvPr>
          <p:cNvSpPr>
            <a:spLocks noGrp="1"/>
          </p:cNvSpPr>
          <p:nvPr/>
        </p:nvSpPr>
        <p:spPr>
          <a:xfrm>
            <a:off x="4572000" y="1952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Opción</a:t>
            </a:r>
            <a:r>
              <a:rPr sz="15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A — </a:t>
            </a:r>
            <a:r>
              <a:rPr sz="1575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referencia</a:t>
            </a:r>
            <a:r>
              <a:rPr sz="15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actual</a:t>
            </a:r>
          </a:p>
        </p:txBody>
      </p:sp>
      <p:sp>
        <p:nvSpPr>
          <p:cNvPr id="10" name="a-body">
            <a:extLst>
              <a:ext uri="{FF2B5EF4-FFF2-40B4-BE49-F238E27FC236}">
                <a16:creationId xmlns:a16="http://schemas.microsoft.com/office/drawing/2014/main" id="{65A3C3D9-9303-42E8-9D87-DB3BB8E683DD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271462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UL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</a:t>
            </a: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nivel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mínimo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×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dotación</a:t>
            </a:r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× factor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colchón</a:t>
            </a:r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Ventaja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simple,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trazable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cercana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Productiv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actual.</a:t>
            </a:r>
          </a:p>
          <a:p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Riesgo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puede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no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reflejar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planificación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real del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option-b">
            <a:extLst>
              <a:ext uri="{FF2B5EF4-FFF2-40B4-BE49-F238E27FC236}">
                <a16:creationId xmlns:a16="http://schemas.microsoft.com/office/drawing/2014/main" id="{5CCC26C8-9883-48D2-9149-655C86280CFB}"/>
              </a:ext>
            </a:extLst>
          </p:cNvPr>
          <p:cNvSpPr>
            <a:spLocks noGrp="1"/>
          </p:cNvSpPr>
          <p:nvPr/>
        </p:nvSpPr>
        <p:spPr>
          <a:xfrm>
            <a:off x="8039100" y="169545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2" name="b-title">
            <a:extLst>
              <a:ext uri="{FF2B5EF4-FFF2-40B4-BE49-F238E27FC236}">
                <a16:creationId xmlns:a16="http://schemas.microsoft.com/office/drawing/2014/main" id="{E573A7F5-A08D-4169-8982-4036AFF84445}"/>
              </a:ext>
            </a:extLst>
          </p:cNvPr>
          <p:cNvSpPr>
            <a:spLocks noGrp="1"/>
          </p:cNvSpPr>
          <p:nvPr/>
        </p:nvSpPr>
        <p:spPr>
          <a:xfrm>
            <a:off x="8286750" y="1952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Opción B — tendencia propuesta</a:t>
            </a:r>
          </a:p>
        </p:txBody>
      </p:sp>
      <p:sp>
        <p:nvSpPr>
          <p:cNvPr id="13" name="b-body">
            <a:extLst>
              <a:ext uri="{FF2B5EF4-FFF2-40B4-BE49-F238E27FC236}">
                <a16:creationId xmlns:a16="http://schemas.microsoft.com/office/drawing/2014/main" id="{A6C7F201-45E7-45C8-9CDE-F9C8BBBF6646}"/>
              </a:ext>
            </a:extLst>
          </p:cNvPr>
          <p:cNvSpPr>
            <a:spLocks noGrp="1"/>
          </p:cNvSpPr>
          <p:nvPr/>
        </p:nvSpPr>
        <p:spPr>
          <a:xfrm>
            <a:off x="8286750" y="2400300"/>
            <a:ext cx="271462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contra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planificación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OUT: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planificación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TMS.</a:t>
            </a: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IN: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agendamiento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proveedores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Premia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cumplimiento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plan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operativo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Requiere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gobierno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calidad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del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planificado</a:t>
            </a:r>
            <a:r>
              <a:rPr sz="12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recommendation">
            <a:extLst>
              <a:ext uri="{FF2B5EF4-FFF2-40B4-BE49-F238E27FC236}">
                <a16:creationId xmlns:a16="http://schemas.microsoft.com/office/drawing/2014/main" id="{0C51CE6A-0DD2-4CC1-88D0-ABA60535FE95}"/>
              </a:ext>
            </a:extLst>
          </p:cNvPr>
          <p:cNvSpPr>
            <a:spLocks noGrp="1"/>
          </p:cNvSpPr>
          <p:nvPr/>
        </p:nvSpPr>
        <p:spPr>
          <a:xfrm>
            <a:off x="666750" y="55816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Recomendación: avanzar conceptualmente con Opción B y conservar Opción A como alternativa de implementación inicial.</a:t>
            </a:r>
          </a:p>
        </p:txBody>
      </p:sp>
    </p:spTree>
    <p:extLst>
      <p:ext uri="{BB962C8B-B14F-4D97-AF65-F5344CB8AC3E}">
        <p14:creationId xmlns:p14="http://schemas.microsoft.com/office/powerpoint/2010/main" val="1579659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">
            <a:extLst>
              <a:ext uri="{FF2B5EF4-FFF2-40B4-BE49-F238E27FC236}">
                <a16:creationId xmlns:a16="http://schemas.microsoft.com/office/drawing/2014/main" id="{53D5B539-0AED-4175-A9C4-456BCB34EA9E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38D0A3-4A8C-4B95-90E3-DEC03FFF681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Las tablas de pago se validan por sector y función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E6FCB17-6395-4F74-882B-E19F482605F3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panel">
            <a:extLst>
              <a:ext uri="{FF2B5EF4-FFF2-40B4-BE49-F238E27FC236}">
                <a16:creationId xmlns:a16="http://schemas.microsoft.com/office/drawing/2014/main" id="{567F3DD9-B480-4DDB-8D7A-75BB3D00CE23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096500" cy="45339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EB52B81-4408-491F-B2C0-C16FA7D6059B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9477375" cy="398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Picking se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abre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explícito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AL, MU, B1, PI, etc.</a:t>
            </a:r>
          </a:p>
          <a:p>
            <a:endParaRPr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 no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conversiones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persona se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mide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contra la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específica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 y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las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Desde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/h y Hasta/h indican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unidades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físicas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 para ese sector.</a:t>
            </a: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Premio/h indica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horario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aplicable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ese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tramo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Cuando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 no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tiempo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normal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histórico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se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muestra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igualmente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equivalencia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Consolidación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 propone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inicialmente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única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; la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apertura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sectorial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queda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como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decisión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posterior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diferencias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relevantes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225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-rule">
            <a:extLst>
              <a:ext uri="{FF2B5EF4-FFF2-40B4-BE49-F238E27FC236}">
                <a16:creationId xmlns:a16="http://schemas.microsoft.com/office/drawing/2014/main" id="{9809011C-0145-475E-9159-146041480FA8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11430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4FA7CCB7-17E5-492E-8EB8-02A182358B7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Anexos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641D6013-72B2-4C97-9E96-9C421B8ECE98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Fórmulas de referencia y tablas de escalas propuestas</a:t>
            </a:r>
          </a:p>
        </p:txBody>
      </p:sp>
    </p:spTree>
    <p:extLst>
      <p:ext uri="{BB962C8B-B14F-4D97-AF65-F5344CB8AC3E}">
        <p14:creationId xmlns:p14="http://schemas.microsoft.com/office/powerpoint/2010/main" val="107754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 de referencia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C3451118-FBC5-4A4A-89C8-163AEA66640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238750" cy="4238625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830B605-C005-406F-BCC8-FE1658FD9738}"/>
              </a:ext>
            </a:extLst>
          </p:cNvPr>
          <p:cNvSpPr>
            <a:spLocks noGrp="1"/>
          </p:cNvSpPr>
          <p:nvPr/>
        </p:nvSpPr>
        <p:spPr>
          <a:xfrm>
            <a:off x="6343650" y="1238250"/>
            <a:ext cx="5238750" cy="4238625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left-text">
            <a:extLst>
              <a:ext uri="{FF2B5EF4-FFF2-40B4-BE49-F238E27FC236}">
                <a16:creationId xmlns:a16="http://schemas.microsoft.com/office/drawing/2014/main" id="{551D76E9-B01D-493C-9B77-5C8D996D420E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4667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 = Σ premios horarios - errores computables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 horaria = Σ unidades logísticas procesadas en la hora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Segmento parcial = minutos del segmento / 60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proporcional del segmento = target horario × segmento parcial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proporcional del segmento = premio horario × segmento parcial</a:t>
            </a:r>
          </a:p>
        </p:txBody>
      </p:sp>
      <p:sp>
        <p:nvSpPr>
          <p:cNvPr id="7" name="right-text">
            <a:extLst>
              <a:ext uri="{FF2B5EF4-FFF2-40B4-BE49-F238E27FC236}">
                <a16:creationId xmlns:a16="http://schemas.microsoft.com/office/drawing/2014/main" id="{A3694215-A753-4D99-8F03-97FBAF4A909E}"/>
              </a:ext>
            </a:extLst>
          </p:cNvPr>
          <p:cNvSpPr>
            <a:spLocks noGrp="1"/>
          </p:cNvSpPr>
          <p:nvPr/>
        </p:nvSpPr>
        <p:spPr>
          <a:xfrm>
            <a:off x="6629400" y="1524000"/>
            <a:ext cx="4667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grupal individual = valor grupal hora × horas participadas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Valor grupal hora = bolsa grupal / horas totales participadas del grupo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grupal = premio mínimo horario × cantidad de operarios × factor colchón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 Opción A: UL reales ≥ UL objetivo</a:t>
            </a:r>
          </a:p>
          <a:p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 Opción B: cumplimiento real ≥ planificación del turno</a:t>
            </a:r>
          </a:p>
        </p:txBody>
      </p:sp>
    </p:spTree>
    <p:extLst>
      <p:ext uri="{BB962C8B-B14F-4D97-AF65-F5344CB8AC3E}">
        <p14:creationId xmlns:p14="http://schemas.microsoft.com/office/powerpoint/2010/main" val="189122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lang="es-ES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Premio individual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C3451118-FBC5-4A4A-89C8-163AEA66640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left-text">
            <a:extLst>
              <a:ext uri="{FF2B5EF4-FFF2-40B4-BE49-F238E27FC236}">
                <a16:creationId xmlns:a16="http://schemas.microsoft.com/office/drawing/2014/main" id="{551D76E9-B01D-493C-9B77-5C8D996D420E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0598658" cy="4785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= Σ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ULs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EC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Medidos en horas reloj, reales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hay cambio de sector, operación o </a:t>
            </a: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declaración de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tnc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válido, se ponderan los minutos efectivos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Pp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vs Tabla de Operación / División / Sector (Si aplica)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hay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proporcional, se aplica la proporción al Premio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Σ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</a:t>
            </a:r>
            <a:endParaRPr lang="es-ES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AR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Producción horaria</a:t>
            </a:r>
            <a:endParaRPr lang="es-AR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UL = Unidades Logísticas, bultos, pallets, huecos.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EC = 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errores computables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Pp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Premio a Pagar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 = 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26490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lang="es-ES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Premio individual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C3451118-FBC5-4A4A-89C8-163AEA66640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" name="left-text">
            <a:extLst>
              <a:ext uri="{FF2B5EF4-FFF2-40B4-BE49-F238E27FC236}">
                <a16:creationId xmlns:a16="http://schemas.microsoft.com/office/drawing/2014/main" id="{551D76E9-B01D-493C-9B77-5C8D996D420E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0598658" cy="4785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695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lang="es-ES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Premio Grupal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830B605-C005-406F-BCC8-FE1658FD9738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11163300" cy="529590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right-text">
            <a:extLst>
              <a:ext uri="{FF2B5EF4-FFF2-40B4-BE49-F238E27FC236}">
                <a16:creationId xmlns:a16="http://schemas.microsoft.com/office/drawing/2014/main" id="{A3694215-A753-4D99-8F03-97FBAF4A909E}"/>
              </a:ext>
            </a:extLst>
          </p:cNvPr>
          <p:cNvSpPr>
            <a:spLocks noGrp="1"/>
          </p:cNvSpPr>
          <p:nvPr/>
        </p:nvSpPr>
        <p:spPr>
          <a:xfrm>
            <a:off x="609600" y="1523999"/>
            <a:ext cx="10687050" cy="4842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A: Distribución por cantidad de bultos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FG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=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Vm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* CO * MA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Σ </a:t>
            </a: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= </a:t>
            </a: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/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* Tabla Pago Grupal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Operación_División_Sector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FG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Filtro Grupal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Vm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Valor Mínimo de la operación / división que cobra premio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 = Cantidad de operarios que realizaron algún movimiento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 = Margen de colchón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Produccion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Final Grupal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Premio Individual Adicional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Pago Individual Diario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= Porcentaje Participación individual</a:t>
            </a:r>
            <a:endParaRPr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125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lang="es-ES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Premio Grupal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830B605-C005-406F-BCC8-FE1658FD9738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11163300" cy="529590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right-text">
            <a:extLst>
              <a:ext uri="{FF2B5EF4-FFF2-40B4-BE49-F238E27FC236}">
                <a16:creationId xmlns:a16="http://schemas.microsoft.com/office/drawing/2014/main" id="{A3694215-A753-4D99-8F03-97FBAF4A909E}"/>
              </a:ext>
            </a:extLst>
          </p:cNvPr>
          <p:cNvSpPr>
            <a:spLocks noGrp="1"/>
          </p:cNvSpPr>
          <p:nvPr/>
        </p:nvSpPr>
        <p:spPr>
          <a:xfrm>
            <a:off x="609600" y="1523999"/>
            <a:ext cx="10687050" cy="4842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B: Distribución por cumplimiento grupal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FG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=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Vm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* CO * MA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Σ </a:t>
            </a: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= </a:t>
            </a: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AR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/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* Tabla Pago Grupal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Operación_División_Sector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FG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Filtro Grupal</a:t>
            </a:r>
            <a:endParaRPr lang="es-ES" sz="135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Vm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Valor Mínimo de la operación / división que cobra premio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 = Cantidad de operarios que realizaron algún movimiento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 = Margen de colchón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</a:t>
            </a:r>
            <a:r>
              <a:rPr lang="es-ES" sz="135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Produccion</a:t>
            </a: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Final Grupal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Premio Individual Adicional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PID</a:t>
            </a: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= Pago Individual Diario</a:t>
            </a:r>
          </a:p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3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PPI = Porcentaje Participación individual</a:t>
            </a:r>
            <a:endParaRPr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1267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81E2CEDF-735D-4C92-8F34-D6CD7192B91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31B93E-7367-4074-9AB5-34828B53A55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Fórmulas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</a:t>
            </a:r>
            <a:r>
              <a:rPr lang="es-ES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– Premio Grupal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1E36213-3E36-4192-B415-17F0B8CAC5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830B605-C005-406F-BCC8-FE1658FD9738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11163300" cy="529590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right-text">
            <a:extLst>
              <a:ext uri="{FF2B5EF4-FFF2-40B4-BE49-F238E27FC236}">
                <a16:creationId xmlns:a16="http://schemas.microsoft.com/office/drawing/2014/main" id="{A3694215-A753-4D99-8F03-97FBAF4A909E}"/>
              </a:ext>
            </a:extLst>
          </p:cNvPr>
          <p:cNvSpPr>
            <a:spLocks noGrp="1"/>
          </p:cNvSpPr>
          <p:nvPr/>
        </p:nvSpPr>
        <p:spPr>
          <a:xfrm>
            <a:off x="609600" y="1523999"/>
            <a:ext cx="10687050" cy="4842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Final Diario = PID + </a:t>
            </a:r>
            <a:r>
              <a:rPr lang="es-ES" sz="135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</a:t>
            </a:r>
            <a:endParaRPr sz="13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88285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34391AEA-E867-4F79-A86D-E0C3B468362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AF7D20-F95E-4E26-9FF1-24A538E233B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9A972DC-1793-4999-8DDF-B4EF4C2EBB8E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L-title">
            <a:extLst>
              <a:ext uri="{FF2B5EF4-FFF2-40B4-BE49-F238E27FC236}">
                <a16:creationId xmlns:a16="http://schemas.microsoft.com/office/drawing/2014/main" id="{9BA99D31-D460-440C-9B38-86E98BF916F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AL</a:t>
            </a:r>
          </a:p>
        </p:txBody>
      </p:sp>
      <p:sp>
        <p:nvSpPr>
          <p:cNvPr id="5" name="Sector AL-subtitle">
            <a:extLst>
              <a:ext uri="{FF2B5EF4-FFF2-40B4-BE49-F238E27FC236}">
                <a16:creationId xmlns:a16="http://schemas.microsoft.com/office/drawing/2014/main" id="{20353A43-B3E8-4B12-AFCD-DD072C74345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A2-title">
            <a:extLst>
              <a:ext uri="{FF2B5EF4-FFF2-40B4-BE49-F238E27FC236}">
                <a16:creationId xmlns:a16="http://schemas.microsoft.com/office/drawing/2014/main" id="{566DA867-4BB2-4ED2-8AC8-C594DBF6DA42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A2</a:t>
            </a:r>
          </a:p>
        </p:txBody>
      </p:sp>
      <p:sp>
        <p:nvSpPr>
          <p:cNvPr id="8" name="Sector A2-subtitle">
            <a:extLst>
              <a:ext uri="{FF2B5EF4-FFF2-40B4-BE49-F238E27FC236}">
                <a16:creationId xmlns:a16="http://schemas.microsoft.com/office/drawing/2014/main" id="{C2D77D9D-CCA7-4F20-8D26-795F73F4D822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A3-title">
            <a:extLst>
              <a:ext uri="{FF2B5EF4-FFF2-40B4-BE49-F238E27FC236}">
                <a16:creationId xmlns:a16="http://schemas.microsoft.com/office/drawing/2014/main" id="{AA8AAF93-2AC6-44E5-B032-A92C6F13F1A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A3</a:t>
            </a:r>
          </a:p>
        </p:txBody>
      </p:sp>
      <p:sp>
        <p:nvSpPr>
          <p:cNvPr id="11" name="Sector A3-subtitle">
            <a:extLst>
              <a:ext uri="{FF2B5EF4-FFF2-40B4-BE49-F238E27FC236}">
                <a16:creationId xmlns:a16="http://schemas.microsoft.com/office/drawing/2014/main" id="{EBEFFDDC-7F6E-4420-8FA3-8991C5537B1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0,93 | TN 18,5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654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528370B-3D2B-4801-AD18-E590E4C9D5B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5500E0-EF93-4667-9A78-86B8E102331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D9493033-C524-4A09-B4A1-DB557C91629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4-title">
            <a:extLst>
              <a:ext uri="{FF2B5EF4-FFF2-40B4-BE49-F238E27FC236}">
                <a16:creationId xmlns:a16="http://schemas.microsoft.com/office/drawing/2014/main" id="{D2097BE7-7B62-4CFA-B1D8-2497662F1C6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A4</a:t>
            </a:r>
          </a:p>
        </p:txBody>
      </p:sp>
      <p:sp>
        <p:nvSpPr>
          <p:cNvPr id="5" name="Sector A4-subtitle">
            <a:extLst>
              <a:ext uri="{FF2B5EF4-FFF2-40B4-BE49-F238E27FC236}">
                <a16:creationId xmlns:a16="http://schemas.microsoft.com/office/drawing/2014/main" id="{2222F9C3-FBD5-41F1-8B2E-8E3D2EE64CE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0,81 | TN 16,1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AS-title">
            <a:extLst>
              <a:ext uri="{FF2B5EF4-FFF2-40B4-BE49-F238E27FC236}">
                <a16:creationId xmlns:a16="http://schemas.microsoft.com/office/drawing/2014/main" id="{798CDB8B-D306-4C9D-8EC6-A86870A7B710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AS</a:t>
            </a:r>
          </a:p>
        </p:txBody>
      </p:sp>
      <p:sp>
        <p:nvSpPr>
          <p:cNvPr id="8" name="Sector AS-subtitle">
            <a:extLst>
              <a:ext uri="{FF2B5EF4-FFF2-40B4-BE49-F238E27FC236}">
                <a16:creationId xmlns:a16="http://schemas.microsoft.com/office/drawing/2014/main" id="{3E93D654-5017-419E-B6E4-76B32BB665CC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B1-title">
            <a:extLst>
              <a:ext uri="{FF2B5EF4-FFF2-40B4-BE49-F238E27FC236}">
                <a16:creationId xmlns:a16="http://schemas.microsoft.com/office/drawing/2014/main" id="{6199E828-6BB0-4838-A111-19305BB7590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B1</a:t>
            </a:r>
          </a:p>
        </p:txBody>
      </p:sp>
      <p:sp>
        <p:nvSpPr>
          <p:cNvPr id="11" name="Sector B1-subtitle">
            <a:extLst>
              <a:ext uri="{FF2B5EF4-FFF2-40B4-BE49-F238E27FC236}">
                <a16:creationId xmlns:a16="http://schemas.microsoft.com/office/drawing/2014/main" id="{CE342696-7011-4254-A225-1DE24170B3B6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869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4C6700F-F398-4144-9347-9A73CA50A04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049EB4-BFC4-47FE-B899-94C49E664A8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23179E7-9D2C-4CEE-8B19-FB53558AE07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B2-title">
            <a:extLst>
              <a:ext uri="{FF2B5EF4-FFF2-40B4-BE49-F238E27FC236}">
                <a16:creationId xmlns:a16="http://schemas.microsoft.com/office/drawing/2014/main" id="{D5618E99-A2AD-4DA5-A007-7DA25F4EC1B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B2</a:t>
            </a:r>
          </a:p>
        </p:txBody>
      </p:sp>
      <p:sp>
        <p:nvSpPr>
          <p:cNvPr id="5" name="Sector B2-subtitle">
            <a:extLst>
              <a:ext uri="{FF2B5EF4-FFF2-40B4-BE49-F238E27FC236}">
                <a16:creationId xmlns:a16="http://schemas.microsoft.com/office/drawing/2014/main" id="{1A9F405F-3A43-48A0-ADED-15FA0308E65E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0,84 | TN 16,7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B3-title">
            <a:extLst>
              <a:ext uri="{FF2B5EF4-FFF2-40B4-BE49-F238E27FC236}">
                <a16:creationId xmlns:a16="http://schemas.microsoft.com/office/drawing/2014/main" id="{D40DDE23-123B-4562-B13B-27DFBF9DB5B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B3</a:t>
            </a:r>
          </a:p>
        </p:txBody>
      </p:sp>
      <p:sp>
        <p:nvSpPr>
          <p:cNvPr id="8" name="Sector B3-subtitle">
            <a:extLst>
              <a:ext uri="{FF2B5EF4-FFF2-40B4-BE49-F238E27FC236}">
                <a16:creationId xmlns:a16="http://schemas.microsoft.com/office/drawing/2014/main" id="{7D52DF4C-3DE5-497F-844E-CED7315D0346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0,85 | TN 16,9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BE-title">
            <a:extLst>
              <a:ext uri="{FF2B5EF4-FFF2-40B4-BE49-F238E27FC236}">
                <a16:creationId xmlns:a16="http://schemas.microsoft.com/office/drawing/2014/main" id="{826D68C2-40F6-40B5-B1E4-C0B599838FF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BE</a:t>
            </a:r>
          </a:p>
        </p:txBody>
      </p:sp>
      <p:sp>
        <p:nvSpPr>
          <p:cNvPr id="11" name="Sector BE-subtitle">
            <a:extLst>
              <a:ext uri="{FF2B5EF4-FFF2-40B4-BE49-F238E27FC236}">
                <a16:creationId xmlns:a16="http://schemas.microsoft.com/office/drawing/2014/main" id="{7A06AEED-6B4B-407B-9B8E-422D998464C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22,6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37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A71BDC7-3219-430A-A16C-0FBB3335501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E9C955-4668-4CC0-8FBD-27C8E26050E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3C668E5-BD36-45D6-A352-6980A4B0C75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CA-title">
            <a:extLst>
              <a:ext uri="{FF2B5EF4-FFF2-40B4-BE49-F238E27FC236}">
                <a16:creationId xmlns:a16="http://schemas.microsoft.com/office/drawing/2014/main" id="{91D0E789-B901-4E85-935C-F65386F5511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CA</a:t>
            </a:r>
          </a:p>
        </p:txBody>
      </p:sp>
      <p:sp>
        <p:nvSpPr>
          <p:cNvPr id="5" name="Sector CA-subtitle">
            <a:extLst>
              <a:ext uri="{FF2B5EF4-FFF2-40B4-BE49-F238E27FC236}">
                <a16:creationId xmlns:a16="http://schemas.microsoft.com/office/drawing/2014/main" id="{30BFAEF1-7E0A-481B-A458-33200DFB904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0,86 | TN 17,0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CH-title">
            <a:extLst>
              <a:ext uri="{FF2B5EF4-FFF2-40B4-BE49-F238E27FC236}">
                <a16:creationId xmlns:a16="http://schemas.microsoft.com/office/drawing/2014/main" id="{D8A55FA6-79AF-4671-8F24-94E9092DAC19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CH</a:t>
            </a:r>
          </a:p>
        </p:txBody>
      </p:sp>
      <p:sp>
        <p:nvSpPr>
          <p:cNvPr id="8" name="Sector CH-subtitle">
            <a:extLst>
              <a:ext uri="{FF2B5EF4-FFF2-40B4-BE49-F238E27FC236}">
                <a16:creationId xmlns:a16="http://schemas.microsoft.com/office/drawing/2014/main" id="{443BF374-3369-4922-8212-82FFD3C1CE8D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CP-title">
            <a:extLst>
              <a:ext uri="{FF2B5EF4-FFF2-40B4-BE49-F238E27FC236}">
                <a16:creationId xmlns:a16="http://schemas.microsoft.com/office/drawing/2014/main" id="{CBEA5A2C-B967-4594-8232-222C2E378BB2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CP</a:t>
            </a:r>
          </a:p>
        </p:txBody>
      </p:sp>
      <p:sp>
        <p:nvSpPr>
          <p:cNvPr id="11" name="Sector CP-subtitle">
            <a:extLst>
              <a:ext uri="{FF2B5EF4-FFF2-40B4-BE49-F238E27FC236}">
                <a16:creationId xmlns:a16="http://schemas.microsoft.com/office/drawing/2014/main" id="{757F71E6-82A6-4556-B2DF-C0623C7D3AF2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1,15 | sin TN histórico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58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309241E-CD58-4D30-A518-C9EC6A00718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A284570-9EFE-4EB9-915C-FE6AD74CE3A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C7FB0E1-F520-49B7-BF33-1F766D2AAB3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HA-title">
            <a:extLst>
              <a:ext uri="{FF2B5EF4-FFF2-40B4-BE49-F238E27FC236}">
                <a16:creationId xmlns:a16="http://schemas.microsoft.com/office/drawing/2014/main" id="{7B054E56-D45A-4026-B6DA-ADD24FFE705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HA</a:t>
            </a:r>
          </a:p>
        </p:txBody>
      </p:sp>
      <p:sp>
        <p:nvSpPr>
          <p:cNvPr id="5" name="Sector HA-subtitle">
            <a:extLst>
              <a:ext uri="{FF2B5EF4-FFF2-40B4-BE49-F238E27FC236}">
                <a16:creationId xmlns:a16="http://schemas.microsoft.com/office/drawing/2014/main" id="{D3233067-98B7-4A57-8944-1D512B7485B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1,01 | sin TN histórico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IN-title">
            <a:extLst>
              <a:ext uri="{FF2B5EF4-FFF2-40B4-BE49-F238E27FC236}">
                <a16:creationId xmlns:a16="http://schemas.microsoft.com/office/drawing/2014/main" id="{E810667C-FA1C-49BD-8CB0-470C0BCE1B3B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IN</a:t>
            </a:r>
          </a:p>
        </p:txBody>
      </p:sp>
      <p:sp>
        <p:nvSpPr>
          <p:cNvPr id="8" name="Sector IN-subtitle">
            <a:extLst>
              <a:ext uri="{FF2B5EF4-FFF2-40B4-BE49-F238E27FC236}">
                <a16:creationId xmlns:a16="http://schemas.microsoft.com/office/drawing/2014/main" id="{374ACCDE-1F2A-46FF-9441-B7F3FD17E7B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22,4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KC-title">
            <a:extLst>
              <a:ext uri="{FF2B5EF4-FFF2-40B4-BE49-F238E27FC236}">
                <a16:creationId xmlns:a16="http://schemas.microsoft.com/office/drawing/2014/main" id="{2968A3E2-E28E-48E8-BAEA-8F796DDCF093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KC</a:t>
            </a:r>
          </a:p>
        </p:txBody>
      </p:sp>
      <p:sp>
        <p:nvSpPr>
          <p:cNvPr id="11" name="Sector KC-subtitle">
            <a:extLst>
              <a:ext uri="{FF2B5EF4-FFF2-40B4-BE49-F238E27FC236}">
                <a16:creationId xmlns:a16="http://schemas.microsoft.com/office/drawing/2014/main" id="{9B7C80C2-C428-4AD8-AEAB-F0B7583A953B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778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FBD5461E-B94E-40AC-B232-8A09484CFEF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58E934B-D771-4A6C-80E2-87EF689490D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9B463C3-CCD9-4EAA-9BDE-A79055BA553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KN-title">
            <a:extLst>
              <a:ext uri="{FF2B5EF4-FFF2-40B4-BE49-F238E27FC236}">
                <a16:creationId xmlns:a16="http://schemas.microsoft.com/office/drawing/2014/main" id="{8938C3B9-8AEC-4B3E-BB29-97CA6E83C32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KN</a:t>
            </a:r>
          </a:p>
        </p:txBody>
      </p:sp>
      <p:sp>
        <p:nvSpPr>
          <p:cNvPr id="5" name="Sector KN-subtitle">
            <a:extLst>
              <a:ext uri="{FF2B5EF4-FFF2-40B4-BE49-F238E27FC236}">
                <a16:creationId xmlns:a16="http://schemas.microsoft.com/office/drawing/2014/main" id="{A491F47F-88A7-480E-AB9D-E1B31EBB371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19,9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KT-title">
            <a:extLst>
              <a:ext uri="{FF2B5EF4-FFF2-40B4-BE49-F238E27FC236}">
                <a16:creationId xmlns:a16="http://schemas.microsoft.com/office/drawing/2014/main" id="{370CFA25-E5EC-4178-8005-1B1DB4E3C90E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KT</a:t>
            </a:r>
          </a:p>
        </p:txBody>
      </p:sp>
      <p:sp>
        <p:nvSpPr>
          <p:cNvPr id="8" name="Sector KT-subtitle">
            <a:extLst>
              <a:ext uri="{FF2B5EF4-FFF2-40B4-BE49-F238E27FC236}">
                <a16:creationId xmlns:a16="http://schemas.microsoft.com/office/drawing/2014/main" id="{FC4C3446-9C39-403F-AF14-E45682C4296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1,19 | sin TN histórico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A-title">
            <a:extLst>
              <a:ext uri="{FF2B5EF4-FFF2-40B4-BE49-F238E27FC236}">
                <a16:creationId xmlns:a16="http://schemas.microsoft.com/office/drawing/2014/main" id="{843F03C0-8D3B-4F28-BD1D-713B96C989D1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NA</a:t>
            </a:r>
          </a:p>
        </p:txBody>
      </p:sp>
      <p:sp>
        <p:nvSpPr>
          <p:cNvPr id="11" name="Sector NA-subtitle">
            <a:extLst>
              <a:ext uri="{FF2B5EF4-FFF2-40B4-BE49-F238E27FC236}">
                <a16:creationId xmlns:a16="http://schemas.microsoft.com/office/drawing/2014/main" id="{B897BDC0-AFCF-419E-BFF5-45E51DA7A2AA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881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5E802EB-D2A6-4717-8E52-C4E31202BAB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0200229-F6CB-4B4B-AB1E-4E21C8A3DCA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EEC0E33-6FB2-4F52-8E32-819BC90E44A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NP-title">
            <a:extLst>
              <a:ext uri="{FF2B5EF4-FFF2-40B4-BE49-F238E27FC236}">
                <a16:creationId xmlns:a16="http://schemas.microsoft.com/office/drawing/2014/main" id="{971927BB-F99E-40BA-9884-2FC65A1CFA8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NP</a:t>
            </a:r>
          </a:p>
        </p:txBody>
      </p:sp>
      <p:sp>
        <p:nvSpPr>
          <p:cNvPr id="5" name="Sector NP-subtitle">
            <a:extLst>
              <a:ext uri="{FF2B5EF4-FFF2-40B4-BE49-F238E27FC236}">
                <a16:creationId xmlns:a16="http://schemas.microsoft.com/office/drawing/2014/main" id="{51164FFF-EBBD-4BB9-917B-9E5C942A5A8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0,71 | TN 14,1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OF-title">
            <a:extLst>
              <a:ext uri="{FF2B5EF4-FFF2-40B4-BE49-F238E27FC236}">
                <a16:creationId xmlns:a16="http://schemas.microsoft.com/office/drawing/2014/main" id="{1F6BF6F3-3221-4712-8CC5-423A26FA189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OF</a:t>
            </a:r>
          </a:p>
        </p:txBody>
      </p:sp>
      <p:sp>
        <p:nvSpPr>
          <p:cNvPr id="8" name="Sector OF-subtitle">
            <a:extLst>
              <a:ext uri="{FF2B5EF4-FFF2-40B4-BE49-F238E27FC236}">
                <a16:creationId xmlns:a16="http://schemas.microsoft.com/office/drawing/2014/main" id="{564D6865-F86B-477C-B363-733D19F398C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0,96 | TN 19,1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P1-title">
            <a:extLst>
              <a:ext uri="{FF2B5EF4-FFF2-40B4-BE49-F238E27FC236}">
                <a16:creationId xmlns:a16="http://schemas.microsoft.com/office/drawing/2014/main" id="{A7C9F0F0-F25D-4463-B93F-C0D556F139C2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P1</a:t>
            </a:r>
          </a:p>
        </p:txBody>
      </p:sp>
      <p:sp>
        <p:nvSpPr>
          <p:cNvPr id="11" name="Sector P1-subtitle">
            <a:extLst>
              <a:ext uri="{FF2B5EF4-FFF2-40B4-BE49-F238E27FC236}">
                <a16:creationId xmlns:a16="http://schemas.microsoft.com/office/drawing/2014/main" id="{30D1707C-A2FD-4017-BF1F-814D5732FB98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1,12 | TN 22,3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73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5205E13-73CC-43E4-8B13-61CC8A67AE1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7059DD-55AF-47C5-A01D-49BEF68DE86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41DE9648-FD7E-49FA-89E0-43B6EE5D127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3-title">
            <a:extLst>
              <a:ext uri="{FF2B5EF4-FFF2-40B4-BE49-F238E27FC236}">
                <a16:creationId xmlns:a16="http://schemas.microsoft.com/office/drawing/2014/main" id="{DF3FA269-71A8-4C80-B641-1A40AA14457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P3</a:t>
            </a:r>
          </a:p>
        </p:txBody>
      </p:sp>
      <p:sp>
        <p:nvSpPr>
          <p:cNvPr id="5" name="Sector P3-subtitle">
            <a:extLst>
              <a:ext uri="{FF2B5EF4-FFF2-40B4-BE49-F238E27FC236}">
                <a16:creationId xmlns:a16="http://schemas.microsoft.com/office/drawing/2014/main" id="{1AE527C4-7C76-44AF-873E-38B3075CDB7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0,68 | TN 13,6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509,0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PE-title">
            <a:extLst>
              <a:ext uri="{FF2B5EF4-FFF2-40B4-BE49-F238E27FC236}">
                <a16:creationId xmlns:a16="http://schemas.microsoft.com/office/drawing/2014/main" id="{35B0E037-A3B2-406C-AE88-DCC94B0084B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PE</a:t>
            </a:r>
          </a:p>
        </p:txBody>
      </p:sp>
      <p:sp>
        <p:nvSpPr>
          <p:cNvPr id="8" name="Sector PE-subtitle">
            <a:extLst>
              <a:ext uri="{FF2B5EF4-FFF2-40B4-BE49-F238E27FC236}">
                <a16:creationId xmlns:a16="http://schemas.microsoft.com/office/drawing/2014/main" id="{A8503163-07FA-479B-87B7-C7853624546A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22,5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SF-title">
            <a:extLst>
              <a:ext uri="{FF2B5EF4-FFF2-40B4-BE49-F238E27FC236}">
                <a16:creationId xmlns:a16="http://schemas.microsoft.com/office/drawing/2014/main" id="{8D55CC59-A1D0-42FA-A3CC-E52A2357E5D8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SF</a:t>
            </a:r>
          </a:p>
        </p:txBody>
      </p:sp>
      <p:sp>
        <p:nvSpPr>
          <p:cNvPr id="11" name="Sector SF-subtitle">
            <a:extLst>
              <a:ext uri="{FF2B5EF4-FFF2-40B4-BE49-F238E27FC236}">
                <a16:creationId xmlns:a16="http://schemas.microsoft.com/office/drawing/2014/main" id="{15330D08-D2F9-4380-AC27-5AB14085C855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0,99 | TN 19,6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173,9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244,0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28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C62BA59-49CA-4625-8C72-DD6C94BC0FC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6E51699-60FD-4B17-A691-CFC3B1376AFB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360BEB9-9CF7-407D-9747-2651FEBE747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M-title">
            <a:extLst>
              <a:ext uri="{FF2B5EF4-FFF2-40B4-BE49-F238E27FC236}">
                <a16:creationId xmlns:a16="http://schemas.microsoft.com/office/drawing/2014/main" id="{3BD46B51-C5D5-46E4-BEC5-9D862B4D2DB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AM</a:t>
            </a:r>
          </a:p>
        </p:txBody>
      </p:sp>
      <p:sp>
        <p:nvSpPr>
          <p:cNvPr id="5" name="Sector AM-subtitle">
            <a:extLst>
              <a:ext uri="{FF2B5EF4-FFF2-40B4-BE49-F238E27FC236}">
                <a16:creationId xmlns:a16="http://schemas.microsoft.com/office/drawing/2014/main" id="{1EFF4B16-41AA-449A-B3B1-BAC07256CF4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21,9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B5-title">
            <a:extLst>
              <a:ext uri="{FF2B5EF4-FFF2-40B4-BE49-F238E27FC236}">
                <a16:creationId xmlns:a16="http://schemas.microsoft.com/office/drawing/2014/main" id="{5DCD40E8-9E35-4C73-85B1-C4A454BE8F6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B5</a:t>
            </a:r>
          </a:p>
        </p:txBody>
      </p:sp>
      <p:sp>
        <p:nvSpPr>
          <p:cNvPr id="8" name="Sector B5-subtitle">
            <a:extLst>
              <a:ext uri="{FF2B5EF4-FFF2-40B4-BE49-F238E27FC236}">
                <a16:creationId xmlns:a16="http://schemas.microsoft.com/office/drawing/2014/main" id="{82B92F43-F121-42CB-B095-2D9B03FED31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CU-title">
            <a:extLst>
              <a:ext uri="{FF2B5EF4-FFF2-40B4-BE49-F238E27FC236}">
                <a16:creationId xmlns:a16="http://schemas.microsoft.com/office/drawing/2014/main" id="{D82DCF10-655C-4027-8A95-5CD190CFBBD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CU</a:t>
            </a:r>
          </a:p>
        </p:txBody>
      </p:sp>
      <p:sp>
        <p:nvSpPr>
          <p:cNvPr id="11" name="Sector CU-subtitle">
            <a:extLst>
              <a:ext uri="{FF2B5EF4-FFF2-40B4-BE49-F238E27FC236}">
                <a16:creationId xmlns:a16="http://schemas.microsoft.com/office/drawing/2014/main" id="{6021977A-BED1-49DF-B8A0-558E5AA8841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41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3717A40B-EA5F-4A2F-B22A-20250C22551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F61158-CD4D-48A5-92DE-D6AFF83F996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17.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5B110A4-F0AF-4377-A46D-601B20DAD01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EC-title">
            <a:extLst>
              <a:ext uri="{FF2B5EF4-FFF2-40B4-BE49-F238E27FC236}">
                <a16:creationId xmlns:a16="http://schemas.microsoft.com/office/drawing/2014/main" id="{1DA1D665-92A2-402E-9703-2B4E46476D6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EC</a:t>
            </a:r>
          </a:p>
        </p:txBody>
      </p:sp>
      <p:sp>
        <p:nvSpPr>
          <p:cNvPr id="5" name="Sector EC-subtitle">
            <a:extLst>
              <a:ext uri="{FF2B5EF4-FFF2-40B4-BE49-F238E27FC236}">
                <a16:creationId xmlns:a16="http://schemas.microsoft.com/office/drawing/2014/main" id="{95F05942-8A99-47CD-869E-790E86544A6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1,02 | TN 19,2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EP-title">
            <a:extLst>
              <a:ext uri="{FF2B5EF4-FFF2-40B4-BE49-F238E27FC236}">
                <a16:creationId xmlns:a16="http://schemas.microsoft.com/office/drawing/2014/main" id="{1EB25ABA-8B29-4CE4-98BF-63A3D30A7B9B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EP</a:t>
            </a:r>
          </a:p>
        </p:txBody>
      </p:sp>
      <p:sp>
        <p:nvSpPr>
          <p:cNvPr id="8" name="Sector EP-subtitle">
            <a:extLst>
              <a:ext uri="{FF2B5EF4-FFF2-40B4-BE49-F238E27FC236}">
                <a16:creationId xmlns:a16="http://schemas.microsoft.com/office/drawing/2014/main" id="{69CF4E10-3C0E-4913-B029-3B677C5486C8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0,90 | TN 18,0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JC-title">
            <a:extLst>
              <a:ext uri="{FF2B5EF4-FFF2-40B4-BE49-F238E27FC236}">
                <a16:creationId xmlns:a16="http://schemas.microsoft.com/office/drawing/2014/main" id="{46CDA520-F8DD-4175-9A32-3EB11E91BDF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JC</a:t>
            </a:r>
          </a:p>
        </p:txBody>
      </p:sp>
      <p:sp>
        <p:nvSpPr>
          <p:cNvPr id="11" name="Sector JC-subtitle">
            <a:extLst>
              <a:ext uri="{FF2B5EF4-FFF2-40B4-BE49-F238E27FC236}">
                <a16:creationId xmlns:a16="http://schemas.microsoft.com/office/drawing/2014/main" id="{4502001A-D1F0-4A41-89C7-FFA2DC6D149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0,79 | TN 15,7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11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F312431D-B2A8-4B68-9ADA-C15468C28B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B7C6FF-4E0E-49B4-BFC9-37AD0A4B983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1B1AED6-A272-42D7-BCA6-99B4C2432F07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LB-title">
            <a:extLst>
              <a:ext uri="{FF2B5EF4-FFF2-40B4-BE49-F238E27FC236}">
                <a16:creationId xmlns:a16="http://schemas.microsoft.com/office/drawing/2014/main" id="{853551FA-34D5-49BF-8F21-3ED04CEEF6B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LB</a:t>
            </a:r>
          </a:p>
        </p:txBody>
      </p:sp>
      <p:sp>
        <p:nvSpPr>
          <p:cNvPr id="5" name="Sector LB-subtitle">
            <a:extLst>
              <a:ext uri="{FF2B5EF4-FFF2-40B4-BE49-F238E27FC236}">
                <a16:creationId xmlns:a16="http://schemas.microsoft.com/office/drawing/2014/main" id="{C8CC8AD7-2C7C-47B6-ACA9-1F5909F029C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MU-title">
            <a:extLst>
              <a:ext uri="{FF2B5EF4-FFF2-40B4-BE49-F238E27FC236}">
                <a16:creationId xmlns:a16="http://schemas.microsoft.com/office/drawing/2014/main" id="{13F59887-7D6F-483D-9C36-38D90C694454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MU</a:t>
            </a:r>
          </a:p>
        </p:txBody>
      </p:sp>
      <p:sp>
        <p:nvSpPr>
          <p:cNvPr id="8" name="Sector MU-subtitle">
            <a:extLst>
              <a:ext uri="{FF2B5EF4-FFF2-40B4-BE49-F238E27FC236}">
                <a16:creationId xmlns:a16="http://schemas.microsoft.com/office/drawing/2014/main" id="{2416853F-20C6-4E88-B431-8A1AABAA9B69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1,88 | TN 37,4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1-title">
            <a:extLst>
              <a:ext uri="{FF2B5EF4-FFF2-40B4-BE49-F238E27FC236}">
                <a16:creationId xmlns:a16="http://schemas.microsoft.com/office/drawing/2014/main" id="{77382A5D-1A2F-4C12-B13E-86C802BA333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N1</a:t>
            </a:r>
          </a:p>
        </p:txBody>
      </p:sp>
      <p:sp>
        <p:nvSpPr>
          <p:cNvPr id="11" name="Sector N1-subtitle">
            <a:extLst>
              <a:ext uri="{FF2B5EF4-FFF2-40B4-BE49-F238E27FC236}">
                <a16:creationId xmlns:a16="http://schemas.microsoft.com/office/drawing/2014/main" id="{6161E7F8-179B-4C1F-9882-4A8A9DFC39E8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0,33 | TN 6,6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1.049,0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61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D3E88E76-4E5F-4F9E-B58E-000FDD5A30D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1B239D-1914-475E-B96E-B0DAFB1119C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19.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B434CDB-46C2-4C79-95F2-4881A4F6A8CA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N2-title">
            <a:extLst>
              <a:ext uri="{FF2B5EF4-FFF2-40B4-BE49-F238E27FC236}">
                <a16:creationId xmlns:a16="http://schemas.microsoft.com/office/drawing/2014/main" id="{E127ADBF-D8A0-4305-8427-E22F9A71AC0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N2</a:t>
            </a:r>
          </a:p>
        </p:txBody>
      </p:sp>
      <p:sp>
        <p:nvSpPr>
          <p:cNvPr id="5" name="Sector N2-subtitle">
            <a:extLst>
              <a:ext uri="{FF2B5EF4-FFF2-40B4-BE49-F238E27FC236}">
                <a16:creationId xmlns:a16="http://schemas.microsoft.com/office/drawing/2014/main" id="{D1D2B828-8E43-459B-8AF7-799813ED927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0,46 | TN 9,1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NS-title">
            <a:extLst>
              <a:ext uri="{FF2B5EF4-FFF2-40B4-BE49-F238E27FC236}">
                <a16:creationId xmlns:a16="http://schemas.microsoft.com/office/drawing/2014/main" id="{0023BE6A-B8F5-459B-8A44-A18F897C20EE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NS</a:t>
            </a:r>
          </a:p>
        </p:txBody>
      </p:sp>
      <p:sp>
        <p:nvSpPr>
          <p:cNvPr id="8" name="Sector NS-subtitle">
            <a:extLst>
              <a:ext uri="{FF2B5EF4-FFF2-40B4-BE49-F238E27FC236}">
                <a16:creationId xmlns:a16="http://schemas.microsoft.com/office/drawing/2014/main" id="{0BCD50EF-685F-45BC-B144-B4C81E9E30DA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T-title">
            <a:extLst>
              <a:ext uri="{FF2B5EF4-FFF2-40B4-BE49-F238E27FC236}">
                <a16:creationId xmlns:a16="http://schemas.microsoft.com/office/drawing/2014/main" id="{4D19850E-F7CA-44F3-B7D4-5AB8314EB08D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NT</a:t>
            </a:r>
          </a:p>
        </p:txBody>
      </p:sp>
      <p:sp>
        <p:nvSpPr>
          <p:cNvPr id="11" name="Sector NT-subtitle">
            <a:extLst>
              <a:ext uri="{FF2B5EF4-FFF2-40B4-BE49-F238E27FC236}">
                <a16:creationId xmlns:a16="http://schemas.microsoft.com/office/drawing/2014/main" id="{08673FDE-FAF9-4625-8275-F1065F0D173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1,60 | TN 31,1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623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BD1B833E-615E-4596-B210-D39FF4217CE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71065F6-ACE0-42C1-A77B-73DA69D560C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0182C57F-D7E0-486C-9E98-7B42E1FABC7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I-title">
            <a:extLst>
              <a:ext uri="{FF2B5EF4-FFF2-40B4-BE49-F238E27FC236}">
                <a16:creationId xmlns:a16="http://schemas.microsoft.com/office/drawing/2014/main" id="{34D92607-7FC1-45D7-A418-E146C289DDF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PI</a:t>
            </a:r>
          </a:p>
        </p:txBody>
      </p:sp>
      <p:sp>
        <p:nvSpPr>
          <p:cNvPr id="5" name="Sector PI-subtitle">
            <a:extLst>
              <a:ext uri="{FF2B5EF4-FFF2-40B4-BE49-F238E27FC236}">
                <a16:creationId xmlns:a16="http://schemas.microsoft.com/office/drawing/2014/main" id="{D7A5FCE5-AAF2-4F91-9F06-B5ECA7EFD38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1,64 | TN 32,6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PT-title">
            <a:extLst>
              <a:ext uri="{FF2B5EF4-FFF2-40B4-BE49-F238E27FC236}">
                <a16:creationId xmlns:a16="http://schemas.microsoft.com/office/drawing/2014/main" id="{ABBA8C92-A66A-44BF-88B7-27D89D7B046C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PT</a:t>
            </a:r>
          </a:p>
        </p:txBody>
      </p:sp>
      <p:sp>
        <p:nvSpPr>
          <p:cNvPr id="8" name="Sector PT-subtitle">
            <a:extLst>
              <a:ext uri="{FF2B5EF4-FFF2-40B4-BE49-F238E27FC236}">
                <a16:creationId xmlns:a16="http://schemas.microsoft.com/office/drawing/2014/main" id="{D949B990-4FED-4460-B7E4-A3BE0AE0A36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0,30 | TN 5,9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651,3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TV-title">
            <a:extLst>
              <a:ext uri="{FF2B5EF4-FFF2-40B4-BE49-F238E27FC236}">
                <a16:creationId xmlns:a16="http://schemas.microsoft.com/office/drawing/2014/main" id="{DA1C16E8-127C-4885-9066-9E5A62C6C7F0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TV</a:t>
            </a:r>
          </a:p>
        </p:txBody>
      </p:sp>
      <p:sp>
        <p:nvSpPr>
          <p:cNvPr id="11" name="Sector TV-subtitle">
            <a:extLst>
              <a:ext uri="{FF2B5EF4-FFF2-40B4-BE49-F238E27FC236}">
                <a16:creationId xmlns:a16="http://schemas.microsoft.com/office/drawing/2014/main" id="{F42467D5-6CB0-408E-87E9-6C86E862CA9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8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38C80B6-1A13-49FC-8E25-AD8133C0D9B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740E6EE-DA98-45E8-8498-A70804BC225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89C1A41-785A-4EFE-BC29-E1A0028AADCD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VA-title">
            <a:extLst>
              <a:ext uri="{FF2B5EF4-FFF2-40B4-BE49-F238E27FC236}">
                <a16:creationId xmlns:a16="http://schemas.microsoft.com/office/drawing/2014/main" id="{F3A03FE0-30D4-4289-9002-E71F699C11F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VA</a:t>
            </a:r>
          </a:p>
        </p:txBody>
      </p:sp>
      <p:sp>
        <p:nvSpPr>
          <p:cNvPr id="5" name="Sector VA-subtitle">
            <a:extLst>
              <a:ext uri="{FF2B5EF4-FFF2-40B4-BE49-F238E27FC236}">
                <a16:creationId xmlns:a16="http://schemas.microsoft.com/office/drawing/2014/main" id="{EF5DB911-239C-45A6-A7F9-A608EA2EFF31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VN-title">
            <a:extLst>
              <a:ext uri="{FF2B5EF4-FFF2-40B4-BE49-F238E27FC236}">
                <a16:creationId xmlns:a16="http://schemas.microsoft.com/office/drawing/2014/main" id="{DE4B6F16-CFD8-4BB8-B19A-C017BE528A32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VN</a:t>
            </a:r>
          </a:p>
        </p:txBody>
      </p:sp>
      <p:sp>
        <p:nvSpPr>
          <p:cNvPr id="8" name="Sector VN-subtitle">
            <a:extLst>
              <a:ext uri="{FF2B5EF4-FFF2-40B4-BE49-F238E27FC236}">
                <a16:creationId xmlns:a16="http://schemas.microsoft.com/office/drawing/2014/main" id="{386D46C2-11D4-44B1-BFC1-35210CE2F31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0,91 | sin TN histórico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VT-title">
            <a:extLst>
              <a:ext uri="{FF2B5EF4-FFF2-40B4-BE49-F238E27FC236}">
                <a16:creationId xmlns:a16="http://schemas.microsoft.com/office/drawing/2014/main" id="{C0781677-3F63-48EC-94D1-FD2F32C78B3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VT</a:t>
            </a:r>
          </a:p>
        </p:txBody>
      </p:sp>
      <p:sp>
        <p:nvSpPr>
          <p:cNvPr id="11" name="Sector VT-subtitle">
            <a:extLst>
              <a:ext uri="{FF2B5EF4-FFF2-40B4-BE49-F238E27FC236}">
                <a16:creationId xmlns:a16="http://schemas.microsoft.com/office/drawing/2014/main" id="{48115520-80A0-4C3A-9843-D20EDF99E3F2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1,38 | TN 27,3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95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987D609F-E35F-4E63-91FB-ED75B3D8EB0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41B134-44B4-4883-A8ED-2D6DCCA5776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22.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C257750-EDAE-43F4-9E55-D44B9ED0EE16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B-title">
            <a:extLst>
              <a:ext uri="{FF2B5EF4-FFF2-40B4-BE49-F238E27FC236}">
                <a16:creationId xmlns:a16="http://schemas.microsoft.com/office/drawing/2014/main" id="{E9FF71D7-8D0F-4F14-BB0A-0A13F93E439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FB</a:t>
            </a:r>
          </a:p>
        </p:txBody>
      </p:sp>
      <p:sp>
        <p:nvSpPr>
          <p:cNvPr id="5" name="Sector FB-subtitle">
            <a:extLst>
              <a:ext uri="{FF2B5EF4-FFF2-40B4-BE49-F238E27FC236}">
                <a16:creationId xmlns:a16="http://schemas.microsoft.com/office/drawing/2014/main" id="{BF73C442-A2E5-4127-9A49-D7B05696588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15,9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BA-title">
            <a:extLst>
              <a:ext uri="{FF2B5EF4-FFF2-40B4-BE49-F238E27FC236}">
                <a16:creationId xmlns:a16="http://schemas.microsoft.com/office/drawing/2014/main" id="{A9B2D845-B012-4376-9A47-8629CE17A3F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BA</a:t>
            </a:r>
          </a:p>
        </p:txBody>
      </p:sp>
      <p:sp>
        <p:nvSpPr>
          <p:cNvPr id="8" name="Sector BA-subtitle">
            <a:extLst>
              <a:ext uri="{FF2B5EF4-FFF2-40B4-BE49-F238E27FC236}">
                <a16:creationId xmlns:a16="http://schemas.microsoft.com/office/drawing/2014/main" id="{E7D27D8A-4FA4-42DF-9215-AF798F02275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F1-title">
            <a:extLst>
              <a:ext uri="{FF2B5EF4-FFF2-40B4-BE49-F238E27FC236}">
                <a16:creationId xmlns:a16="http://schemas.microsoft.com/office/drawing/2014/main" id="{6627634A-3BA3-4B31-A2D8-4AC5ACA8F965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F1</a:t>
            </a:r>
          </a:p>
        </p:txBody>
      </p:sp>
      <p:sp>
        <p:nvSpPr>
          <p:cNvPr id="11" name="Sector F1-subtitle">
            <a:extLst>
              <a:ext uri="{FF2B5EF4-FFF2-40B4-BE49-F238E27FC236}">
                <a16:creationId xmlns:a16="http://schemas.microsoft.com/office/drawing/2014/main" id="{B4156CF5-AEA6-45A5-8CE9-D04BFAC35554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19,6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123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1C0EDF05-9676-4F1E-8410-6B2739A4785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831EF43-F17F-4E53-ABDE-3274C03DA9F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23.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5E309B6-8254-4526-AEF7-ED4B6FAAFD23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2-title">
            <a:extLst>
              <a:ext uri="{FF2B5EF4-FFF2-40B4-BE49-F238E27FC236}">
                <a16:creationId xmlns:a16="http://schemas.microsoft.com/office/drawing/2014/main" id="{AEFD371C-FBA4-45F1-90A7-42FB15885AA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F2</a:t>
            </a:r>
          </a:p>
        </p:txBody>
      </p:sp>
      <p:sp>
        <p:nvSpPr>
          <p:cNvPr id="5" name="Sector F2-subtitle">
            <a:extLst>
              <a:ext uri="{FF2B5EF4-FFF2-40B4-BE49-F238E27FC236}">
                <a16:creationId xmlns:a16="http://schemas.microsoft.com/office/drawing/2014/main" id="{C898FBB3-2FB3-44CF-ABD4-B06F4CB416B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15,3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FC-title">
            <a:extLst>
              <a:ext uri="{FF2B5EF4-FFF2-40B4-BE49-F238E27FC236}">
                <a16:creationId xmlns:a16="http://schemas.microsoft.com/office/drawing/2014/main" id="{5548EE64-C6C2-4F16-8525-27048732317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FC</a:t>
            </a:r>
          </a:p>
        </p:txBody>
      </p:sp>
      <p:sp>
        <p:nvSpPr>
          <p:cNvPr id="8" name="Sector FC-subtitle">
            <a:extLst>
              <a:ext uri="{FF2B5EF4-FFF2-40B4-BE49-F238E27FC236}">
                <a16:creationId xmlns:a16="http://schemas.microsoft.com/office/drawing/2014/main" id="{F622A86B-4883-4FB2-A2FB-F199819A30EF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19,3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VE-title">
            <a:extLst>
              <a:ext uri="{FF2B5EF4-FFF2-40B4-BE49-F238E27FC236}">
                <a16:creationId xmlns:a16="http://schemas.microsoft.com/office/drawing/2014/main" id="{D0C05AE2-B323-451E-B9B2-EB3645E5070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VE</a:t>
            </a:r>
          </a:p>
        </p:txBody>
      </p:sp>
      <p:sp>
        <p:nvSpPr>
          <p:cNvPr id="11" name="Sector VE-subtitle">
            <a:extLst>
              <a:ext uri="{FF2B5EF4-FFF2-40B4-BE49-F238E27FC236}">
                <a16:creationId xmlns:a16="http://schemas.microsoft.com/office/drawing/2014/main" id="{5564AB5F-9C2E-4F28-8D8D-F9BB28B4118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357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B15420F4-7A53-4590-9BFE-E113BC4DB78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3672E22-94B5-41F7-958D-FBC0C553C2C2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24.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00F5A04-299D-4169-9F17-AB8034A0A8CD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CF-title">
            <a:extLst>
              <a:ext uri="{FF2B5EF4-FFF2-40B4-BE49-F238E27FC236}">
                <a16:creationId xmlns:a16="http://schemas.microsoft.com/office/drawing/2014/main" id="{F99FC139-5208-4E85-8746-D38683360B3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CF</a:t>
            </a:r>
          </a:p>
        </p:txBody>
      </p:sp>
      <p:sp>
        <p:nvSpPr>
          <p:cNvPr id="5" name="Sector CF-subtitle">
            <a:extLst>
              <a:ext uri="{FF2B5EF4-FFF2-40B4-BE49-F238E27FC236}">
                <a16:creationId xmlns:a16="http://schemas.microsoft.com/office/drawing/2014/main" id="{9E6C3288-1F51-42BD-AAE0-C7BFE1FF823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26,9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CO-title">
            <a:extLst>
              <a:ext uri="{FF2B5EF4-FFF2-40B4-BE49-F238E27FC236}">
                <a16:creationId xmlns:a16="http://schemas.microsoft.com/office/drawing/2014/main" id="{4BDAC4D5-EB76-42AA-853C-9688BD7095A1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CO</a:t>
            </a:r>
          </a:p>
        </p:txBody>
      </p:sp>
      <p:sp>
        <p:nvSpPr>
          <p:cNvPr id="8" name="Sector CO-subtitle">
            <a:extLst>
              <a:ext uri="{FF2B5EF4-FFF2-40B4-BE49-F238E27FC236}">
                <a16:creationId xmlns:a16="http://schemas.microsoft.com/office/drawing/2014/main" id="{43FC5810-1791-4E28-9A19-D2B4C615422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18,7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F4-title">
            <a:extLst>
              <a:ext uri="{FF2B5EF4-FFF2-40B4-BE49-F238E27FC236}">
                <a16:creationId xmlns:a16="http://schemas.microsoft.com/office/drawing/2014/main" id="{A6E40EF3-E7CC-43A3-B6BD-65215ADB82A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F4</a:t>
            </a:r>
          </a:p>
        </p:txBody>
      </p:sp>
      <p:sp>
        <p:nvSpPr>
          <p:cNvPr id="11" name="Sector F4-subtitle">
            <a:extLst>
              <a:ext uri="{FF2B5EF4-FFF2-40B4-BE49-F238E27FC236}">
                <a16:creationId xmlns:a16="http://schemas.microsoft.com/office/drawing/2014/main" id="{A7C3DA28-2FF0-426D-BE5D-4FE360B0AAE5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14,1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107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A0D628C0-231E-4CDB-B131-BCFCEA49DAA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09290CB-3272-4F60-A32C-4567AFC9121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A3B7D2A-6610-46A0-8BAF-3E647676120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Q-title">
            <a:extLst>
              <a:ext uri="{FF2B5EF4-FFF2-40B4-BE49-F238E27FC236}">
                <a16:creationId xmlns:a16="http://schemas.microsoft.com/office/drawing/2014/main" id="{28D28D9B-D676-4B2F-8E6E-C3F561F95C7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FQ</a:t>
            </a:r>
          </a:p>
        </p:txBody>
      </p:sp>
      <p:sp>
        <p:nvSpPr>
          <p:cNvPr id="5" name="Sector FQ-subtitle">
            <a:extLst>
              <a:ext uri="{FF2B5EF4-FFF2-40B4-BE49-F238E27FC236}">
                <a16:creationId xmlns:a16="http://schemas.microsoft.com/office/drawing/2014/main" id="{8150A556-B86C-4E26-B841-96E2B8E2EEA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19,2 seg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HE-title">
            <a:extLst>
              <a:ext uri="{FF2B5EF4-FFF2-40B4-BE49-F238E27FC236}">
                <a16:creationId xmlns:a16="http://schemas.microsoft.com/office/drawing/2014/main" id="{2FF3EC2D-78AD-42E6-8F2D-F3B18A04388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HE</a:t>
            </a:r>
          </a:p>
        </p:txBody>
      </p:sp>
      <p:sp>
        <p:nvSpPr>
          <p:cNvPr id="8" name="Sector HE-subtitle">
            <a:extLst>
              <a:ext uri="{FF2B5EF4-FFF2-40B4-BE49-F238E27FC236}">
                <a16:creationId xmlns:a16="http://schemas.microsoft.com/office/drawing/2014/main" id="{EF1F1164-85BA-4E95-9851-AFDD73F4553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10,6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HU-title">
            <a:extLst>
              <a:ext uri="{FF2B5EF4-FFF2-40B4-BE49-F238E27FC236}">
                <a16:creationId xmlns:a16="http://schemas.microsoft.com/office/drawing/2014/main" id="{8D8A0EEE-623C-4CB6-A70A-B0DEA443B9B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HU</a:t>
            </a:r>
          </a:p>
        </p:txBody>
      </p:sp>
      <p:sp>
        <p:nvSpPr>
          <p:cNvPr id="11" name="Sector HU-subtitle">
            <a:extLst>
              <a:ext uri="{FF2B5EF4-FFF2-40B4-BE49-F238E27FC236}">
                <a16:creationId xmlns:a16="http://schemas.microsoft.com/office/drawing/2014/main" id="{2156E3D4-C490-4D5A-BBDF-A9FFA1BC8B6B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17,3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058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18B937A-69AE-4E13-BE7C-F0D1DCBF54B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0CB60C2-D903-4AB7-9FF2-8F74A66C223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20B050B-C8DF-4F02-A163-6763D76AB3E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KR-title">
            <a:extLst>
              <a:ext uri="{FF2B5EF4-FFF2-40B4-BE49-F238E27FC236}">
                <a16:creationId xmlns:a16="http://schemas.microsoft.com/office/drawing/2014/main" id="{6E5EC58B-1B58-4DB2-98F2-754C7C2B4CC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KR</a:t>
            </a:r>
          </a:p>
        </p:txBody>
      </p:sp>
      <p:sp>
        <p:nvSpPr>
          <p:cNvPr id="5" name="Sector KR-subtitle">
            <a:extLst>
              <a:ext uri="{FF2B5EF4-FFF2-40B4-BE49-F238E27FC236}">
                <a16:creationId xmlns:a16="http://schemas.microsoft.com/office/drawing/2014/main" id="{42C17A8E-AC63-4780-ABAF-7D7084FE8E79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sin TN histórico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MO-title">
            <a:extLst>
              <a:ext uri="{FF2B5EF4-FFF2-40B4-BE49-F238E27FC236}">
                <a16:creationId xmlns:a16="http://schemas.microsoft.com/office/drawing/2014/main" id="{1A24D8EF-DB6A-4741-B313-FE24D367C49A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MO</a:t>
            </a:r>
          </a:p>
        </p:txBody>
      </p:sp>
      <p:sp>
        <p:nvSpPr>
          <p:cNvPr id="8" name="Sector MO-subtitle">
            <a:extLst>
              <a:ext uri="{FF2B5EF4-FFF2-40B4-BE49-F238E27FC236}">
                <a16:creationId xmlns:a16="http://schemas.microsoft.com/office/drawing/2014/main" id="{6CDAD003-ACEC-4EC2-9E6A-2C180478370B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0,4 seg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428625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P4-title">
            <a:extLst>
              <a:ext uri="{FF2B5EF4-FFF2-40B4-BE49-F238E27FC236}">
                <a16:creationId xmlns:a16="http://schemas.microsoft.com/office/drawing/2014/main" id="{53881786-8DA4-4734-B5DA-170B21508F9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P4</a:t>
            </a:r>
          </a:p>
        </p:txBody>
      </p:sp>
      <p:sp>
        <p:nvSpPr>
          <p:cNvPr id="11" name="Sector P4-subtitle">
            <a:extLst>
              <a:ext uri="{FF2B5EF4-FFF2-40B4-BE49-F238E27FC236}">
                <a16:creationId xmlns:a16="http://schemas.microsoft.com/office/drawing/2014/main" id="{EFA2D00B-124A-44AF-9AEE-EB148A4B8216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25,0 seg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79629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26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">
            <a:extLst>
              <a:ext uri="{FF2B5EF4-FFF2-40B4-BE49-F238E27FC236}">
                <a16:creationId xmlns:a16="http://schemas.microsoft.com/office/drawing/2014/main" id="{D24BA67B-8A81-43DF-A8C4-661081DBFA8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B732A17-54A7-4ACA-93DD-BCB6C7D6C41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27.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5209D20-A68F-4AC8-B781-6FB91CDAF81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A-title">
            <a:extLst>
              <a:ext uri="{FF2B5EF4-FFF2-40B4-BE49-F238E27FC236}">
                <a16:creationId xmlns:a16="http://schemas.microsoft.com/office/drawing/2014/main" id="{27395C0E-E18F-403C-BF44-A1750483B2C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PA</a:t>
            </a:r>
          </a:p>
        </p:txBody>
      </p:sp>
      <p:sp>
        <p:nvSpPr>
          <p:cNvPr id="5" name="Sector PA-subtitle">
            <a:extLst>
              <a:ext uri="{FF2B5EF4-FFF2-40B4-BE49-F238E27FC236}">
                <a16:creationId xmlns:a16="http://schemas.microsoft.com/office/drawing/2014/main" id="{F650E46D-FD98-44FB-84DA-26989595485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13,4 seg</a:t>
            </a:r>
          </a:p>
        </p:txBody>
      </p:sp>
      <p:graphicFrame>
        <p:nvGraphicFramePr>
          <p:cNvPr id="12" name="Tabla 11"/>
          <p:cNvGraphicFramePr/>
          <p:nvPr/>
        </p:nvGraphicFramePr>
        <p:xfrm>
          <a:off x="609600" y="1676400"/>
          <a:ext cx="3295650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37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B5B5C3B9-6E81-47AF-B07D-5EACC1690F6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FCF0A71-1D5F-4150-A838-01ECA8473B2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28. Consolidación — tabla única inicial propuesta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9B0D8BE-42E3-48CF-AD99-BAD39CAC512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ogic">
            <a:extLst>
              <a:ext uri="{FF2B5EF4-FFF2-40B4-BE49-F238E27FC236}">
                <a16:creationId xmlns:a16="http://schemas.microsoft.com/office/drawing/2014/main" id="{D19AA91F-9144-46C8-ABAC-DD2DFC34A52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4953000" cy="3714750"/>
          </a:xfrm>
          <a:prstGeom prst="roundRect">
            <a:avLst>
              <a:gd name="adj" fmla="val 2051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5" name="logic-title">
            <a:extLst>
              <a:ext uri="{FF2B5EF4-FFF2-40B4-BE49-F238E27FC236}">
                <a16:creationId xmlns:a16="http://schemas.microsoft.com/office/drawing/2014/main" id="{C535983A-3C0E-4D67-BE77-513A44EBD089}"/>
              </a:ext>
            </a:extLst>
          </p:cNvPr>
          <p:cNvSpPr>
            <a:spLocks noGrp="1"/>
          </p:cNvSpPr>
          <p:nvPr/>
        </p:nvSpPr>
        <p:spPr>
          <a:xfrm>
            <a:off x="876300" y="15430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Criterio propuesto</a:t>
            </a:r>
          </a:p>
        </p:txBody>
      </p:sp>
      <p:sp>
        <p:nvSpPr>
          <p:cNvPr id="6" name="logic-body">
            <a:extLst>
              <a:ext uri="{FF2B5EF4-FFF2-40B4-BE49-F238E27FC236}">
                <a16:creationId xmlns:a16="http://schemas.microsoft.com/office/drawing/2014/main" id="{74AEB93A-9A0E-432D-AF12-D4FDDE6643AB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4191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Unidad: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bultos transferidos entre contenedores/hora.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Tabla: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única inicial basada en AL.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Factor de velocidad: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1,50 sobre Picking AL.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Uso: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propuesta inicial a validar con Operación.</a:t>
            </a:r>
          </a:p>
        </p:txBody>
      </p:sp>
      <p:sp>
        <p:nvSpPr>
          <p:cNvPr id="7" name="Consolidación-title">
            <a:extLst>
              <a:ext uri="{FF2B5EF4-FFF2-40B4-BE49-F238E27FC236}">
                <a16:creationId xmlns:a16="http://schemas.microsoft.com/office/drawing/2014/main" id="{83E1CDCC-B98B-4D55-80DF-9D064C1B2F9F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Consolidación</a:t>
            </a:r>
          </a:p>
        </p:txBody>
      </p:sp>
      <p:sp>
        <p:nvSpPr>
          <p:cNvPr id="8" name="Consolidación-subtitle">
            <a:extLst>
              <a:ext uri="{FF2B5EF4-FFF2-40B4-BE49-F238E27FC236}">
                <a16:creationId xmlns:a16="http://schemas.microsoft.com/office/drawing/2014/main" id="{96C197E2-E7B1-4148-8A18-2EBD395B8563}"/>
              </a:ext>
            </a:extLst>
          </p:cNvPr>
          <p:cNvSpPr>
            <a:spLocks noGrp="1"/>
          </p:cNvSpPr>
          <p:nvPr/>
        </p:nvSpPr>
        <p:spPr>
          <a:xfrm>
            <a:off x="6286500" y="1552575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AL | Factor velocidad 1,50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286500" y="1790700"/>
          <a:ext cx="4286250" cy="3429000"/>
        </p:xfrm>
        <a:graphic>
          <a:graphicData uri="http://schemas.openxmlformats.org/drawingml/2006/table">
            <a:tbl>
              <a:tblPr firstRow="1" bandRow="1"/>
              <a:tblGrid>
                <a:gridCol w="80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230,6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230,7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258,5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292,8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293,1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327,5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327,8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362,1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362,3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419,7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420,0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519,0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519,3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490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">
            <a:extLst>
              <a:ext uri="{FF2B5EF4-FFF2-40B4-BE49-F238E27FC236}">
                <a16:creationId xmlns:a16="http://schemas.microsoft.com/office/drawing/2014/main" id="{C0F4722E-64DE-4B94-85D1-218B395EBF5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B6E49FB-1758-45CD-A22D-77E33C4EB82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29. Tablas de escalas y premios — operaciones no Picking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DF1994B2-019C-4A16-AF7F-2E2B389F230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arga — Secos/No Alimentarios-title">
            <a:extLst>
              <a:ext uri="{FF2B5EF4-FFF2-40B4-BE49-F238E27FC236}">
                <a16:creationId xmlns:a16="http://schemas.microsoft.com/office/drawing/2014/main" id="{E7638DF6-8BE6-4482-9C50-67D55D44FDA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Carga — Secos/No Alimentarios</a:t>
            </a:r>
          </a:p>
        </p:txBody>
      </p:sp>
      <p:graphicFrame>
        <p:nvGraphicFramePr>
          <p:cNvPr id="21" name="Tabla 20"/>
          <p:cNvGraphicFramePr/>
          <p:nvPr/>
        </p:nvGraphicFramePr>
        <p:xfrm>
          <a:off x="609600" y="1485900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$1.413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$3.278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$4.424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$7.009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$11.068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arreteo — General-title">
            <a:extLst>
              <a:ext uri="{FF2B5EF4-FFF2-40B4-BE49-F238E27FC236}">
                <a16:creationId xmlns:a16="http://schemas.microsoft.com/office/drawing/2014/main" id="{5BC617F5-88D6-462A-96B5-606F99017636}"/>
              </a:ext>
            </a:extLst>
          </p:cNvPr>
          <p:cNvSpPr>
            <a:spLocks noGrp="1"/>
          </p:cNvSpPr>
          <p:nvPr/>
        </p:nvSpPr>
        <p:spPr>
          <a:xfrm>
            <a:off x="443865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Carreteo — General</a:t>
            </a:r>
          </a:p>
        </p:txBody>
      </p:sp>
      <p:graphicFrame>
        <p:nvGraphicFramePr>
          <p:cNvPr id="23" name="Tabla 22"/>
          <p:cNvGraphicFramePr/>
          <p:nvPr/>
        </p:nvGraphicFramePr>
        <p:xfrm>
          <a:off x="4438650" y="1485900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$1.021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$2.368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$5.062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$7.942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lark — Secos + NOA-title">
            <a:extLst>
              <a:ext uri="{FF2B5EF4-FFF2-40B4-BE49-F238E27FC236}">
                <a16:creationId xmlns:a16="http://schemas.microsoft.com/office/drawing/2014/main" id="{0CC080BE-7627-4A26-A96B-6E90AB7F7053}"/>
              </a:ext>
            </a:extLst>
          </p:cNvPr>
          <p:cNvSpPr>
            <a:spLocks noGrp="1"/>
          </p:cNvSpPr>
          <p:nvPr/>
        </p:nvSpPr>
        <p:spPr>
          <a:xfrm>
            <a:off x="826770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Clark — Secos + NOA</a:t>
            </a:r>
          </a:p>
        </p:txBody>
      </p:sp>
      <p:graphicFrame>
        <p:nvGraphicFramePr>
          <p:cNvPr id="25" name="Tabla 24"/>
          <p:cNvGraphicFramePr/>
          <p:nvPr/>
        </p:nvGraphicFramePr>
        <p:xfrm>
          <a:off x="8267700" y="1485900"/>
          <a:ext cx="3257550" cy="1485897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14,8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$813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$2.409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$5.964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Control CHP + CBF — Secos + NOA-title">
            <a:extLst>
              <a:ext uri="{FF2B5EF4-FFF2-40B4-BE49-F238E27FC236}">
                <a16:creationId xmlns:a16="http://schemas.microsoft.com/office/drawing/2014/main" id="{2D4C6041-AFCE-41AE-BAAF-10BEC4BD50D0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CHP + CBF — Secos + NOA</a:t>
            </a:r>
          </a:p>
        </p:txBody>
      </p:sp>
      <p:graphicFrame>
        <p:nvGraphicFramePr>
          <p:cNvPr id="27" name="Tabla 26"/>
          <p:cNvGraphicFramePr/>
          <p:nvPr/>
        </p:nvGraphicFramePr>
        <p:xfrm>
          <a:off x="609600" y="3857625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176,8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176,9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212,0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$1.131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254,6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$2.701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$6.317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epción NOA-title">
            <a:extLst>
              <a:ext uri="{FF2B5EF4-FFF2-40B4-BE49-F238E27FC236}">
                <a16:creationId xmlns:a16="http://schemas.microsoft.com/office/drawing/2014/main" id="{0658FF79-58F7-44DA-8BBC-721F1935A3D8}"/>
              </a:ext>
            </a:extLst>
          </p:cNvPr>
          <p:cNvSpPr>
            <a:spLocks noGrp="1"/>
          </p:cNvSpPr>
          <p:nvPr/>
        </p:nvSpPr>
        <p:spPr>
          <a:xfrm>
            <a:off x="443865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NOA</a:t>
            </a:r>
          </a:p>
        </p:txBody>
      </p:sp>
      <p:graphicFrame>
        <p:nvGraphicFramePr>
          <p:cNvPr id="29" name="Tabla 28"/>
          <p:cNvGraphicFramePr/>
          <p:nvPr/>
        </p:nvGraphicFramePr>
        <p:xfrm>
          <a:off x="4438650" y="3857625"/>
          <a:ext cx="3257550" cy="1352550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epción Secos-title">
            <a:extLst>
              <a:ext uri="{FF2B5EF4-FFF2-40B4-BE49-F238E27FC236}">
                <a16:creationId xmlns:a16="http://schemas.microsoft.com/office/drawing/2014/main" id="{EC9D8257-076F-47AA-B4D6-058CA402CFFB}"/>
              </a:ext>
            </a:extLst>
          </p:cNvPr>
          <p:cNvSpPr>
            <a:spLocks noGrp="1"/>
          </p:cNvSpPr>
          <p:nvPr/>
        </p:nvSpPr>
        <p:spPr>
          <a:xfrm>
            <a:off x="826770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Secos</a:t>
            </a:r>
          </a:p>
        </p:txBody>
      </p:sp>
      <p:graphicFrame>
        <p:nvGraphicFramePr>
          <p:cNvPr id="31" name="Tabla 30"/>
          <p:cNvGraphicFramePr/>
          <p:nvPr/>
        </p:nvGraphicFramePr>
        <p:xfrm>
          <a:off x="8267700" y="3857625"/>
          <a:ext cx="3257550" cy="1352550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flat-note">
            <a:extLst>
              <a:ext uri="{FF2B5EF4-FFF2-40B4-BE49-F238E27FC236}">
                <a16:creationId xmlns:a16="http://schemas.microsoft.com/office/drawing/2014/main" id="{CF30CB20-7D07-45B3-B9AC-E9D65F428F9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Escalas planas vigentes: Carga Refrigerados/Cámaras $453/h; Control Manual $544/h.</a:t>
            </a:r>
          </a:p>
        </p:txBody>
      </p:sp>
    </p:spTree>
    <p:extLst>
      <p:ext uri="{BB962C8B-B14F-4D97-AF65-F5344CB8AC3E}">
        <p14:creationId xmlns:p14="http://schemas.microsoft.com/office/powerpoint/2010/main" val="2114441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C823C382-873F-4D7B-B395-52645D1429A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43AD96-955B-4DFD-A8E2-38708AD3666C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30. Funciones medibles y no medibles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1E1E5A1-5378-456C-9B75-F8C969C9649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8D68A60C-5C6F-44FB-AFEC-1041D3AEB677}"/>
              </a:ext>
            </a:extLst>
          </p:cNvPr>
          <p:cNvSpPr>
            <a:spLocks noGrp="1"/>
          </p:cNvSpPr>
          <p:nvPr/>
        </p:nvSpPr>
        <p:spPr>
          <a:xfrm>
            <a:off x="766233" y="1117601"/>
            <a:ext cx="5207000" cy="5402790"/>
          </a:xfrm>
          <a:prstGeom prst="roundRect">
            <a:avLst>
              <a:gd name="adj" fmla="val 2353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5" name="left-title">
            <a:extLst>
              <a:ext uri="{FF2B5EF4-FFF2-40B4-BE49-F238E27FC236}">
                <a16:creationId xmlns:a16="http://schemas.microsoft.com/office/drawing/2014/main" id="{D1E153DA-E845-4184-A68C-0DB8F0F67369}"/>
              </a:ext>
            </a:extLst>
          </p:cNvPr>
          <p:cNvSpPr>
            <a:spLocks noGrp="1"/>
          </p:cNvSpPr>
          <p:nvPr/>
        </p:nvSpPr>
        <p:spPr>
          <a:xfrm>
            <a:off x="1047750" y="1265768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Funciones medibles</a:t>
            </a:r>
          </a:p>
        </p:txBody>
      </p:sp>
      <p:sp>
        <p:nvSpPr>
          <p:cNvPr id="6" name="left-body">
            <a:extLst>
              <a:ext uri="{FF2B5EF4-FFF2-40B4-BE49-F238E27FC236}">
                <a16:creationId xmlns:a16="http://schemas.microsoft.com/office/drawing/2014/main" id="{34A3D100-BE79-4D8A-848F-7210930A6739}"/>
              </a:ext>
            </a:extLst>
          </p:cNvPr>
          <p:cNvSpPr>
            <a:spLocks noGrp="1"/>
          </p:cNvSpPr>
          <p:nvPr/>
        </p:nvSpPr>
        <p:spPr>
          <a:xfrm>
            <a:off x="1047750" y="1943928"/>
            <a:ext cx="4095750" cy="22470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Tienen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física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observable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hora.</a:t>
            </a:r>
          </a:p>
          <a:p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Ejemplos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Picking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Carga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Carreteo</a:t>
            </a:r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Clark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Control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Recepción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Consolidación</a:t>
            </a:r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ight">
            <a:extLst>
              <a:ext uri="{FF2B5EF4-FFF2-40B4-BE49-F238E27FC236}">
                <a16:creationId xmlns:a16="http://schemas.microsoft.com/office/drawing/2014/main" id="{FD2D51DE-2255-4AC8-8AB9-6C68BCD60628}"/>
              </a:ext>
            </a:extLst>
          </p:cNvPr>
          <p:cNvSpPr>
            <a:spLocks noGrp="1"/>
          </p:cNvSpPr>
          <p:nvPr/>
        </p:nvSpPr>
        <p:spPr>
          <a:xfrm>
            <a:off x="6096000" y="1116542"/>
            <a:ext cx="5334000" cy="540279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ight-title">
            <a:extLst>
              <a:ext uri="{FF2B5EF4-FFF2-40B4-BE49-F238E27FC236}">
                <a16:creationId xmlns:a16="http://schemas.microsoft.com/office/drawing/2014/main" id="{82929826-C49B-45AE-A506-F52DE834F7FC}"/>
              </a:ext>
            </a:extLst>
          </p:cNvPr>
          <p:cNvSpPr>
            <a:spLocks noGrp="1"/>
          </p:cNvSpPr>
          <p:nvPr/>
        </p:nvSpPr>
        <p:spPr>
          <a:xfrm>
            <a:off x="6762750" y="1265768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Funciones</a:t>
            </a:r>
            <a:r>
              <a:rPr sz="18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no </a:t>
            </a:r>
            <a:r>
              <a:rPr sz="18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medibles</a:t>
            </a:r>
            <a:endParaRPr sz="180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ight-body">
            <a:extLst>
              <a:ext uri="{FF2B5EF4-FFF2-40B4-BE49-F238E27FC236}">
                <a16:creationId xmlns:a16="http://schemas.microsoft.com/office/drawing/2014/main" id="{0CE62CB3-26CB-440C-99D7-4B3BBF918921}"/>
              </a:ext>
            </a:extLst>
          </p:cNvPr>
          <p:cNvSpPr>
            <a:spLocks noGrp="1"/>
          </p:cNvSpPr>
          <p:nvPr/>
        </p:nvSpPr>
        <p:spPr>
          <a:xfrm>
            <a:off x="6254750" y="1681695"/>
            <a:ext cx="4997450" cy="4634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tienen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aún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una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unidad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física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directa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validada</a:t>
            </a:r>
            <a:r>
              <a:rPr lang="es-ES" sz="1575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y cobran premio actualmente.</a:t>
            </a:r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Administrativas/soporte: Administrativos CD, Instructor, Hielo Seco, </a:t>
            </a:r>
            <a:r>
              <a:rPr lang="es-ES"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Reachstacker</a:t>
            </a: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Armado de Muebles Grandes.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Devoluciones: Administración, </a:t>
            </a:r>
            <a:r>
              <a:rPr lang="es-ES"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Autoelevador</a:t>
            </a: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Operario, Recepción.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Otras tareas: Administrativo, </a:t>
            </a:r>
            <a:r>
              <a:rPr lang="es-ES"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Autoelevador</a:t>
            </a: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lang="es-ES"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Autoelevador</a:t>
            </a: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Cámara 6, Cámara 6, Clasificación Guía, General, Operario, </a:t>
            </a:r>
            <a:r>
              <a:rPr lang="es-ES"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Toritero</a:t>
            </a: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Recepción/importados: Recepción Importado de NOA, Recepción Importado NOA | Toyota.</a:t>
            </a: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s-ES"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Refrigerados: Administración, Calidad, Carga, Control de Procesos, Operaciones, Procesamiento, Recepción.</a:t>
            </a:r>
            <a:endParaRPr sz="157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547941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5346</Words>
  <Application>Microsoft Office PowerPoint</Application>
  <DocSecurity>0</DocSecurity>
  <PresentationFormat>Panorámica</PresentationFormat>
  <Paragraphs>2592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093 Ingenieria - Cucci Adrian Augusto</cp:lastModifiedBy>
  <cp:revision>8</cp:revision>
  <dcterms:created xsi:type="dcterms:W3CDTF">2026-07-29T12:07:09Z</dcterms:created>
  <dcterms:modified xsi:type="dcterms:W3CDTF">2026-07-29T19:19:39Z</dcterms:modified>
</cp:coreProperties>
</file>