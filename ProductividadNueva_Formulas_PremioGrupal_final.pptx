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D3E3A0F0-4AB9-4929-B281-766C69510A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DB8284-C9F1-4506-8764-CBEB9C1CB7E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Comprensión del Cálculo Individual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0D8C116-707E-4B1F-ACE7-68A4307BC4A4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BF85FC4D-0017-4839-885C-1721B21CD23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1163300" cy="51054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5931D83A-04E1-4E68-B177-DD1D0A9F6EC4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Registrar la actividad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97AC02FF-E141-4A09-AFD6-7FAE5735C658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movimiento del colaborador queda asociado a: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48F8DE4A-508B-4272-992C-E22EFCFBD617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609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Operación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División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Sector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Hora de ejecución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13A20803-5C58-4987-B759-97C16F8D0EFB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Calcular la producción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ACC994F5-8A3F-4781-8F8E-6E6D3AC171CA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producción se mide sobre horas reloj reales.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944C56A7-A82C-4A7C-BB44-DF183794FBC5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609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 durante una hora el colaborador cambia de: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operación   • sector   • o registra un TNC válido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producción se prorratea según los minutos efectivamente trabajados.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FEB93895-4F32-4E77-B246-C426475F9D65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Determinar el premio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4BC0B300-4555-4E85-9085-6724795FB1B3}"/>
              </a:ext>
            </a:extLst>
          </p:cNvPr>
          <p:cNvSpPr>
            <a:spLocks noGrp="1"/>
          </p:cNvSpPr>
          <p:nvPr/>
        </p:nvSpPr>
        <p:spPr>
          <a:xfrm>
            <a:off x="990600" y="4419600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Cada tramo de producción se interpola únicamente contra la tabla de la operación y sector donde fue realizado.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8F3F4D9A-513B-4588-97AB-642FF7D7D155}"/>
              </a:ext>
            </a:extLst>
          </p:cNvPr>
          <p:cNvSpPr>
            <a:spLocks noGrp="1"/>
          </p:cNvSpPr>
          <p:nvPr/>
        </p:nvSpPr>
        <p:spPr>
          <a:xfrm>
            <a:off x="4762500" y="4419600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individual diario resulta de la suma de todos los premios horarios obtenidos durante la jornada.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A18556EC-C5AA-4CFC-9FF3-76EA64B5A717}"/>
              </a:ext>
            </a:extLst>
          </p:cNvPr>
          <p:cNvSpPr>
            <a:spLocks noGrp="1"/>
          </p:cNvSpPr>
          <p:nvPr/>
        </p:nvSpPr>
        <p:spPr>
          <a:xfrm>
            <a:off x="990600" y="55054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Una misma jornada puede contener varios tramos de cálculo, cada uno evaluado con su propia tabla de productividad.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C0D9EC-4638-416F-903E-48595827F570}"/>
              </a:ext>
            </a:extLst>
          </p:cNvPr>
          <p:cNvSpPr>
            <a:spLocks noGrp="1"/>
          </p:cNvSpPr>
          <p:nvPr/>
        </p:nvSpPr>
        <p:spPr>
          <a:xfrm>
            <a:off x="609600" y="960882"/>
            <a:ext cx="1095375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400" i="1"/>
            </a:pPr>
            <a:r>
              <a:t>Antes de calcular el premio, el sistema identifica qué tarea realizó cada colaborador, durante cuánto tiempo y cuál fue su producción efectiva en cada tramo de la jornada.</a:t>
            </a:r>
          </a:p>
        </p:txBody>
      </p:sp>
      <p:sp>
        <p:nvSpPr>
          <p:cNvPr id="18" name="footer-separator">
            <a:extLst>
              <a:ext uri="{FF2B5EF4-FFF2-40B4-BE49-F238E27FC236}">
                <a16:creationId xmlns:a16="http://schemas.microsoft.com/office/drawing/2014/main" id="{8EE8E8E2-0BF8-4CBE-853C-680A6D9D108B}"/>
              </a:ext>
            </a:extLst>
          </p:cNvPr>
          <p:cNvSpPr>
            <a:spLocks noGrp="1"/>
          </p:cNvSpPr>
          <p:nvPr/>
        </p:nvSpPr>
        <p:spPr>
          <a:xfrm>
            <a:off x="990600" y="5353050"/>
            <a:ext cx="9906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322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D3E3A0F0-4AB9-4929-B281-766C69510A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DB8284-C9F1-4506-8764-CBEB9C1CB7E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 del Premio Individual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0D8C116-707E-4B1F-ACE7-68A4307BC4A4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BF85FC4D-0017-4839-885C-1721B21CD23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5931D83A-04E1-4E68-B177-DD1D0A9F6EC4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Producción Horaria (Ph)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97AC02FF-E141-4A09-AFD6-7FAE5735C658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 = Σ Producción − EC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48F8DE4A-508B-4272-992C-E22EFCFBD617}"/>
              </a:ext>
            </a:extLst>
          </p:cNvPr>
          <p:cNvSpPr>
            <a:spLocks noGrp="1"/>
          </p:cNvSpPr>
          <p:nvPr/>
        </p:nvSpPr>
        <p:spPr>
          <a:xfrm>
            <a:off x="4905375" y="19050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mide sobre horas reloj reales. La unidad depende de la operación: UL, bultos, pallets, huecos, etc. Cambios de operación, sector o TNC válido se prorratean por minutos trabajados. Se aplican descuentos por errores de preparación.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13A20803-5C58-4987-B759-97C16F8D0EFB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Premio Horario (Pp)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ACC994F5-8A3F-4781-8F8E-6E6D3AC171CA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Pp = Ph vs Tabla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944C56A7-A82C-4A7C-BB44-DF183794FBC5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Producción Horaria se compara con la tabla de Operación / División / Sector. Si el período es menor a una hora, el premio se calcula proporcionalmente según el tiempo efectivamente trabajado.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FEB93895-4F32-4E77-B246-C426475F9D65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Pago Individual Diario (PID)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4BC0B300-4555-4E85-9085-6724795FB1B3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PID = Σ Pp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8F3F4D9A-513B-4588-97AB-642FF7D7D155}"/>
              </a:ext>
            </a:extLst>
          </p:cNvPr>
          <p:cNvSpPr>
            <a:spLocks noGrp="1"/>
          </p:cNvSpPr>
          <p:nvPr/>
        </p:nvSpPr>
        <p:spPr>
          <a:xfrm>
            <a:off x="4905375" y="4152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Pago Individual Diario es la suma de todos los premios horarios obtenidos durante la jornada.</a:t>
            </a:r>
          </a:p>
        </p:txBody>
      </p:sp>
      <p:sp>
        <p:nvSpPr>
          <p:cNvPr id="14" name="refs-title">
            <a:extLst>
              <a:ext uri="{FF2B5EF4-FFF2-40B4-BE49-F238E27FC236}">
                <a16:creationId xmlns:a16="http://schemas.microsoft.com/office/drawing/2014/main" id="{3AC6FF7E-8BDD-4E83-AA38-D2308AB25A59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A18556EC-C5AA-4CFC-9FF3-76EA64B5A717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Ph → Producción Horaria    UL → Unidad de medida    EC → Errores Computables    Pp → Premio Horario    PID → Pago Individual Diario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C0D9EC-4638-416F-903E-48595827F570}"/>
              </a:ext>
            </a:extLst>
          </p:cNvPr>
          <p:cNvSpPr>
            <a:spLocks noGrp="1"/>
          </p:cNvSpPr>
          <p:nvPr/>
        </p:nvSpPr>
        <p:spPr>
          <a:xfrm>
            <a:off x="609600" y="960847"/>
            <a:ext cx="113284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400" i="1"/>
            </a:pPr>
            <a:r>
              <a:t>El premio individual surge del desempeño horario de cada colaborador, evaluado contra la tabla correspondiente a la operación efectivamente realizada.</a:t>
            </a:r>
          </a:p>
        </p:txBody>
      </p:sp>
    </p:spTree>
    <p:extLst>
      <p:ext uri="{BB962C8B-B14F-4D97-AF65-F5344CB8AC3E}">
        <p14:creationId xmlns:p14="http://schemas.microsoft.com/office/powerpoint/2010/main" val="134322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">
            <a:extLst>
              <a:ext uri="{FF2B5EF4-FFF2-40B4-BE49-F238E27FC236}">
                <a16:creationId xmlns:a16="http://schemas.microsoft.com/office/drawing/2014/main" id="{F8025F1B-A545-4276-8E57-648EB918E7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039F9A-22E6-40F3-8BBD-8A6FA0A8F12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Alternativas para el Premio Grupal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BAB0419-E40A-4EED-8569-572C0BF54FA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D198202B-9AD4-4B93-9014-310C3EB9071D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card-title-0">
            <a:extLst>
              <a:ext uri="{FF2B5EF4-FFF2-40B4-BE49-F238E27FC236}">
                <a16:creationId xmlns:a16="http://schemas.microsoft.com/office/drawing/2014/main" id="{FD4B8C9C-3B3D-410F-8220-506417562357}"/>
              </a:ext>
            </a:extLst>
          </p:cNvPr>
          <p:cNvSpPr>
            <a:spLocks noGrp="1"/>
          </p:cNvSpPr>
          <p:nvPr/>
        </p:nvSpPr>
        <p:spPr>
          <a:xfrm>
            <a:off x="990600" y="1762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Producción</a:t>
            </a:r>
          </a:p>
        </p:txBody>
      </p:sp>
      <p:sp>
        <p:nvSpPr>
          <p:cNvPr id="6" name="card-body-0">
            <a:extLst>
              <a:ext uri="{FF2B5EF4-FFF2-40B4-BE49-F238E27FC236}">
                <a16:creationId xmlns:a16="http://schemas.microsoft.com/office/drawing/2014/main" id="{FC9C7385-759A-4418-BFB4-7E32D96B5409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participación productiva del colaborador.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paga si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turno alcanza el mínimo requerido.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reparte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 la participación en la producción del grupo.</a:t>
            </a:r>
          </a:p>
        </p:txBody>
      </p:sp>
      <p:sp>
        <p:nvSpPr>
          <p:cNvPr id="7" name="card-label-0">
            <a:extLst>
              <a:ext uri="{FF2B5EF4-FFF2-40B4-BE49-F238E27FC236}">
                <a16:creationId xmlns:a16="http://schemas.microsoft.com/office/drawing/2014/main" id="{B1AEED4E-311A-4C31-B71D-EBEBCB580102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A</a:t>
            </a:r>
          </a:p>
        </p:txBody>
      </p:sp>
      <p:sp>
        <p:nvSpPr>
          <p:cNvPr id="8" name="content-panel">
            <a:extLst>
              <a:ext uri="{FF2B5EF4-FFF2-40B4-BE49-F238E27FC236}">
                <a16:creationId xmlns:a16="http://schemas.microsoft.com/office/drawing/2014/main" id="{18643A6B-5EF7-4DD0-8F6C-CEDD06CDF69C}"/>
              </a:ext>
            </a:extLst>
          </p:cNvPr>
          <p:cNvSpPr>
            <a:spLocks noGrp="1"/>
          </p:cNvSpPr>
          <p:nvPr/>
        </p:nvSpPr>
        <p:spPr>
          <a:xfrm>
            <a:off x="4429125" y="15240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card-title-1">
            <a:extLst>
              <a:ext uri="{FF2B5EF4-FFF2-40B4-BE49-F238E27FC236}">
                <a16:creationId xmlns:a16="http://schemas.microsoft.com/office/drawing/2014/main" id="{64AEF3F3-AB86-4604-916E-E3113ECF6CDB}"/>
              </a:ext>
            </a:extLst>
          </p:cNvPr>
          <p:cNvSpPr>
            <a:spLocks noGrp="1"/>
          </p:cNvSpPr>
          <p:nvPr/>
        </p:nvSpPr>
        <p:spPr>
          <a:xfrm>
            <a:off x="4657725" y="1762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Cumplimiento</a:t>
            </a:r>
          </a:p>
        </p:txBody>
      </p:sp>
      <p:sp>
        <p:nvSpPr>
          <p:cNvPr id="10" name="card-body-1">
            <a:extLst>
              <a:ext uri="{FF2B5EF4-FFF2-40B4-BE49-F238E27FC236}">
                <a16:creationId xmlns:a16="http://schemas.microsoft.com/office/drawing/2014/main" id="{2E3913B7-C088-4679-B06A-834BC670264E}"/>
              </a:ext>
            </a:extLst>
          </p:cNvPr>
          <p:cNvSpPr>
            <a:spLocks noGrp="1"/>
          </p:cNvSpPr>
          <p:nvPr/>
        </p:nvSpPr>
        <p:spPr>
          <a:xfrm>
            <a:off x="4657725" y="21907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Cuántos colaboradores generan Premio Individual.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paga si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alcanza el porcentaje requerido.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reparte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 las horas trabajadas.</a:t>
            </a:r>
          </a:p>
        </p:txBody>
      </p:sp>
      <p:sp>
        <p:nvSpPr>
          <p:cNvPr id="11" name="card-label-1">
            <a:extLst>
              <a:ext uri="{FF2B5EF4-FFF2-40B4-BE49-F238E27FC236}">
                <a16:creationId xmlns:a16="http://schemas.microsoft.com/office/drawing/2014/main" id="{B7DF2154-1B70-4115-8097-AE79293E828D}"/>
              </a:ext>
            </a:extLst>
          </p:cNvPr>
          <p:cNvSpPr>
            <a:spLocks noGrp="1"/>
          </p:cNvSpPr>
          <p:nvPr/>
        </p:nvSpPr>
        <p:spPr>
          <a:xfrm>
            <a:off x="4657725" y="41910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B</a:t>
            </a:r>
          </a:p>
        </p:txBody>
      </p:sp>
      <p:sp>
        <p:nvSpPr>
          <p:cNvPr id="12" name="content-panel">
            <a:extLst>
              <a:ext uri="{FF2B5EF4-FFF2-40B4-BE49-F238E27FC236}">
                <a16:creationId xmlns:a16="http://schemas.microsoft.com/office/drawing/2014/main" id="{04C15002-5FE4-4FF7-ABD7-E654028C740E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card-title-2">
            <a:extLst>
              <a:ext uri="{FF2B5EF4-FFF2-40B4-BE49-F238E27FC236}">
                <a16:creationId xmlns:a16="http://schemas.microsoft.com/office/drawing/2014/main" id="{FA436AE0-B7C2-4F11-98B9-6E7DC324D070}"/>
              </a:ext>
            </a:extLst>
          </p:cNvPr>
          <p:cNvSpPr>
            <a:spLocks noGrp="1"/>
          </p:cNvSpPr>
          <p:nvPr/>
        </p:nvSpPr>
        <p:spPr>
          <a:xfrm>
            <a:off x="8324850" y="1762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Planificación</a:t>
            </a:r>
          </a:p>
        </p:txBody>
      </p:sp>
      <p:sp>
        <p:nvSpPr>
          <p:cNvPr id="14" name="card-body-2">
            <a:extLst>
              <a:ext uri="{FF2B5EF4-FFF2-40B4-BE49-F238E27FC236}">
                <a16:creationId xmlns:a16="http://schemas.microsoft.com/office/drawing/2014/main" id="{2D274743-90D5-4C01-A641-AD2C7EBF2CF3}"/>
              </a:ext>
            </a:extLst>
          </p:cNvPr>
          <p:cNvSpPr>
            <a:spLocks noGrp="1"/>
          </p:cNvSpPr>
          <p:nvPr/>
        </p:nvSpPr>
        <p:spPr>
          <a:xfrm>
            <a:off x="8324850" y="21907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cumplimiento del plan del turno.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paga si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flujo aplicable cumple la planificación esperada.</a:t>
            </a:r>
          </a:p>
          <a:p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reparte</a:t>
            </a:r>
          </a:p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 las horas trabajadas.</a:t>
            </a:r>
          </a:p>
        </p:txBody>
      </p:sp>
      <p:sp>
        <p:nvSpPr>
          <p:cNvPr id="15" name="card-label-2">
            <a:extLst>
              <a:ext uri="{FF2B5EF4-FFF2-40B4-BE49-F238E27FC236}">
                <a16:creationId xmlns:a16="http://schemas.microsoft.com/office/drawing/2014/main" id="{2DD1EE82-5918-4F13-9128-E49432F0E8CD}"/>
              </a:ext>
            </a:extLst>
          </p:cNvPr>
          <p:cNvSpPr>
            <a:spLocks noGrp="1"/>
          </p:cNvSpPr>
          <p:nvPr/>
        </p:nvSpPr>
        <p:spPr>
          <a:xfrm>
            <a:off x="8324850" y="41910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C</a:t>
            </a:r>
          </a:p>
        </p:txBody>
      </p:sp>
      <p:sp>
        <p:nvSpPr>
          <p:cNvPr id="16" name="footer-separator">
            <a:extLst>
              <a:ext uri="{FF2B5EF4-FFF2-40B4-BE49-F238E27FC236}">
                <a16:creationId xmlns:a16="http://schemas.microsoft.com/office/drawing/2014/main" id="{05F6C2AD-8701-42E6-96CC-35E4526ADBD6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9906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746A6829-9E3C-40AB-A96D-304345C424B5}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Las tres opciones usan el mismo Premio Grupal. Cambian la condición de activación y el criterio de distribución.</a:t>
            </a:r>
          </a:p>
        </p:txBody>
      </p:sp>
      <p:sp>
        <p:nvSpPr>
          <p:cNvPr id="18" name="footer2">
            <a:extLst>
              <a:ext uri="{FF2B5EF4-FFF2-40B4-BE49-F238E27FC236}">
                <a16:creationId xmlns:a16="http://schemas.microsoft.com/office/drawing/2014/main" id="{114CF7A1-4B6D-4C8F-8DF7-62ACDA7E8B4B}"/>
              </a:ext>
            </a:extLst>
          </p:cNvPr>
          <p:cNvSpPr>
            <a:spLocks noGrp="1"/>
          </p:cNvSpPr>
          <p:nvPr/>
        </p:nvSpPr>
        <p:spPr>
          <a:xfrm>
            <a:off x="990600" y="547687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Grupal se calcula por operación/sector/turno y luego se distribuye según la alternativa seleccionada.</a:t>
            </a: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E8C8E941-B992-4FB8-8C21-00DB5939D3A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BEA80D-9E2F-4B7B-BB84-47E22DE8D0D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Puntos fuertes y aspectos a cuidar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0A66738-93DD-44FE-A346-D556D1152E1A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7AA76D99-55F6-4395-BC56-E02AE274929C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3333750" cy="3143250"/>
          </a:xfrm>
          <a:prstGeom prst="roundRect">
            <a:avLst>
              <a:gd name="adj" fmla="val 2158"/>
            </a:avLst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individual-title">
            <a:extLst>
              <a:ext uri="{FF2B5EF4-FFF2-40B4-BE49-F238E27FC236}">
                <a16:creationId xmlns:a16="http://schemas.microsoft.com/office/drawing/2014/main" id="{2AE6FC40-4419-4E03-BC3A-00838962F36D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Producción</a:t>
            </a:r>
          </a:p>
        </p:txBody>
      </p:sp>
      <p:sp>
        <p:nvSpPr>
          <p:cNvPr id="7" name="individual-body">
            <a:extLst>
              <a:ext uri="{FF2B5EF4-FFF2-40B4-BE49-F238E27FC236}">
                <a16:creationId xmlns:a16="http://schemas.microsoft.com/office/drawing/2014/main" id="{503AE17A-2048-41EF-B85C-EDE3E5DA45F7}"/>
              </a:ext>
            </a:extLst>
          </p:cNvPr>
          <p:cNvSpPr>
            <a:spLocks noGrp="1"/>
          </p:cNvSpPr>
          <p:nvPr/>
        </p:nvSpPr>
        <p:spPr>
          <a:xfrm>
            <a:off x="990600" y="2110317"/>
            <a:ext cx="2876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Puntos fuertes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Premia el resultado total.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Es fácil de seguir día a día.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A tener en cuenta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Necesita volumen de trabajo suficiente.</a:t>
            </a:r>
          </a:p>
        </p:txBody>
      </p:sp>
      <p:sp>
        <p:nvSpPr>
          <p:cNvPr id="8" name="group-title">
            <a:extLst>
              <a:ext uri="{FF2B5EF4-FFF2-40B4-BE49-F238E27FC236}">
                <a16:creationId xmlns:a16="http://schemas.microsoft.com/office/drawing/2014/main" id="{6886ADFF-40FE-44DE-9B03-489C99165924}"/>
              </a:ext>
            </a:extLst>
          </p:cNvPr>
          <p:cNvSpPr>
            <a:spLocks noGrp="1"/>
          </p:cNvSpPr>
          <p:nvPr/>
        </p:nvSpPr>
        <p:spPr>
          <a:xfrm>
            <a:off x="4657725" y="16954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Cumplimiento</a:t>
            </a:r>
          </a:p>
        </p:txBody>
      </p:sp>
      <p:sp>
        <p:nvSpPr>
          <p:cNvPr id="10" name="group-body">
            <a:extLst>
              <a:ext uri="{FF2B5EF4-FFF2-40B4-BE49-F238E27FC236}">
                <a16:creationId xmlns:a16="http://schemas.microsoft.com/office/drawing/2014/main" id="{B9142F36-009B-4B06-8660-E5B5878E5F96}"/>
              </a:ext>
            </a:extLst>
          </p:cNvPr>
          <p:cNvSpPr>
            <a:spLocks noGrp="1"/>
          </p:cNvSpPr>
          <p:nvPr/>
        </p:nvSpPr>
        <p:spPr>
          <a:xfrm>
            <a:off x="4657725" y="2110317"/>
            <a:ext cx="2876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Puntos fuertes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Busca que la mayoría llegue.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El reparto por horas es simple.</a:t>
            </a:r>
          </a:p>
          <a:p>
            <a:pPr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A tener en cuenta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Pocos casos pueden impedir el pago.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</a:t>
            </a:r>
            <a:r>
              <a:rPr sz="1200">
                <a:solidFill>
                  <a:srgbClr val="374151"/>
                </a:solidFill>
                <a:latin typeface="Aptos"/>
                <a:ea typeface="Aptos"/>
                <a:cs typeface="Aptos"/>
              </a:rPr>
              <a:t>Riesgo de pagos a aportes productivos bajos</a:t>
            </a: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closing">
            <a:extLst>
              <a:ext uri="{FF2B5EF4-FFF2-40B4-BE49-F238E27FC236}">
                <a16:creationId xmlns:a16="http://schemas.microsoft.com/office/drawing/2014/main" id="{B82E5152-F0C7-4B36-A08F-FC83C27DDB06}"/>
              </a:ext>
            </a:extLst>
          </p:cNvPr>
          <p:cNvSpPr>
            <a:spLocks noGrp="1"/>
          </p:cNvSpPr>
          <p:nvPr/>
        </p:nvSpPr>
        <p:spPr>
          <a:xfrm>
            <a:off x="990600" y="516255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 opción más sólida es la que puede explicarse antes del turno y comprobarse después con datos simples.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5DAA9-2C77-4186-A35B-6FB58CEF3788}"/>
              </a:ext>
            </a:extLst>
          </p:cNvPr>
          <p:cNvSpPr>
            <a:spLocks noGrp="1"/>
          </p:cNvSpPr>
          <p:nvPr/>
        </p:nvSpPr>
        <p:spPr>
          <a:xfrm>
            <a:off x="609600" y="960840"/>
            <a:ext cx="113284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400" i="1"/>
            </a:pPr>
            <a:r>
              <a:t>Cada alternativa puede funcionar bien si las reglas se conocen antes del turno y se verifican después con datos simples.</a:t>
            </a:r>
          </a:p>
        </p:txBody>
      </p:sp>
      <p:sp>
        <p:nvSpPr>
          <p:cNvPr id="17" name="model-card-2">
            <a:extLst>
              <a:ext uri="{FF2B5EF4-FFF2-40B4-BE49-F238E27FC236}">
                <a16:creationId xmlns:a16="http://schemas.microsoft.com/office/drawing/2014/main" id="{C83D8F89-D288-4FF5-ADC3-7A93B4F17599}"/>
              </a:ext>
            </a:extLst>
          </p:cNvPr>
          <p:cNvSpPr>
            <a:spLocks noGrp="1"/>
          </p:cNvSpPr>
          <p:nvPr/>
        </p:nvSpPr>
        <p:spPr>
          <a:xfrm>
            <a:off x="4429125" y="1524000"/>
            <a:ext cx="3333750" cy="3143250"/>
          </a:xfrm>
          <a:prstGeom prst="roundRect">
            <a:avLst>
              <a:gd name="adj" fmla="val 2424"/>
            </a:avLst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model-card-3">
            <a:extLst>
              <a:ext uri="{FF2B5EF4-FFF2-40B4-BE49-F238E27FC236}">
                <a16:creationId xmlns:a16="http://schemas.microsoft.com/office/drawing/2014/main" id="{0CBCAD56-5ACE-4F64-880C-0008DC1CC367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333750" cy="3143250"/>
          </a:xfrm>
          <a:prstGeom prst="roundRect">
            <a:avLst>
              <a:gd name="adj" fmla="val 2424"/>
            </a:avLst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planning-title">
            <a:extLst>
              <a:ext uri="{FF2B5EF4-FFF2-40B4-BE49-F238E27FC236}">
                <a16:creationId xmlns:a16="http://schemas.microsoft.com/office/drawing/2014/main" id="{1BA5FE6E-1097-4904-83A5-433AAF7F22A7}"/>
              </a:ext>
            </a:extLst>
          </p:cNvPr>
          <p:cNvSpPr>
            <a:spLocks noGrp="1"/>
          </p:cNvSpPr>
          <p:nvPr/>
        </p:nvSpPr>
        <p:spPr>
          <a:xfrm>
            <a:off x="8324850" y="16954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Planificación</a:t>
            </a:r>
          </a:p>
        </p:txBody>
      </p:sp>
      <p:sp>
        <p:nvSpPr>
          <p:cNvPr id="21" name="planning-body">
            <a:extLst>
              <a:ext uri="{FF2B5EF4-FFF2-40B4-BE49-F238E27FC236}">
                <a16:creationId xmlns:a16="http://schemas.microsoft.com/office/drawing/2014/main" id="{0FF2E4EE-DA6D-4C48-BEFA-BB05912076EF}"/>
              </a:ext>
            </a:extLst>
          </p:cNvPr>
          <p:cNvSpPr>
            <a:spLocks noGrp="1"/>
          </p:cNvSpPr>
          <p:nvPr/>
        </p:nvSpPr>
        <p:spPr>
          <a:xfrm>
            <a:off x="8324850" y="2110317"/>
            <a:ext cx="28765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Puntos fuertes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Alinea al equipo con el plan.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El objetivo puede comunicarse antes.</a:t>
            </a:r>
          </a:p>
          <a:p>
            <a:pPr algn="l">
              <a:buNone/>
              <a:defRPr sz="120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74151"/>
                </a:solidFill>
                <a:latin typeface="Aptos"/>
                <a:ea typeface="Aptos"/>
                <a:cs typeface="Aptos"/>
              </a:rPr>
              <a:t>A tener en cuenta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El plan debe ser realista y estable.</a:t>
            </a:r>
          </a:p>
          <a:p>
            <a:pPr algn="l">
              <a:buNone/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• Cambios y falta de volumen deben contemplarse.</a:t>
            </a:r>
          </a:p>
        </p:txBody>
      </p:sp>
      <p:sp>
        <p:nvSpPr>
          <p:cNvPr id="22" name="footer-separator">
            <a:extLst>
              <a:ext uri="{FF2B5EF4-FFF2-40B4-BE49-F238E27FC236}">
                <a16:creationId xmlns:a16="http://schemas.microsoft.com/office/drawing/2014/main" id="{157EC847-0244-4316-AF1D-4F3400A71C52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99060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individual-formula">
            <a:extLst>
              <a:ext uri="{FF2B5EF4-FFF2-40B4-BE49-F238E27FC236}">
                <a16:creationId xmlns:a16="http://schemas.microsoft.com/office/drawing/2014/main" id="{CF7F69AE-2EC5-36E1-9911-714E2208A4DA}"/>
              </a:ext>
            </a:extLst>
          </p:cNvPr>
          <p:cNvSpPr>
            <a:spLocks noGrp="1"/>
          </p:cNvSpPr>
          <p:nvPr/>
        </p:nvSpPr>
        <p:spPr>
          <a:xfrm>
            <a:off x="762000" y="124659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A</a:t>
            </a:r>
          </a:p>
        </p:txBody>
      </p:sp>
      <p:sp>
        <p:nvSpPr>
          <p:cNvPr id="13" name="individual-formula">
            <a:extLst>
              <a:ext uri="{FF2B5EF4-FFF2-40B4-BE49-F238E27FC236}">
                <a16:creationId xmlns:a16="http://schemas.microsoft.com/office/drawing/2014/main" id="{86E4F296-5B5F-D867-DE5B-5CB043608685}"/>
              </a:ext>
            </a:extLst>
          </p:cNvPr>
          <p:cNvSpPr>
            <a:spLocks noGrp="1"/>
          </p:cNvSpPr>
          <p:nvPr/>
        </p:nvSpPr>
        <p:spPr>
          <a:xfrm>
            <a:off x="4429125" y="124659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B</a:t>
            </a:r>
          </a:p>
        </p:txBody>
      </p:sp>
      <p:sp>
        <p:nvSpPr>
          <p:cNvPr id="14" name="individual-formula">
            <a:extLst>
              <a:ext uri="{FF2B5EF4-FFF2-40B4-BE49-F238E27FC236}">
                <a16:creationId xmlns:a16="http://schemas.microsoft.com/office/drawing/2014/main" id="{B4F0EE30-F14E-5168-2B9C-284C263B6F7E}"/>
              </a:ext>
            </a:extLst>
          </p:cNvPr>
          <p:cNvSpPr>
            <a:spLocks noGrp="1"/>
          </p:cNvSpPr>
          <p:nvPr/>
        </p:nvSpPr>
        <p:spPr>
          <a:xfrm>
            <a:off x="8096250" y="124659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C</a:t>
            </a: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5B759442-4E6C-4659-AD8D-A2A8FFCF24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A2989-D30A-42BA-B364-61557BCBCCC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A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A29E5B7F-8153-4CCD-BF81-948BEC1C5EC4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2CE3807A-EC70-4995-BCB1-6B2688C5D32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>
              <a:ext uri="{FF2B5EF4-FFF2-40B4-BE49-F238E27FC236}">
                <a16:creationId xmlns:a16="http://schemas.microsoft.com/office/drawing/2014/main" id="{525405D9-230D-4BB2-9273-EC2BC8CBFCD6}"/>
              </a:ext>
            </a:extLst>
          </p:cNvPr>
          <p:cNvSpPr>
            <a:spLocks noGrp="1"/>
          </p:cNvSpPr>
          <p:nvPr/>
        </p:nvSpPr>
        <p:spPr>
          <a:xfrm>
            <a:off x="990600" y="15716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Premio Grupal</a:t>
            </a:r>
          </a:p>
        </p:txBody>
      </p:sp>
      <p:sp>
        <p:nvSpPr>
          <p:cNvPr id="6" name="s-formula-0">
            <a:extLst>
              <a:ext uri="{FF2B5EF4-FFF2-40B4-BE49-F238E27FC236}">
                <a16:creationId xmlns:a16="http://schemas.microsoft.com/office/drawing/2014/main" id="{FBB664F7-C56E-4FB3-BB94-9D6789789EAB}"/>
              </a:ext>
            </a:extLst>
          </p:cNvPr>
          <p:cNvSpPr>
            <a:spLocks noGrp="1"/>
          </p:cNvSpPr>
          <p:nvPr/>
        </p:nvSpPr>
        <p:spPr>
          <a:xfrm>
            <a:off x="990600" y="18764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ES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 = </a:t>
            </a:r>
            <a:r>
              <a:rPr lang="es-ES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BT × LP</a:t>
            </a:r>
          </a:p>
        </p:txBody>
      </p:sp>
      <p:sp>
        <p:nvSpPr>
          <p:cNvPr id="7" name="s-body-0">
            <a:extLst>
              <a:ext uri="{FF2B5EF4-FFF2-40B4-BE49-F238E27FC236}">
                <a16:creationId xmlns:a16="http://schemas.microsoft.com/office/drawing/2014/main" id="{F626CDB0-08D0-4F00-8DDD-46F26BDB95B0}"/>
              </a:ext>
            </a:extLst>
          </p:cNvPr>
          <p:cNvSpPr>
            <a:spLocks noGrp="1"/>
          </p:cNvSpPr>
          <p:nvPr/>
        </p:nvSpPr>
        <p:spPr>
          <a:xfrm>
            <a:off x="5334000" y="18383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</a:t>
            </a:r>
            <a:r>
              <a:rPr lang="es-ES"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se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calcula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con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el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Base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Turno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de la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y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los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legajos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sz="9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s-title-1">
            <a:extLst>
              <a:ext uri="{FF2B5EF4-FFF2-40B4-BE49-F238E27FC236}">
                <a16:creationId xmlns:a16="http://schemas.microsoft.com/office/drawing/2014/main" id="{24FBB201-54EE-47B1-9D7B-F84A8F1036DC}"/>
              </a:ext>
            </a:extLst>
          </p:cNvPr>
          <p:cNvSpPr>
            <a:spLocks noGrp="1"/>
          </p:cNvSpPr>
          <p:nvPr/>
        </p:nvSpPr>
        <p:spPr>
          <a:xfrm>
            <a:off x="990600" y="24860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Producción Final Grupal</a:t>
            </a:r>
          </a:p>
        </p:txBody>
      </p:sp>
      <p:sp>
        <p:nvSpPr>
          <p:cNvPr id="9" name="s-formula-1">
            <a:extLst>
              <a:ext uri="{FF2B5EF4-FFF2-40B4-BE49-F238E27FC236}">
                <a16:creationId xmlns:a16="http://schemas.microsoft.com/office/drawing/2014/main" id="{0F4B6162-1E83-413B-9253-251CAC931879}"/>
              </a:ext>
            </a:extLst>
          </p:cNvPr>
          <p:cNvSpPr>
            <a:spLocks noGrp="1"/>
          </p:cNvSpPr>
          <p:nvPr/>
        </p:nvSpPr>
        <p:spPr>
          <a:xfrm>
            <a:off x="990600" y="2790825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Σ Ph</a:t>
            </a:r>
            <a:endParaRPr lang="es-ES" sz="12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s-AR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PFG &gt; UG se habilita el pago grupal</a:t>
            </a:r>
            <a:endParaRPr sz="12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-body-1">
            <a:extLst>
              <a:ext uri="{FF2B5EF4-FFF2-40B4-BE49-F238E27FC236}">
                <a16:creationId xmlns:a16="http://schemas.microsoft.com/office/drawing/2014/main" id="{406FE951-F1DD-4A34-B9A7-B182FF60FA48}"/>
              </a:ext>
            </a:extLst>
          </p:cNvPr>
          <p:cNvSpPr>
            <a:spLocks noGrp="1"/>
          </p:cNvSpPr>
          <p:nvPr/>
        </p:nvSpPr>
        <p:spPr>
          <a:xfrm>
            <a:off x="5334000" y="27527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Es la suma de la producción horaria de todos los colaboradores que participaron en el turno.</a:t>
            </a:r>
          </a:p>
        </p:txBody>
      </p:sp>
      <p:sp>
        <p:nvSpPr>
          <p:cNvPr id="11" name="s-title-2">
            <a:extLst>
              <a:ext uri="{FF2B5EF4-FFF2-40B4-BE49-F238E27FC236}">
                <a16:creationId xmlns:a16="http://schemas.microsoft.com/office/drawing/2014/main" id="{F4A2DB39-3487-43E3-885C-26E6E2E7746E}"/>
              </a:ext>
            </a:extLst>
          </p:cNvPr>
          <p:cNvSpPr>
            <a:spLocks noGrp="1"/>
          </p:cNvSpPr>
          <p:nvPr/>
        </p:nvSpPr>
        <p:spPr>
          <a:xfrm>
            <a:off x="990600" y="34004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</a:t>
            </a:r>
            <a:r>
              <a:rPr sz="12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Distribución</a:t>
            </a: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Individual</a:t>
            </a:r>
          </a:p>
        </p:txBody>
      </p:sp>
      <p:sp>
        <p:nvSpPr>
          <p:cNvPr id="12" name="s-formula-2">
            <a:extLst>
              <a:ext uri="{FF2B5EF4-FFF2-40B4-BE49-F238E27FC236}">
                <a16:creationId xmlns:a16="http://schemas.microsoft.com/office/drawing/2014/main" id="{923903A9-A757-4B5A-8C1F-7A70B7CE4BA4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</a:t>
            </a:r>
            <a:r>
              <a:rPr lang="es-ES"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 × (Ph individual / PFG)</a:t>
            </a:r>
          </a:p>
        </p:txBody>
      </p:sp>
      <p:sp>
        <p:nvSpPr>
          <p:cNvPr id="13" name="s-body-2">
            <a:extLst>
              <a:ext uri="{FF2B5EF4-FFF2-40B4-BE49-F238E27FC236}">
                <a16:creationId xmlns:a16="http://schemas.microsoft.com/office/drawing/2014/main" id="{034DFD5C-C10C-4265-99A0-AD649F502E3E}"/>
              </a:ext>
            </a:extLst>
          </p:cNvPr>
          <p:cNvSpPr>
            <a:spLocks noGrp="1"/>
          </p:cNvSpPr>
          <p:nvPr/>
        </p:nvSpPr>
        <p:spPr>
          <a:xfrm>
            <a:off x="5334000" y="36671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Grupal se distribuye según la participación productiva individual.</a:t>
            </a:r>
          </a:p>
        </p:txBody>
      </p:sp>
      <p:sp>
        <p:nvSpPr>
          <p:cNvPr id="14" name="simple-box">
            <a:extLst>
              <a:ext uri="{FF2B5EF4-FFF2-40B4-BE49-F238E27FC236}">
                <a16:creationId xmlns:a16="http://schemas.microsoft.com/office/drawing/2014/main" id="{E0A4B526-221E-4784-B1A4-AF6B4F5D4C0F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9060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>
              <a:ext uri="{FF2B5EF4-FFF2-40B4-BE49-F238E27FC236}">
                <a16:creationId xmlns:a16="http://schemas.microsoft.com/office/drawing/2014/main" id="{BFE7C99B-603F-471B-BD6D-F094DFE34481}"/>
              </a:ext>
            </a:extLst>
          </p:cNvPr>
          <p:cNvSpPr>
            <a:spLocks noGrp="1"/>
          </p:cNvSpPr>
          <p:nvPr/>
        </p:nvSpPr>
        <p:spPr>
          <a:xfrm>
            <a:off x="1181100" y="4648200"/>
            <a:ext cx="952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 simple: se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el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Premio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si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la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total del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turno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alcanza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el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mínimo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requerido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Luego, cada operario recibe un proporcional de acuerdo a su aporte</a:t>
            </a:r>
            <a:endParaRPr sz="900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fs-title">
            <a:extLst>
              <a:ext uri="{FF2B5EF4-FFF2-40B4-BE49-F238E27FC236}">
                <a16:creationId xmlns:a16="http://schemas.microsoft.com/office/drawing/2014/main" id="{4765D811-12E2-449D-B9F4-710C50BC7CBF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7" name="refs">
            <a:extLst>
              <a:ext uri="{FF2B5EF4-FFF2-40B4-BE49-F238E27FC236}">
                <a16:creationId xmlns:a16="http://schemas.microsoft.com/office/drawing/2014/main" id="{E437DA44-58BD-44E1-B679-C15DA28AD0CF}"/>
              </a:ext>
            </a:extLst>
          </p:cNvPr>
          <p:cNvSpPr>
            <a:spLocks noGrp="1"/>
          </p:cNvSpPr>
          <p:nvPr/>
        </p:nvSpPr>
        <p:spPr>
          <a:xfrm>
            <a:off x="990600" y="56007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 → </a:t>
            </a:r>
            <a:r>
              <a:rPr lang="es-ES" sz="90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</a:t>
            </a: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BT → </a:t>
            </a: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 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Base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Turno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LP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Legajos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PFG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Final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PIA → Premio Individual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Adicional</a:t>
            </a:r>
            <a:endParaRPr sz="900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CDA909B0-2B54-4C36-A5F2-34FE415E1D4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2E9C58-F4BD-4A2A-8FC2-9B7417A4C8F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B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5FCE0F20-5132-4AA6-B7A7-BA8F2427754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A0C1A63C-333A-47B3-92C7-7767FB44F71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>
              <a:ext uri="{FF2B5EF4-FFF2-40B4-BE49-F238E27FC236}">
                <a16:creationId xmlns:a16="http://schemas.microsoft.com/office/drawing/2014/main" id="{E329D114-CA9E-4411-A4B4-DC317F91C0C4}"/>
              </a:ext>
            </a:extLst>
          </p:cNvPr>
          <p:cNvSpPr>
            <a:spLocks noGrp="1"/>
          </p:cNvSpPr>
          <p:nvPr/>
        </p:nvSpPr>
        <p:spPr>
          <a:xfrm>
            <a:off x="990600" y="15716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Cumplimiento Individual</a:t>
            </a:r>
          </a:p>
        </p:txBody>
      </p:sp>
      <p:sp>
        <p:nvSpPr>
          <p:cNvPr id="6" name="s-formula-0">
            <a:extLst>
              <a:ext uri="{FF2B5EF4-FFF2-40B4-BE49-F238E27FC236}">
                <a16:creationId xmlns:a16="http://schemas.microsoft.com/office/drawing/2014/main" id="{9531DFDD-5A4C-49F0-B7CA-5EE15022D466}"/>
              </a:ext>
            </a:extLst>
          </p:cNvPr>
          <p:cNvSpPr>
            <a:spLocks noGrp="1"/>
          </p:cNvSpPr>
          <p:nvPr/>
        </p:nvSpPr>
        <p:spPr>
          <a:xfrm>
            <a:off x="990600" y="18764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CI = 1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PID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turno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&gt; 0</a:t>
            </a:r>
          </a:p>
        </p:txBody>
      </p:sp>
      <p:sp>
        <p:nvSpPr>
          <p:cNvPr id="7" name="s-body-0">
            <a:extLst>
              <a:ext uri="{FF2B5EF4-FFF2-40B4-BE49-F238E27FC236}">
                <a16:creationId xmlns:a16="http://schemas.microsoft.com/office/drawing/2014/main" id="{3FFE02D5-6869-447F-B150-8FBDDE6555A6}"/>
              </a:ext>
            </a:extLst>
          </p:cNvPr>
          <p:cNvSpPr>
            <a:spLocks noGrp="1"/>
          </p:cNvSpPr>
          <p:nvPr/>
        </p:nvSpPr>
        <p:spPr>
          <a:xfrm>
            <a:off x="5334000" y="18383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Cuenta como cumplidor todo colaborador elegible cuyo Premio Individual del turno sea mayor a cero.</a:t>
            </a:r>
          </a:p>
        </p:txBody>
      </p:sp>
      <p:sp>
        <p:nvSpPr>
          <p:cNvPr id="8" name="s-title-1">
            <a:extLst>
              <a:ext uri="{FF2B5EF4-FFF2-40B4-BE49-F238E27FC236}">
                <a16:creationId xmlns:a16="http://schemas.microsoft.com/office/drawing/2014/main" id="{53044816-8376-4C93-BC6C-084818BA95FC}"/>
              </a:ext>
            </a:extLst>
          </p:cNvPr>
          <p:cNvSpPr>
            <a:spLocks noGrp="1"/>
          </p:cNvSpPr>
          <p:nvPr/>
        </p:nvSpPr>
        <p:spPr>
          <a:xfrm>
            <a:off x="990600" y="24860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Cumplimiento Grupal</a:t>
            </a:r>
          </a:p>
        </p:txBody>
      </p:sp>
      <p:sp>
        <p:nvSpPr>
          <p:cNvPr id="9" name="s-formula-1">
            <a:extLst>
              <a:ext uri="{FF2B5EF4-FFF2-40B4-BE49-F238E27FC236}">
                <a16:creationId xmlns:a16="http://schemas.microsoft.com/office/drawing/2014/main" id="{08FD124F-5A71-483D-BCA5-15924A574DDD}"/>
              </a:ext>
            </a:extLst>
          </p:cNvPr>
          <p:cNvSpPr>
            <a:spLocks noGrp="1"/>
          </p:cNvSpPr>
          <p:nvPr/>
        </p:nvSpPr>
        <p:spPr>
          <a:xfrm>
            <a:off x="990600" y="27908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CG = Σ CI / NCE ≥ 90%</a:t>
            </a:r>
          </a:p>
        </p:txBody>
      </p:sp>
      <p:sp>
        <p:nvSpPr>
          <p:cNvPr id="10" name="s-body-1">
            <a:extLst>
              <a:ext uri="{FF2B5EF4-FFF2-40B4-BE49-F238E27FC236}">
                <a16:creationId xmlns:a16="http://schemas.microsoft.com/office/drawing/2014/main" id="{71EAF7E7-59E4-44DC-B4F0-3EA9BABDB6A1}"/>
              </a:ext>
            </a:extLst>
          </p:cNvPr>
          <p:cNvSpPr>
            <a:spLocks noGrp="1"/>
          </p:cNvSpPr>
          <p:nvPr/>
        </p:nvSpPr>
        <p:spPr>
          <a:xfrm>
            <a:off x="5334000" y="27527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cumple cuando alcanza el porcentaje requerido. El porcentaje es parametrizable.</a:t>
            </a:r>
          </a:p>
        </p:txBody>
      </p:sp>
      <p:sp>
        <p:nvSpPr>
          <p:cNvPr id="11" name="s-title-2">
            <a:extLst>
              <a:ext uri="{FF2B5EF4-FFF2-40B4-BE49-F238E27FC236}">
                <a16:creationId xmlns:a16="http://schemas.microsoft.com/office/drawing/2014/main" id="{F859CC25-5AB7-4309-92A9-14F585FE1A1B}"/>
              </a:ext>
            </a:extLst>
          </p:cNvPr>
          <p:cNvSpPr>
            <a:spLocks noGrp="1"/>
          </p:cNvSpPr>
          <p:nvPr/>
        </p:nvSpPr>
        <p:spPr>
          <a:xfrm>
            <a:off x="990600" y="34004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por Horas</a:t>
            </a:r>
          </a:p>
        </p:txBody>
      </p:sp>
      <p:sp>
        <p:nvSpPr>
          <p:cNvPr id="12" name="s-formula-2">
            <a:extLst>
              <a:ext uri="{FF2B5EF4-FFF2-40B4-BE49-F238E27FC236}">
                <a16:creationId xmlns:a16="http://schemas.microsoft.com/office/drawing/2014/main" id="{D04BDAB2-6494-4550-A655-F5AF7527CCCF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PG × (HPI / HPG)</a:t>
            </a:r>
          </a:p>
        </p:txBody>
      </p:sp>
      <p:sp>
        <p:nvSpPr>
          <p:cNvPr id="13" name="s-body-2">
            <a:extLst>
              <a:ext uri="{FF2B5EF4-FFF2-40B4-BE49-F238E27FC236}">
                <a16:creationId xmlns:a16="http://schemas.microsoft.com/office/drawing/2014/main" id="{B5A019BC-1A80-44EB-A74E-CF6AB4336B89}"/>
              </a:ext>
            </a:extLst>
          </p:cNvPr>
          <p:cNvSpPr>
            <a:spLocks noGrp="1"/>
          </p:cNvSpPr>
          <p:nvPr/>
        </p:nvSpPr>
        <p:spPr>
          <a:xfrm>
            <a:off x="5334000" y="36671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Grupal se distribuye según las horas efectivamente trabajadas.</a:t>
            </a:r>
          </a:p>
        </p:txBody>
      </p:sp>
      <p:sp>
        <p:nvSpPr>
          <p:cNvPr id="14" name="simple-box">
            <a:extLst>
              <a:ext uri="{FF2B5EF4-FFF2-40B4-BE49-F238E27FC236}">
                <a16:creationId xmlns:a16="http://schemas.microsoft.com/office/drawing/2014/main" id="{02018029-E1C0-42E1-A01D-B56F3701A49E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9060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>
              <a:ext uri="{FF2B5EF4-FFF2-40B4-BE49-F238E27FC236}">
                <a16:creationId xmlns:a16="http://schemas.microsoft.com/office/drawing/2014/main" id="{4106AE25-2B1B-4A60-9AEF-6730DA009755}"/>
              </a:ext>
            </a:extLst>
          </p:cNvPr>
          <p:cNvSpPr>
            <a:spLocks noGrp="1"/>
          </p:cNvSpPr>
          <p:nvPr/>
        </p:nvSpPr>
        <p:spPr>
          <a:xfrm>
            <a:off x="1181100" y="4648200"/>
            <a:ext cx="952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 simple: se habilita el Premio Grupal si el grupo alcanza el porcentaje requerido de colaboradores con Premio Individual.</a:t>
            </a:r>
          </a:p>
        </p:txBody>
      </p:sp>
      <p:sp>
        <p:nvSpPr>
          <p:cNvPr id="16" name="refs-title">
            <a:extLst>
              <a:ext uri="{FF2B5EF4-FFF2-40B4-BE49-F238E27FC236}">
                <a16:creationId xmlns:a16="http://schemas.microsoft.com/office/drawing/2014/main" id="{74228960-DF57-41F6-B8EA-0180252970D3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7" name="refs">
            <a:extLst>
              <a:ext uri="{FF2B5EF4-FFF2-40B4-BE49-F238E27FC236}">
                <a16:creationId xmlns:a16="http://schemas.microsoft.com/office/drawing/2014/main" id="{3CF1BE14-95B9-4B1D-98B3-A95FAD4B2072}"/>
              </a:ext>
            </a:extLst>
          </p:cNvPr>
          <p:cNvSpPr>
            <a:spLocks noGrp="1"/>
          </p:cNvSpPr>
          <p:nvPr/>
        </p:nvSpPr>
        <p:spPr>
          <a:xfrm>
            <a:off x="990600" y="56007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CI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Cumplimiento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Individual    CG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Cumplimiento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NCE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Colaboradores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elegibles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PG → Premio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HPG → Horas del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HPI → Horas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individuales</a:t>
            </a: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PID-&gt; Premio Individual</a:t>
            </a:r>
            <a:endParaRPr sz="900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E6CAC443-4C9F-4100-A41F-7EEB9D9D66B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388BE81-C8A7-45C2-BD4E-69312932DFD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C: Planificación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125127E-9FE6-410A-8FED-41E0414FE7B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2453A0C5-A7CF-42A8-94EA-6BA80CD3CFF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>
              <a:ext uri="{FF2B5EF4-FFF2-40B4-BE49-F238E27FC236}">
                <a16:creationId xmlns:a16="http://schemas.microsoft.com/office/drawing/2014/main" id="{C3DBEA4E-F238-4105-9BB6-ED5D17B84014}"/>
              </a:ext>
            </a:extLst>
          </p:cNvPr>
          <p:cNvSpPr>
            <a:spLocks noGrp="1"/>
          </p:cNvSpPr>
          <p:nvPr/>
        </p:nvSpPr>
        <p:spPr>
          <a:xfrm>
            <a:off x="990600" y="15716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Cumplimiento de Planificación</a:t>
            </a:r>
          </a:p>
        </p:txBody>
      </p:sp>
      <p:sp>
        <p:nvSpPr>
          <p:cNvPr id="6" name="s-formula-0">
            <a:extLst>
              <a:ext uri="{FF2B5EF4-FFF2-40B4-BE49-F238E27FC236}">
                <a16:creationId xmlns:a16="http://schemas.microsoft.com/office/drawing/2014/main" id="{DB72CD24-A860-45D3-BF60-2F9B685A6F0E}"/>
              </a:ext>
            </a:extLst>
          </p:cNvPr>
          <p:cNvSpPr>
            <a:spLocks noGrp="1"/>
          </p:cNvSpPr>
          <p:nvPr/>
        </p:nvSpPr>
        <p:spPr>
          <a:xfrm>
            <a:off x="990600" y="18764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CP = Ejecutado / Planificado</a:t>
            </a:r>
          </a:p>
        </p:txBody>
      </p:sp>
      <p:sp>
        <p:nvSpPr>
          <p:cNvPr id="7" name="s-body-0">
            <a:extLst>
              <a:ext uri="{FF2B5EF4-FFF2-40B4-BE49-F238E27FC236}">
                <a16:creationId xmlns:a16="http://schemas.microsoft.com/office/drawing/2014/main" id="{7BB56DFC-04E2-4360-951F-41B199F91C40}"/>
              </a:ext>
            </a:extLst>
          </p:cNvPr>
          <p:cNvSpPr>
            <a:spLocks noGrp="1"/>
          </p:cNvSpPr>
          <p:nvPr/>
        </p:nvSpPr>
        <p:spPr>
          <a:xfrm>
            <a:off x="5334000" y="18383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división / turno cumple si alcanza el objetivo definido contra planificación operativa.</a:t>
            </a:r>
          </a:p>
        </p:txBody>
      </p:sp>
      <p:sp>
        <p:nvSpPr>
          <p:cNvPr id="8" name="s-title-1">
            <a:extLst>
              <a:ext uri="{FF2B5EF4-FFF2-40B4-BE49-F238E27FC236}">
                <a16:creationId xmlns:a16="http://schemas.microsoft.com/office/drawing/2014/main" id="{BB21B25A-A4FB-4A1A-9865-B4B088A699F0}"/>
              </a:ext>
            </a:extLst>
          </p:cNvPr>
          <p:cNvSpPr>
            <a:spLocks noGrp="1"/>
          </p:cNvSpPr>
          <p:nvPr/>
        </p:nvSpPr>
        <p:spPr>
          <a:xfrm>
            <a:off x="990600" y="24860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Activación del Premio Grupal</a:t>
            </a:r>
          </a:p>
        </p:txBody>
      </p:sp>
      <p:sp>
        <p:nvSpPr>
          <p:cNvPr id="9" name="s-formula-1">
            <a:extLst>
              <a:ext uri="{FF2B5EF4-FFF2-40B4-BE49-F238E27FC236}">
                <a16:creationId xmlns:a16="http://schemas.microsoft.com/office/drawing/2014/main" id="{CAA4A2B4-3B1F-459B-9AA6-08BDF2A5A032}"/>
              </a:ext>
            </a:extLst>
          </p:cNvPr>
          <p:cNvSpPr>
            <a:spLocks noGrp="1"/>
          </p:cNvSpPr>
          <p:nvPr/>
        </p:nvSpPr>
        <p:spPr>
          <a:xfrm>
            <a:off x="990600" y="27908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CP del flujo aplicable ≥ 90%</a:t>
            </a:r>
          </a:p>
        </p:txBody>
      </p:sp>
      <p:sp>
        <p:nvSpPr>
          <p:cNvPr id="10" name="s-body-1">
            <a:extLst>
              <a:ext uri="{FF2B5EF4-FFF2-40B4-BE49-F238E27FC236}">
                <a16:creationId xmlns:a16="http://schemas.microsoft.com/office/drawing/2014/main" id="{AF6EC4C1-624D-4200-955B-57B205E6AEB6}"/>
              </a:ext>
            </a:extLst>
          </p:cNvPr>
          <p:cNvSpPr>
            <a:spLocks noGrp="1"/>
          </p:cNvSpPr>
          <p:nvPr/>
        </p:nvSpPr>
        <p:spPr>
          <a:xfrm>
            <a:off x="5334000" y="27527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 y OUT se evalúan por separado. OUT se valida contra TMS; IN contra agenda de proveedores / recepción.</a:t>
            </a:r>
          </a:p>
        </p:txBody>
      </p:sp>
      <p:sp>
        <p:nvSpPr>
          <p:cNvPr id="11" name="s-title-2">
            <a:extLst>
              <a:ext uri="{FF2B5EF4-FFF2-40B4-BE49-F238E27FC236}">
                <a16:creationId xmlns:a16="http://schemas.microsoft.com/office/drawing/2014/main" id="{71E1172F-CBF9-4A80-9D4C-255D585C2C15}"/>
              </a:ext>
            </a:extLst>
          </p:cNvPr>
          <p:cNvSpPr>
            <a:spLocks noGrp="1"/>
          </p:cNvSpPr>
          <p:nvPr/>
        </p:nvSpPr>
        <p:spPr>
          <a:xfrm>
            <a:off x="990600" y="34004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por Horas</a:t>
            </a:r>
          </a:p>
        </p:txBody>
      </p:sp>
      <p:sp>
        <p:nvSpPr>
          <p:cNvPr id="12" name="s-formula-2">
            <a:extLst>
              <a:ext uri="{FF2B5EF4-FFF2-40B4-BE49-F238E27FC236}">
                <a16:creationId xmlns:a16="http://schemas.microsoft.com/office/drawing/2014/main" id="{BF1260FE-1DD2-428D-ADD2-62E004E02A9A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PG × (HPI / HPG)</a:t>
            </a:r>
          </a:p>
        </p:txBody>
      </p:sp>
      <p:sp>
        <p:nvSpPr>
          <p:cNvPr id="13" name="s-body-2">
            <a:extLst>
              <a:ext uri="{FF2B5EF4-FFF2-40B4-BE49-F238E27FC236}">
                <a16:creationId xmlns:a16="http://schemas.microsoft.com/office/drawing/2014/main" id="{525B3329-7E47-480D-AD18-D65395C1B253}"/>
              </a:ext>
            </a:extLst>
          </p:cNvPr>
          <p:cNvSpPr>
            <a:spLocks noGrp="1"/>
          </p:cNvSpPr>
          <p:nvPr/>
        </p:nvSpPr>
        <p:spPr>
          <a:xfrm>
            <a:off x="5334000" y="3667125"/>
            <a:ext cx="561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Todos los colaboradores que intervienen participan según sus horas efectivas del turno.</a:t>
            </a:r>
          </a:p>
        </p:txBody>
      </p:sp>
      <p:sp>
        <p:nvSpPr>
          <p:cNvPr id="14" name="simple-box">
            <a:extLst>
              <a:ext uri="{FF2B5EF4-FFF2-40B4-BE49-F238E27FC236}">
                <a16:creationId xmlns:a16="http://schemas.microsoft.com/office/drawing/2014/main" id="{8A2A4638-4DD5-44A4-8E74-1512E947F3B7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99060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>
              <a:ext uri="{FF2B5EF4-FFF2-40B4-BE49-F238E27FC236}">
                <a16:creationId xmlns:a16="http://schemas.microsoft.com/office/drawing/2014/main" id="{29B92FED-5245-46B6-BA10-51D34C399ED9}"/>
              </a:ext>
            </a:extLst>
          </p:cNvPr>
          <p:cNvSpPr>
            <a:spLocks noGrp="1"/>
          </p:cNvSpPr>
          <p:nvPr/>
        </p:nvSpPr>
        <p:spPr>
          <a:xfrm>
            <a:off x="1181100" y="4648200"/>
            <a:ext cx="952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 simple: se habilita el Premio Grupal si el flujo aplicable alcanza el porcentaje definido del plan.</a:t>
            </a:r>
          </a:p>
        </p:txBody>
      </p:sp>
      <p:sp>
        <p:nvSpPr>
          <p:cNvPr id="16" name="refs-title">
            <a:extLst>
              <a:ext uri="{FF2B5EF4-FFF2-40B4-BE49-F238E27FC236}">
                <a16:creationId xmlns:a16="http://schemas.microsoft.com/office/drawing/2014/main" id="{78254943-1A6F-41FE-8A28-6A08D3D0F332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7" name="refs">
            <a:extLst>
              <a:ext uri="{FF2B5EF4-FFF2-40B4-BE49-F238E27FC236}">
                <a16:creationId xmlns:a16="http://schemas.microsoft.com/office/drawing/2014/main" id="{CCA1CF2D-6AC7-4910-8E2B-85B36DECB0EE}"/>
              </a:ext>
            </a:extLst>
          </p:cNvPr>
          <p:cNvSpPr>
            <a:spLocks noGrp="1"/>
          </p:cNvSpPr>
          <p:nvPr/>
        </p:nvSpPr>
        <p:spPr>
          <a:xfrm>
            <a:off x="990600" y="56007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CP →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Cumplimiento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de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Planificación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IN → Ingreso /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recepción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OUT → Salida /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despacho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PG → Premio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HPG → Horas del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grupo</a:t>
            </a:r>
            <a:r>
              <a:rPr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   HPI → Horas </a:t>
            </a:r>
            <a:r>
              <a:rPr sz="900" b="0" dirty="0" err="1">
                <a:solidFill>
                  <a:srgbClr val="374151"/>
                </a:solidFill>
                <a:latin typeface="Aptos"/>
                <a:ea typeface="Aptos"/>
                <a:cs typeface="Aptos"/>
              </a:rPr>
              <a:t>individuales</a:t>
            </a:r>
            <a:r>
              <a:rPr lang="es-ES" sz="9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PIA → Premio Individual Adicional</a:t>
            </a:r>
            <a:endParaRPr sz="900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12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-rule">
            <a:extLst>
              <a:ext uri="{FF2B5EF4-FFF2-40B4-BE49-F238E27FC236}">
                <a16:creationId xmlns:a16="http://schemas.microsoft.com/office/drawing/2014/main" id="{9809011C-0145-475E-9159-146041480FA8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11430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2" name="section-title">
            <a:extLst>
              <a:ext uri="{FF2B5EF4-FFF2-40B4-BE49-F238E27FC236}">
                <a16:creationId xmlns:a16="http://schemas.microsoft.com/office/drawing/2014/main" id="{4FA7CCB7-17E5-492E-8EB8-02A182358B7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Anexos</a:t>
            </a:r>
          </a:p>
        </p:txBody>
      </p:sp>
      <p:sp>
        <p:nvSpPr>
          <p:cNvPr id="3" name="section-subtitle">
            <a:extLst>
              <a:ext uri="{FF2B5EF4-FFF2-40B4-BE49-F238E27FC236}">
                <a16:creationId xmlns:a16="http://schemas.microsoft.com/office/drawing/2014/main" id="{641D6013-72B2-4C97-9E96-9C421B8ECE98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Tablas de escalas propuestas</a:t>
            </a:r>
          </a:p>
        </p:txBody>
      </p:sp>
    </p:spTree>
    <p:extLst>
      <p:ext uri="{BB962C8B-B14F-4D97-AF65-F5344CB8AC3E}">
        <p14:creationId xmlns:p14="http://schemas.microsoft.com/office/powerpoint/2010/main" val="107754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34391AEA-E867-4F79-A86D-E0C3B468362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AF7D20-F95E-4E26-9FF1-24A538E233B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9A972DC-1793-4999-8DDF-B4EF4C2EBB8E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L-title">
            <a:extLst>
              <a:ext uri="{FF2B5EF4-FFF2-40B4-BE49-F238E27FC236}">
                <a16:creationId xmlns:a16="http://schemas.microsoft.com/office/drawing/2014/main" id="{9BA99D31-D460-440C-9B38-86E98BF916F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AL</a:t>
            </a:r>
          </a:p>
        </p:txBody>
      </p:sp>
      <p:sp>
        <p:nvSpPr>
          <p:cNvPr id="5" name="Sector AL-subtitle">
            <a:extLst>
              <a:ext uri="{FF2B5EF4-FFF2-40B4-BE49-F238E27FC236}">
                <a16:creationId xmlns:a16="http://schemas.microsoft.com/office/drawing/2014/main" id="{20353A43-B3E8-4B12-AFCD-DD072C74345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A2-title">
            <a:extLst>
              <a:ext uri="{FF2B5EF4-FFF2-40B4-BE49-F238E27FC236}">
                <a16:creationId xmlns:a16="http://schemas.microsoft.com/office/drawing/2014/main" id="{566DA867-4BB2-4ED2-8AC8-C594DBF6DA42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A2</a:t>
            </a:r>
          </a:p>
        </p:txBody>
      </p:sp>
      <p:sp>
        <p:nvSpPr>
          <p:cNvPr id="8" name="Sector A2-subtitle">
            <a:extLst>
              <a:ext uri="{FF2B5EF4-FFF2-40B4-BE49-F238E27FC236}">
                <a16:creationId xmlns:a16="http://schemas.microsoft.com/office/drawing/2014/main" id="{C2D77D9D-CCA7-4F20-8D26-795F73F4D822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A3-title">
            <a:extLst>
              <a:ext uri="{FF2B5EF4-FFF2-40B4-BE49-F238E27FC236}">
                <a16:creationId xmlns:a16="http://schemas.microsoft.com/office/drawing/2014/main" id="{AA8AAF93-2AC6-44E5-B032-A92C6F13F1A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A3</a:t>
            </a:r>
          </a:p>
        </p:txBody>
      </p:sp>
      <p:sp>
        <p:nvSpPr>
          <p:cNvPr id="11" name="Sector A3-subtitle">
            <a:extLst>
              <a:ext uri="{FF2B5EF4-FFF2-40B4-BE49-F238E27FC236}">
                <a16:creationId xmlns:a16="http://schemas.microsoft.com/office/drawing/2014/main" id="{EBEFFDDC-7F6E-4420-8FA3-8991C5537B1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0,93 | TN 18,5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654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528370B-3D2B-4801-AD18-E590E4C9D5B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5500E0-EF93-4667-9A78-86B8E102331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D9493033-C524-4A09-B4A1-DB557C91629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4-title">
            <a:extLst>
              <a:ext uri="{FF2B5EF4-FFF2-40B4-BE49-F238E27FC236}">
                <a16:creationId xmlns:a16="http://schemas.microsoft.com/office/drawing/2014/main" id="{D2097BE7-7B62-4CFA-B1D8-2497662F1C6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A4</a:t>
            </a:r>
          </a:p>
        </p:txBody>
      </p:sp>
      <p:sp>
        <p:nvSpPr>
          <p:cNvPr id="5" name="Sector A4-subtitle">
            <a:extLst>
              <a:ext uri="{FF2B5EF4-FFF2-40B4-BE49-F238E27FC236}">
                <a16:creationId xmlns:a16="http://schemas.microsoft.com/office/drawing/2014/main" id="{2222F9C3-FBD5-41F1-8B2E-8E3D2EE64CE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0,81 | TN 16,1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AS-title">
            <a:extLst>
              <a:ext uri="{FF2B5EF4-FFF2-40B4-BE49-F238E27FC236}">
                <a16:creationId xmlns:a16="http://schemas.microsoft.com/office/drawing/2014/main" id="{798CDB8B-D306-4C9D-8EC6-A86870A7B710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AS</a:t>
            </a:r>
          </a:p>
        </p:txBody>
      </p:sp>
      <p:sp>
        <p:nvSpPr>
          <p:cNvPr id="8" name="Sector AS-subtitle">
            <a:extLst>
              <a:ext uri="{FF2B5EF4-FFF2-40B4-BE49-F238E27FC236}">
                <a16:creationId xmlns:a16="http://schemas.microsoft.com/office/drawing/2014/main" id="{3E93D654-5017-419E-B6E4-76B32BB665CC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B1-title">
            <a:extLst>
              <a:ext uri="{FF2B5EF4-FFF2-40B4-BE49-F238E27FC236}">
                <a16:creationId xmlns:a16="http://schemas.microsoft.com/office/drawing/2014/main" id="{6199E828-6BB0-4838-A111-19305BB7590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B1</a:t>
            </a:r>
          </a:p>
        </p:txBody>
      </p:sp>
      <p:sp>
        <p:nvSpPr>
          <p:cNvPr id="11" name="Sector B1-subtitle">
            <a:extLst>
              <a:ext uri="{FF2B5EF4-FFF2-40B4-BE49-F238E27FC236}">
                <a16:creationId xmlns:a16="http://schemas.microsoft.com/office/drawing/2014/main" id="{CE342696-7011-4254-A225-1DE24170B3B6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sin TN histórico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869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4C6700F-F398-4144-9347-9A73CA50A04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049EB4-BFC4-47FE-B899-94C49E664A8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23179E7-9D2C-4CEE-8B19-FB53558AE07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B2-title">
            <a:extLst>
              <a:ext uri="{FF2B5EF4-FFF2-40B4-BE49-F238E27FC236}">
                <a16:creationId xmlns:a16="http://schemas.microsoft.com/office/drawing/2014/main" id="{D5618E99-A2AD-4DA5-A007-7DA25F4EC1B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B2</a:t>
            </a:r>
          </a:p>
        </p:txBody>
      </p:sp>
      <p:sp>
        <p:nvSpPr>
          <p:cNvPr id="5" name="Sector B2-subtitle">
            <a:extLst>
              <a:ext uri="{FF2B5EF4-FFF2-40B4-BE49-F238E27FC236}">
                <a16:creationId xmlns:a16="http://schemas.microsoft.com/office/drawing/2014/main" id="{1A9F405F-3A43-48A0-ADED-15FA0308E65E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0,84 | TN 16,7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232,6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B3-title">
            <a:extLst>
              <a:ext uri="{FF2B5EF4-FFF2-40B4-BE49-F238E27FC236}">
                <a16:creationId xmlns:a16="http://schemas.microsoft.com/office/drawing/2014/main" id="{D40DDE23-123B-4562-B13B-27DFBF9DB5B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B3</a:t>
            </a:r>
          </a:p>
        </p:txBody>
      </p:sp>
      <p:sp>
        <p:nvSpPr>
          <p:cNvPr id="8" name="Sector B3-subtitle">
            <a:extLst>
              <a:ext uri="{FF2B5EF4-FFF2-40B4-BE49-F238E27FC236}">
                <a16:creationId xmlns:a16="http://schemas.microsoft.com/office/drawing/2014/main" id="{7D52DF4C-3DE5-497F-844E-CED7315D0346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0,85 | TN 16,9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407,2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BE-title">
            <a:extLst>
              <a:ext uri="{FF2B5EF4-FFF2-40B4-BE49-F238E27FC236}">
                <a16:creationId xmlns:a16="http://schemas.microsoft.com/office/drawing/2014/main" id="{826D68C2-40F6-40B5-B1E4-C0B599838FF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BE</a:t>
            </a:r>
          </a:p>
        </p:txBody>
      </p:sp>
      <p:sp>
        <p:nvSpPr>
          <p:cNvPr id="11" name="Sector BE-subtitle">
            <a:extLst>
              <a:ext uri="{FF2B5EF4-FFF2-40B4-BE49-F238E27FC236}">
                <a16:creationId xmlns:a16="http://schemas.microsoft.com/office/drawing/2014/main" id="{7A06AEED-6B4B-407B-9B8E-422D998464C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22,6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3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A71BDC7-3219-430A-A16C-0FBB3335501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E9C955-4668-4CC0-8FBD-27C8E26050E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3C668E5-BD36-45D6-A352-6980A4B0C75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CA-title">
            <a:extLst>
              <a:ext uri="{FF2B5EF4-FFF2-40B4-BE49-F238E27FC236}">
                <a16:creationId xmlns:a16="http://schemas.microsoft.com/office/drawing/2014/main" id="{91D0E789-B901-4E85-935C-F65386F5511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CA</a:t>
            </a:r>
          </a:p>
        </p:txBody>
      </p:sp>
      <p:sp>
        <p:nvSpPr>
          <p:cNvPr id="5" name="Sector CA-subtitle">
            <a:extLst>
              <a:ext uri="{FF2B5EF4-FFF2-40B4-BE49-F238E27FC236}">
                <a16:creationId xmlns:a16="http://schemas.microsoft.com/office/drawing/2014/main" id="{30BFAEF1-7E0A-481B-A458-33200DFB904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0,86 | TN 17,0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CH-title">
            <a:extLst>
              <a:ext uri="{FF2B5EF4-FFF2-40B4-BE49-F238E27FC236}">
                <a16:creationId xmlns:a16="http://schemas.microsoft.com/office/drawing/2014/main" id="{D8A55FA6-79AF-4671-8F24-94E9092DAC19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CH</a:t>
            </a:r>
          </a:p>
        </p:txBody>
      </p:sp>
      <p:sp>
        <p:nvSpPr>
          <p:cNvPr id="8" name="Sector CH-subtitle">
            <a:extLst>
              <a:ext uri="{FF2B5EF4-FFF2-40B4-BE49-F238E27FC236}">
                <a16:creationId xmlns:a16="http://schemas.microsoft.com/office/drawing/2014/main" id="{443BF374-3369-4922-8212-82FFD3C1CE8D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1,14 | TN 22,7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171,4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303,6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CP-title">
            <a:extLst>
              <a:ext uri="{FF2B5EF4-FFF2-40B4-BE49-F238E27FC236}">
                <a16:creationId xmlns:a16="http://schemas.microsoft.com/office/drawing/2014/main" id="{CBEA5A2C-B967-4594-8232-222C2E378BB2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CP</a:t>
            </a:r>
          </a:p>
        </p:txBody>
      </p:sp>
      <p:sp>
        <p:nvSpPr>
          <p:cNvPr id="11" name="Sector CP-subtitle">
            <a:extLst>
              <a:ext uri="{FF2B5EF4-FFF2-40B4-BE49-F238E27FC236}">
                <a16:creationId xmlns:a16="http://schemas.microsoft.com/office/drawing/2014/main" id="{757F71E6-82A6-4556-B2DF-C0623C7D3AF2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1,15 | sin TN histórico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209,9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210,0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58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309241E-CD58-4D30-A518-C9EC6A007188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A284570-9EFE-4EB9-915C-FE6AD74CE3A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C7FB0E1-F520-49B7-BF33-1F766D2AAB3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HA-title">
            <a:extLst>
              <a:ext uri="{FF2B5EF4-FFF2-40B4-BE49-F238E27FC236}">
                <a16:creationId xmlns:a16="http://schemas.microsoft.com/office/drawing/2014/main" id="{7B054E56-D45A-4026-B6DA-ADD24FFE705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HA</a:t>
            </a:r>
          </a:p>
        </p:txBody>
      </p:sp>
      <p:sp>
        <p:nvSpPr>
          <p:cNvPr id="5" name="Sector HA-subtitle">
            <a:extLst>
              <a:ext uri="{FF2B5EF4-FFF2-40B4-BE49-F238E27FC236}">
                <a16:creationId xmlns:a16="http://schemas.microsoft.com/office/drawing/2014/main" id="{D3233067-98B7-4A57-8944-1D512B7485B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1,01 | sin TN histórico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IN-title">
            <a:extLst>
              <a:ext uri="{FF2B5EF4-FFF2-40B4-BE49-F238E27FC236}">
                <a16:creationId xmlns:a16="http://schemas.microsoft.com/office/drawing/2014/main" id="{E810667C-FA1C-49BD-8CB0-470C0BCE1B3B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IN</a:t>
            </a:r>
          </a:p>
        </p:txBody>
      </p:sp>
      <p:sp>
        <p:nvSpPr>
          <p:cNvPr id="8" name="Sector IN-subtitle">
            <a:extLst>
              <a:ext uri="{FF2B5EF4-FFF2-40B4-BE49-F238E27FC236}">
                <a16:creationId xmlns:a16="http://schemas.microsoft.com/office/drawing/2014/main" id="{374ACCDE-1F2A-46FF-9441-B7F3FD17E7B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22,4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KC-title">
            <a:extLst>
              <a:ext uri="{FF2B5EF4-FFF2-40B4-BE49-F238E27FC236}">
                <a16:creationId xmlns:a16="http://schemas.microsoft.com/office/drawing/2014/main" id="{2968A3E2-E28E-48E8-BAEA-8F796DDCF093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KC</a:t>
            </a:r>
          </a:p>
        </p:txBody>
      </p:sp>
      <p:sp>
        <p:nvSpPr>
          <p:cNvPr id="11" name="Sector KC-subtitle">
            <a:extLst>
              <a:ext uri="{FF2B5EF4-FFF2-40B4-BE49-F238E27FC236}">
                <a16:creationId xmlns:a16="http://schemas.microsoft.com/office/drawing/2014/main" id="{9B7C80C2-C428-4AD8-AEAB-F0B7583A953B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778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FBD5461E-B94E-40AC-B232-8A09484CFEF4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58E934B-D771-4A6C-80E2-87EF689490D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9B463C3-CCD9-4EAA-9BDE-A79055BA553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KN-title">
            <a:extLst>
              <a:ext uri="{FF2B5EF4-FFF2-40B4-BE49-F238E27FC236}">
                <a16:creationId xmlns:a16="http://schemas.microsoft.com/office/drawing/2014/main" id="{8938C3B9-8AEC-4B3E-BB29-97CA6E83C32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KN</a:t>
            </a:r>
          </a:p>
        </p:txBody>
      </p:sp>
      <p:sp>
        <p:nvSpPr>
          <p:cNvPr id="5" name="Sector KN-subtitle">
            <a:extLst>
              <a:ext uri="{FF2B5EF4-FFF2-40B4-BE49-F238E27FC236}">
                <a16:creationId xmlns:a16="http://schemas.microsoft.com/office/drawing/2014/main" id="{A491F47F-88A7-480E-AB9D-E1B31EBB371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19,9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KT-title">
            <a:extLst>
              <a:ext uri="{FF2B5EF4-FFF2-40B4-BE49-F238E27FC236}">
                <a16:creationId xmlns:a16="http://schemas.microsoft.com/office/drawing/2014/main" id="{370CFA25-E5EC-4178-8005-1B1DB4E3C90E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KT</a:t>
            </a:r>
          </a:p>
        </p:txBody>
      </p:sp>
      <p:sp>
        <p:nvSpPr>
          <p:cNvPr id="8" name="Sector KT-subtitle">
            <a:extLst>
              <a:ext uri="{FF2B5EF4-FFF2-40B4-BE49-F238E27FC236}">
                <a16:creationId xmlns:a16="http://schemas.microsoft.com/office/drawing/2014/main" id="{FC4C3446-9C39-403F-AF14-E45682C4296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1,19 | sin TN histórico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A-title">
            <a:extLst>
              <a:ext uri="{FF2B5EF4-FFF2-40B4-BE49-F238E27FC236}">
                <a16:creationId xmlns:a16="http://schemas.microsoft.com/office/drawing/2014/main" id="{843F03C0-8D3B-4F28-BD1D-713B96C989D1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NA</a:t>
            </a:r>
          </a:p>
        </p:txBody>
      </p:sp>
      <p:sp>
        <p:nvSpPr>
          <p:cNvPr id="11" name="Sector NA-subtitle">
            <a:extLst>
              <a:ext uri="{FF2B5EF4-FFF2-40B4-BE49-F238E27FC236}">
                <a16:creationId xmlns:a16="http://schemas.microsoft.com/office/drawing/2014/main" id="{B897BDC0-AFCF-419E-BFF5-45E51DA7A2AA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881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5E802EB-D2A6-4717-8E52-C4E31202BAB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0200229-F6CB-4B4B-AB1E-4E21C8A3DCA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EEC0E33-6FB2-4F52-8E32-819BC90E44A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NP-title">
            <a:extLst>
              <a:ext uri="{FF2B5EF4-FFF2-40B4-BE49-F238E27FC236}">
                <a16:creationId xmlns:a16="http://schemas.microsoft.com/office/drawing/2014/main" id="{971927BB-F99E-40BA-9884-2FC65A1CFA8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NP</a:t>
            </a:r>
          </a:p>
        </p:txBody>
      </p:sp>
      <p:sp>
        <p:nvSpPr>
          <p:cNvPr id="5" name="Sector NP-subtitle">
            <a:extLst>
              <a:ext uri="{FF2B5EF4-FFF2-40B4-BE49-F238E27FC236}">
                <a16:creationId xmlns:a16="http://schemas.microsoft.com/office/drawing/2014/main" id="{51164FFF-EBBD-4BB9-917B-9E5C942A5A8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0,71 | TN 14,1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340,2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394,4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487,5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OF-title">
            <a:extLst>
              <a:ext uri="{FF2B5EF4-FFF2-40B4-BE49-F238E27FC236}">
                <a16:creationId xmlns:a16="http://schemas.microsoft.com/office/drawing/2014/main" id="{1F6BF6F3-3221-4712-8CC5-423A26FA189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OF</a:t>
            </a:r>
          </a:p>
        </p:txBody>
      </p:sp>
      <p:sp>
        <p:nvSpPr>
          <p:cNvPr id="8" name="Sector OF-subtitle">
            <a:extLst>
              <a:ext uri="{FF2B5EF4-FFF2-40B4-BE49-F238E27FC236}">
                <a16:creationId xmlns:a16="http://schemas.microsoft.com/office/drawing/2014/main" id="{564D6865-F86B-477C-B363-733D19F398C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0,96 | TN 19,1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227,6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360,6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P1-title">
            <a:extLst>
              <a:ext uri="{FF2B5EF4-FFF2-40B4-BE49-F238E27FC236}">
                <a16:creationId xmlns:a16="http://schemas.microsoft.com/office/drawing/2014/main" id="{A7C9F0F0-F25D-4463-B93F-C0D556F139C2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P1</a:t>
            </a:r>
          </a:p>
        </p:txBody>
      </p:sp>
      <p:sp>
        <p:nvSpPr>
          <p:cNvPr id="11" name="Sector P1-subtitle">
            <a:extLst>
              <a:ext uri="{FF2B5EF4-FFF2-40B4-BE49-F238E27FC236}">
                <a16:creationId xmlns:a16="http://schemas.microsoft.com/office/drawing/2014/main" id="{30D1707C-A2FD-4017-BF1F-814D5732FB98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1,12 | TN 22,3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73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5205E13-73CC-43E4-8B13-61CC8A67AE1C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7059DD-55AF-47C5-A01D-49BEF68DE86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41DE9648-FD7E-49FA-89E0-43B6EE5D127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3-title">
            <a:extLst>
              <a:ext uri="{FF2B5EF4-FFF2-40B4-BE49-F238E27FC236}">
                <a16:creationId xmlns:a16="http://schemas.microsoft.com/office/drawing/2014/main" id="{DF3FA269-71A8-4C80-B641-1A40AA14457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P3</a:t>
            </a:r>
          </a:p>
        </p:txBody>
      </p:sp>
      <p:sp>
        <p:nvSpPr>
          <p:cNvPr id="5" name="Sector P3-subtitle">
            <a:extLst>
              <a:ext uri="{FF2B5EF4-FFF2-40B4-BE49-F238E27FC236}">
                <a16:creationId xmlns:a16="http://schemas.microsoft.com/office/drawing/2014/main" id="{1AE527C4-7C76-44AF-873E-38B3075CDB7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0,68 | TN 13,6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355,2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509,0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PE-title">
            <a:extLst>
              <a:ext uri="{FF2B5EF4-FFF2-40B4-BE49-F238E27FC236}">
                <a16:creationId xmlns:a16="http://schemas.microsoft.com/office/drawing/2014/main" id="{35B0E037-A3B2-406C-AE88-DCC94B0084B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PE</a:t>
            </a:r>
          </a:p>
        </p:txBody>
      </p:sp>
      <p:sp>
        <p:nvSpPr>
          <p:cNvPr id="8" name="Sector PE-subtitle">
            <a:extLst>
              <a:ext uri="{FF2B5EF4-FFF2-40B4-BE49-F238E27FC236}">
                <a16:creationId xmlns:a16="http://schemas.microsoft.com/office/drawing/2014/main" id="{A8503163-07FA-479B-87B7-C7853624546A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1,13 | TN 22,5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SF-title">
            <a:extLst>
              <a:ext uri="{FF2B5EF4-FFF2-40B4-BE49-F238E27FC236}">
                <a16:creationId xmlns:a16="http://schemas.microsoft.com/office/drawing/2014/main" id="{8D55CC59-A1D0-42FA-A3CC-E52A2357E5D8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SF</a:t>
            </a:r>
          </a:p>
        </p:txBody>
      </p:sp>
      <p:sp>
        <p:nvSpPr>
          <p:cNvPr id="11" name="Sector SF-subtitle">
            <a:extLst>
              <a:ext uri="{FF2B5EF4-FFF2-40B4-BE49-F238E27FC236}">
                <a16:creationId xmlns:a16="http://schemas.microsoft.com/office/drawing/2014/main" id="{15330D08-D2F9-4380-AC27-5AB14085C855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0,99 | TN 19,6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173,9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197,4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220,7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244,0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2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2C62BA59-49CA-4625-8C72-DD6C94BC0FC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6E51699-60FD-4B17-A691-CFC3B1376AFB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360BEB9-9CF7-407D-9747-2651FEBE747C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AM-title">
            <a:extLst>
              <a:ext uri="{FF2B5EF4-FFF2-40B4-BE49-F238E27FC236}">
                <a16:creationId xmlns:a16="http://schemas.microsoft.com/office/drawing/2014/main" id="{3BD46B51-C5D5-46E4-BEC5-9D862B4D2DB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AM</a:t>
            </a:r>
          </a:p>
        </p:txBody>
      </p:sp>
      <p:sp>
        <p:nvSpPr>
          <p:cNvPr id="5" name="Sector AM-subtitle">
            <a:extLst>
              <a:ext uri="{FF2B5EF4-FFF2-40B4-BE49-F238E27FC236}">
                <a16:creationId xmlns:a16="http://schemas.microsoft.com/office/drawing/2014/main" id="{1EFF4B16-41AA-449A-B3B1-BAC07256CF4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1,10 | TN 21,9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156,6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198,6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219,6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B5-title">
            <a:extLst>
              <a:ext uri="{FF2B5EF4-FFF2-40B4-BE49-F238E27FC236}">
                <a16:creationId xmlns:a16="http://schemas.microsoft.com/office/drawing/2014/main" id="{5DCD40E8-9E35-4C73-85B1-C4A454BE8F6D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B5</a:t>
            </a:r>
          </a:p>
        </p:txBody>
      </p:sp>
      <p:sp>
        <p:nvSpPr>
          <p:cNvPr id="8" name="Sector B5-subtitle">
            <a:extLst>
              <a:ext uri="{FF2B5EF4-FFF2-40B4-BE49-F238E27FC236}">
                <a16:creationId xmlns:a16="http://schemas.microsoft.com/office/drawing/2014/main" id="{82B92F43-F121-42CB-B095-2D9B03FED31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1,00 | TN 19,9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346,2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CU-title">
            <a:extLst>
              <a:ext uri="{FF2B5EF4-FFF2-40B4-BE49-F238E27FC236}">
                <a16:creationId xmlns:a16="http://schemas.microsoft.com/office/drawing/2014/main" id="{D82DCF10-655C-4027-8A95-5CD190CFBBD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CU</a:t>
            </a:r>
          </a:p>
        </p:txBody>
      </p:sp>
      <p:sp>
        <p:nvSpPr>
          <p:cNvPr id="11" name="Sector CU-subtitle">
            <a:extLst>
              <a:ext uri="{FF2B5EF4-FFF2-40B4-BE49-F238E27FC236}">
                <a16:creationId xmlns:a16="http://schemas.microsoft.com/office/drawing/2014/main" id="{6021977A-BED1-49DF-B8A0-558E5AA8841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1,03 | TN 20,5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335,9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41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3717A40B-EA5F-4A2F-B22A-20250C22551A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F61158-CD4D-48A5-92DE-D6AFF83F996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17.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5B110A4-F0AF-4377-A46D-601B20DAD01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EC-title">
            <a:extLst>
              <a:ext uri="{FF2B5EF4-FFF2-40B4-BE49-F238E27FC236}">
                <a16:creationId xmlns:a16="http://schemas.microsoft.com/office/drawing/2014/main" id="{1DA1D665-92A2-402E-9703-2B4E46476D6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EC</a:t>
            </a:r>
          </a:p>
        </p:txBody>
      </p:sp>
      <p:sp>
        <p:nvSpPr>
          <p:cNvPr id="5" name="Sector EC-subtitle">
            <a:extLst>
              <a:ext uri="{FF2B5EF4-FFF2-40B4-BE49-F238E27FC236}">
                <a16:creationId xmlns:a16="http://schemas.microsoft.com/office/drawing/2014/main" id="{95F05942-8A99-47CD-869E-790E86544A6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1,02 | TN 19,2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339,4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EP-title">
            <a:extLst>
              <a:ext uri="{FF2B5EF4-FFF2-40B4-BE49-F238E27FC236}">
                <a16:creationId xmlns:a16="http://schemas.microsoft.com/office/drawing/2014/main" id="{1EB25ABA-8B29-4CE4-98BF-63A3D30A7B9B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EP</a:t>
            </a:r>
          </a:p>
        </p:txBody>
      </p:sp>
      <p:sp>
        <p:nvSpPr>
          <p:cNvPr id="8" name="Sector EP-subtitle">
            <a:extLst>
              <a:ext uri="{FF2B5EF4-FFF2-40B4-BE49-F238E27FC236}">
                <a16:creationId xmlns:a16="http://schemas.microsoft.com/office/drawing/2014/main" id="{69CF4E10-3C0E-4913-B029-3B677C5486C8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0,90 | TN 18,0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384,6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JC-title">
            <a:extLst>
              <a:ext uri="{FF2B5EF4-FFF2-40B4-BE49-F238E27FC236}">
                <a16:creationId xmlns:a16="http://schemas.microsoft.com/office/drawing/2014/main" id="{46CDA520-F8DD-4175-9A32-3EB11E91BDF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JC</a:t>
            </a:r>
          </a:p>
        </p:txBody>
      </p:sp>
      <p:sp>
        <p:nvSpPr>
          <p:cNvPr id="11" name="Sector JC-subtitle">
            <a:extLst>
              <a:ext uri="{FF2B5EF4-FFF2-40B4-BE49-F238E27FC236}">
                <a16:creationId xmlns:a16="http://schemas.microsoft.com/office/drawing/2014/main" id="{4502001A-D1F0-4A41-89C7-FFA2DC6D149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0,79 | TN 15,7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217,9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276,5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354,4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438,2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11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F312431D-B2A8-4B68-9ADA-C15468C28BB2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B7C6FF-4E0E-49B4-BFC9-37AD0A4B983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1B1AED6-A272-42D7-BCA6-99B4C2432F07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LB-title">
            <a:extLst>
              <a:ext uri="{FF2B5EF4-FFF2-40B4-BE49-F238E27FC236}">
                <a16:creationId xmlns:a16="http://schemas.microsoft.com/office/drawing/2014/main" id="{853551FA-34D5-49BF-8F21-3ED04CEEF6B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LB</a:t>
            </a:r>
          </a:p>
        </p:txBody>
      </p:sp>
      <p:sp>
        <p:nvSpPr>
          <p:cNvPr id="5" name="Sector LB-subtitle">
            <a:extLst>
              <a:ext uri="{FF2B5EF4-FFF2-40B4-BE49-F238E27FC236}">
                <a16:creationId xmlns:a16="http://schemas.microsoft.com/office/drawing/2014/main" id="{C8CC8AD7-2C7C-47B6-ACA9-1F5909F029C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MU-title">
            <a:extLst>
              <a:ext uri="{FF2B5EF4-FFF2-40B4-BE49-F238E27FC236}">
                <a16:creationId xmlns:a16="http://schemas.microsoft.com/office/drawing/2014/main" id="{13F59887-7D6F-483D-9C36-38D90C694454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MU</a:t>
            </a:r>
          </a:p>
        </p:txBody>
      </p:sp>
      <p:sp>
        <p:nvSpPr>
          <p:cNvPr id="8" name="Sector MU-subtitle">
            <a:extLst>
              <a:ext uri="{FF2B5EF4-FFF2-40B4-BE49-F238E27FC236}">
                <a16:creationId xmlns:a16="http://schemas.microsoft.com/office/drawing/2014/main" id="{2416853F-20C6-4E88-B431-8A1AABAA9B69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1,88 | TN 37,4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103,9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116,2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184,1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1-title">
            <a:extLst>
              <a:ext uri="{FF2B5EF4-FFF2-40B4-BE49-F238E27FC236}">
                <a16:creationId xmlns:a16="http://schemas.microsoft.com/office/drawing/2014/main" id="{77382A5D-1A2F-4C12-B13E-86C802BA333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N1</a:t>
            </a:r>
          </a:p>
        </p:txBody>
      </p:sp>
      <p:sp>
        <p:nvSpPr>
          <p:cNvPr id="11" name="Sector N1-subtitle">
            <a:extLst>
              <a:ext uri="{FF2B5EF4-FFF2-40B4-BE49-F238E27FC236}">
                <a16:creationId xmlns:a16="http://schemas.microsoft.com/office/drawing/2014/main" id="{6161E7F8-179B-4C1F-9882-4A8A9DFC39E8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0,33 | TN 6,6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466,2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592,1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662,0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731,9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1.049,0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61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D3E88E76-4E5F-4F9E-B58E-000FDD5A30D1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1B239D-1914-475E-B96E-B0DAFB1119C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19.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B434CDB-46C2-4C79-95F2-4881A4F6A8CA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N2-title">
            <a:extLst>
              <a:ext uri="{FF2B5EF4-FFF2-40B4-BE49-F238E27FC236}">
                <a16:creationId xmlns:a16="http://schemas.microsoft.com/office/drawing/2014/main" id="{E127ADBF-D8A0-4305-8427-E22F9A71AC0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N2</a:t>
            </a:r>
          </a:p>
        </p:txBody>
      </p:sp>
      <p:sp>
        <p:nvSpPr>
          <p:cNvPr id="5" name="Sector N2-subtitle">
            <a:extLst>
              <a:ext uri="{FF2B5EF4-FFF2-40B4-BE49-F238E27FC236}">
                <a16:creationId xmlns:a16="http://schemas.microsoft.com/office/drawing/2014/main" id="{D1D2B828-8E43-459B-8AF7-799813ED927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0,46 | TN 9,1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334,4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374,6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424,7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525,1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608,7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752,5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NS-title">
            <a:extLst>
              <a:ext uri="{FF2B5EF4-FFF2-40B4-BE49-F238E27FC236}">
                <a16:creationId xmlns:a16="http://schemas.microsoft.com/office/drawing/2014/main" id="{0023BE6A-B8F5-459B-8A44-A18F897C20EE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NS</a:t>
            </a:r>
          </a:p>
        </p:txBody>
      </p:sp>
      <p:sp>
        <p:nvSpPr>
          <p:cNvPr id="8" name="Sector NS-subtitle">
            <a:extLst>
              <a:ext uri="{FF2B5EF4-FFF2-40B4-BE49-F238E27FC236}">
                <a16:creationId xmlns:a16="http://schemas.microsoft.com/office/drawing/2014/main" id="{0BCD50EF-685F-45BC-B144-B4C81E9E30DA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NT-title">
            <a:extLst>
              <a:ext uri="{FF2B5EF4-FFF2-40B4-BE49-F238E27FC236}">
                <a16:creationId xmlns:a16="http://schemas.microsoft.com/office/drawing/2014/main" id="{4D19850E-F7CA-44F3-B7D4-5AB8314EB08D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NT</a:t>
            </a:r>
          </a:p>
        </p:txBody>
      </p:sp>
      <p:sp>
        <p:nvSpPr>
          <p:cNvPr id="11" name="Sector NT-subtitle">
            <a:extLst>
              <a:ext uri="{FF2B5EF4-FFF2-40B4-BE49-F238E27FC236}">
                <a16:creationId xmlns:a16="http://schemas.microsoft.com/office/drawing/2014/main" id="{08673FDE-FAF9-4625-8275-F1065F0D173D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1,60 | TN 31,1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151,0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216,3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623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BD1B833E-615E-4596-B210-D39FF4217CE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71065F6-ACE0-42C1-A77B-73DA69D560C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20.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0182C57F-D7E0-486C-9E98-7B42E1FABC7B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I-title">
            <a:extLst>
              <a:ext uri="{FF2B5EF4-FFF2-40B4-BE49-F238E27FC236}">
                <a16:creationId xmlns:a16="http://schemas.microsoft.com/office/drawing/2014/main" id="{34D92607-7FC1-45D7-A418-E146C289DDF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PI</a:t>
            </a:r>
          </a:p>
        </p:txBody>
      </p:sp>
      <p:sp>
        <p:nvSpPr>
          <p:cNvPr id="5" name="Sector PI-subtitle">
            <a:extLst>
              <a:ext uri="{FF2B5EF4-FFF2-40B4-BE49-F238E27FC236}">
                <a16:creationId xmlns:a16="http://schemas.microsoft.com/office/drawing/2014/main" id="{D7A5FCE5-AAF2-4F91-9F06-B5ECA7EFD38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1,64 | TN 32,6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105,1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147,3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211,1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PT-title">
            <a:extLst>
              <a:ext uri="{FF2B5EF4-FFF2-40B4-BE49-F238E27FC236}">
                <a16:creationId xmlns:a16="http://schemas.microsoft.com/office/drawing/2014/main" id="{ABBA8C92-A66A-44BF-88B7-27D89D7B046C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PT</a:t>
            </a:r>
          </a:p>
        </p:txBody>
      </p:sp>
      <p:sp>
        <p:nvSpPr>
          <p:cNvPr id="8" name="Sector PT-subtitle">
            <a:extLst>
              <a:ext uri="{FF2B5EF4-FFF2-40B4-BE49-F238E27FC236}">
                <a16:creationId xmlns:a16="http://schemas.microsoft.com/office/drawing/2014/main" id="{D949B990-4FED-4460-B7E4-A3BE0AE0A36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0,30 | TN 5,9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512,8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574,4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651,3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728,2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805,1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933,3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TV-title">
            <a:extLst>
              <a:ext uri="{FF2B5EF4-FFF2-40B4-BE49-F238E27FC236}">
                <a16:creationId xmlns:a16="http://schemas.microsoft.com/office/drawing/2014/main" id="{DA1C16E8-127C-4885-9066-9E5A62C6C7F0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TV</a:t>
            </a:r>
          </a:p>
        </p:txBody>
      </p:sp>
      <p:sp>
        <p:nvSpPr>
          <p:cNvPr id="11" name="Sector TV-subtitle">
            <a:extLst>
              <a:ext uri="{FF2B5EF4-FFF2-40B4-BE49-F238E27FC236}">
                <a16:creationId xmlns:a16="http://schemas.microsoft.com/office/drawing/2014/main" id="{F42467D5-6CB0-408E-87E9-6C86E862CA9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0,60 | TN 11,8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258,6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289,6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328,4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366,9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367,2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405,9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470,6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581,8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8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E38C80B6-1A13-49FC-8E25-AD8133C0D9B5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740E6EE-DA98-45E8-8498-A70804BC225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89C1A41-785A-4EFE-BC29-E1A0028AADCD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VA-title">
            <a:extLst>
              <a:ext uri="{FF2B5EF4-FFF2-40B4-BE49-F238E27FC236}">
                <a16:creationId xmlns:a16="http://schemas.microsoft.com/office/drawing/2014/main" id="{F3A03FE0-30D4-4289-9002-E71F699C11F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VA</a:t>
            </a:r>
          </a:p>
        </p:txBody>
      </p:sp>
      <p:sp>
        <p:nvSpPr>
          <p:cNvPr id="5" name="Sector VA-subtitle">
            <a:extLst>
              <a:ext uri="{FF2B5EF4-FFF2-40B4-BE49-F238E27FC236}">
                <a16:creationId xmlns:a16="http://schemas.microsoft.com/office/drawing/2014/main" id="{EF5DB911-239C-45A6-A7F9-A608EA2EFF31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1,43 | TN 28,3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107,6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136,6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152,8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195,8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242,1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ector VN-title">
            <a:extLst>
              <a:ext uri="{FF2B5EF4-FFF2-40B4-BE49-F238E27FC236}">
                <a16:creationId xmlns:a16="http://schemas.microsoft.com/office/drawing/2014/main" id="{DE4B6F16-CFD8-4BB8-B19A-C017BE528A32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VN</a:t>
            </a:r>
          </a:p>
        </p:txBody>
      </p:sp>
      <p:sp>
        <p:nvSpPr>
          <p:cNvPr id="8" name="Sector VN-subtitle">
            <a:extLst>
              <a:ext uri="{FF2B5EF4-FFF2-40B4-BE49-F238E27FC236}">
                <a16:creationId xmlns:a16="http://schemas.microsoft.com/office/drawing/2014/main" id="{386D46C2-11D4-44B1-BFC1-35210CE2F31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0,91 | sin TN histórico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189,3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214,7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239,9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240,1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265,4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307,7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380,4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ector VT-title">
            <a:extLst>
              <a:ext uri="{FF2B5EF4-FFF2-40B4-BE49-F238E27FC236}">
                <a16:creationId xmlns:a16="http://schemas.microsoft.com/office/drawing/2014/main" id="{C0781677-3F63-48EC-94D1-FD2F32C78B3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VT</a:t>
            </a:r>
          </a:p>
        </p:txBody>
      </p:sp>
      <p:sp>
        <p:nvSpPr>
          <p:cNvPr id="11" name="Sector VT-subtitle">
            <a:extLst>
              <a:ext uri="{FF2B5EF4-FFF2-40B4-BE49-F238E27FC236}">
                <a16:creationId xmlns:a16="http://schemas.microsoft.com/office/drawing/2014/main" id="{48115520-80A0-4C3A-9843-D20EDF99E3F2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SECOS + NOA | Eq 1,38 | TN 27,3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0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111,5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141,6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$1.991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$2.783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175,0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202,9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$5.523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250,8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$8.013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958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987D609F-E35F-4E63-91FB-ED75B3D8EB0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41B134-44B4-4883-A8ED-2D6DCCA5776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22.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C257750-EDAE-43F4-9E55-D44B9ED0EE16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B-title">
            <a:extLst>
              <a:ext uri="{FF2B5EF4-FFF2-40B4-BE49-F238E27FC236}">
                <a16:creationId xmlns:a16="http://schemas.microsoft.com/office/drawing/2014/main" id="{E9FF71D7-8D0F-4F14-BB0A-0A13F93E439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FB</a:t>
            </a:r>
          </a:p>
        </p:txBody>
      </p:sp>
      <p:sp>
        <p:nvSpPr>
          <p:cNvPr id="5" name="Sector FB-subtitle">
            <a:extLst>
              <a:ext uri="{FF2B5EF4-FFF2-40B4-BE49-F238E27FC236}">
                <a16:creationId xmlns:a16="http://schemas.microsoft.com/office/drawing/2014/main" id="{BF73C442-A2E5-4127-9A49-D7B05696588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15,9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BA-title">
            <a:extLst>
              <a:ext uri="{FF2B5EF4-FFF2-40B4-BE49-F238E27FC236}">
                <a16:creationId xmlns:a16="http://schemas.microsoft.com/office/drawing/2014/main" id="{A9B2D845-B012-4376-9A47-8629CE17A3F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BA</a:t>
            </a:r>
          </a:p>
        </p:txBody>
      </p:sp>
      <p:sp>
        <p:nvSpPr>
          <p:cNvPr id="8" name="Sector BA-subtitle">
            <a:extLst>
              <a:ext uri="{FF2B5EF4-FFF2-40B4-BE49-F238E27FC236}">
                <a16:creationId xmlns:a16="http://schemas.microsoft.com/office/drawing/2014/main" id="{E7D27D8A-4FA4-42DF-9215-AF798F022753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F1-title">
            <a:extLst>
              <a:ext uri="{FF2B5EF4-FFF2-40B4-BE49-F238E27FC236}">
                <a16:creationId xmlns:a16="http://schemas.microsoft.com/office/drawing/2014/main" id="{6627634A-3BA3-4B31-A2D8-4AC5ACA8F965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F1</a:t>
            </a:r>
          </a:p>
        </p:txBody>
      </p:sp>
      <p:sp>
        <p:nvSpPr>
          <p:cNvPr id="11" name="Sector F1-subtitle">
            <a:extLst>
              <a:ext uri="{FF2B5EF4-FFF2-40B4-BE49-F238E27FC236}">
                <a16:creationId xmlns:a16="http://schemas.microsoft.com/office/drawing/2014/main" id="{B4156CF5-AEA6-45A5-8CE9-D04BFAC35554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19,6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123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1C0EDF05-9676-4F1E-8410-6B2739A4785B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831EF43-F17F-4E53-ABDE-3274C03DA9F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23.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5E309B6-8254-4526-AEF7-ED4B6FAAFD23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2-title">
            <a:extLst>
              <a:ext uri="{FF2B5EF4-FFF2-40B4-BE49-F238E27FC236}">
                <a16:creationId xmlns:a16="http://schemas.microsoft.com/office/drawing/2014/main" id="{AEFD371C-FBA4-45F1-90A7-42FB15885AA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F2</a:t>
            </a:r>
          </a:p>
        </p:txBody>
      </p:sp>
      <p:sp>
        <p:nvSpPr>
          <p:cNvPr id="5" name="Sector F2-subtitle">
            <a:extLst>
              <a:ext uri="{FF2B5EF4-FFF2-40B4-BE49-F238E27FC236}">
                <a16:creationId xmlns:a16="http://schemas.microsoft.com/office/drawing/2014/main" id="{C898FBB3-2FB3-44CF-ABD4-B06F4CB416B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15,3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FC-title">
            <a:extLst>
              <a:ext uri="{FF2B5EF4-FFF2-40B4-BE49-F238E27FC236}">
                <a16:creationId xmlns:a16="http://schemas.microsoft.com/office/drawing/2014/main" id="{5548EE64-C6C2-4F16-8525-27048732317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FC</a:t>
            </a:r>
          </a:p>
        </p:txBody>
      </p:sp>
      <p:sp>
        <p:nvSpPr>
          <p:cNvPr id="8" name="Sector FC-subtitle">
            <a:extLst>
              <a:ext uri="{FF2B5EF4-FFF2-40B4-BE49-F238E27FC236}">
                <a16:creationId xmlns:a16="http://schemas.microsoft.com/office/drawing/2014/main" id="{F622A86B-4883-4FB2-A2FB-F199819A30EF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TN 19,3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VE-title">
            <a:extLst>
              <a:ext uri="{FF2B5EF4-FFF2-40B4-BE49-F238E27FC236}">
                <a16:creationId xmlns:a16="http://schemas.microsoft.com/office/drawing/2014/main" id="{D0C05AE2-B323-451E-B9B2-EB3645E5070C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VE</a:t>
            </a:r>
          </a:p>
        </p:txBody>
      </p:sp>
      <p:sp>
        <p:nvSpPr>
          <p:cNvPr id="11" name="Sector VE-subtitle">
            <a:extLst>
              <a:ext uri="{FF2B5EF4-FFF2-40B4-BE49-F238E27FC236}">
                <a16:creationId xmlns:a16="http://schemas.microsoft.com/office/drawing/2014/main" id="{5564AB5F-9C2E-4F28-8D8D-F9BB28B4118C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CAMARA 06 | Eq 1,00 | sin TN histórico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67,7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73,8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99,8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100,0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161,7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35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B15420F4-7A53-4590-9BFE-E113BC4DB786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3672E22-94B5-41F7-958D-FBC0C553C2C2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24.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00F5A04-299D-4169-9F17-AB8034A0A8CD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CF-title">
            <a:extLst>
              <a:ext uri="{FF2B5EF4-FFF2-40B4-BE49-F238E27FC236}">
                <a16:creationId xmlns:a16="http://schemas.microsoft.com/office/drawing/2014/main" id="{F99FC139-5208-4E85-8746-D38683360B3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CF</a:t>
            </a:r>
          </a:p>
        </p:txBody>
      </p:sp>
      <p:sp>
        <p:nvSpPr>
          <p:cNvPr id="5" name="Sector CF-subtitle">
            <a:extLst>
              <a:ext uri="{FF2B5EF4-FFF2-40B4-BE49-F238E27FC236}">
                <a16:creationId xmlns:a16="http://schemas.microsoft.com/office/drawing/2014/main" id="{9E6C3288-1F51-42BD-AAE0-C7BFE1FF823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26,9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CO-title">
            <a:extLst>
              <a:ext uri="{FF2B5EF4-FFF2-40B4-BE49-F238E27FC236}">
                <a16:creationId xmlns:a16="http://schemas.microsoft.com/office/drawing/2014/main" id="{4BDAC4D5-EB76-42AA-853C-9688BD7095A1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CO</a:t>
            </a:r>
          </a:p>
        </p:txBody>
      </p:sp>
      <p:sp>
        <p:nvSpPr>
          <p:cNvPr id="8" name="Sector CO-subtitle">
            <a:extLst>
              <a:ext uri="{FF2B5EF4-FFF2-40B4-BE49-F238E27FC236}">
                <a16:creationId xmlns:a16="http://schemas.microsoft.com/office/drawing/2014/main" id="{43FC5810-1791-4E28-9A19-D2B4C6154225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18,7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F4-title">
            <a:extLst>
              <a:ext uri="{FF2B5EF4-FFF2-40B4-BE49-F238E27FC236}">
                <a16:creationId xmlns:a16="http://schemas.microsoft.com/office/drawing/2014/main" id="{A6E40EF3-E7CC-43A3-B6BD-65215ADB82A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F4</a:t>
            </a:r>
          </a:p>
        </p:txBody>
      </p:sp>
      <p:sp>
        <p:nvSpPr>
          <p:cNvPr id="11" name="Sector F4-subtitle">
            <a:extLst>
              <a:ext uri="{FF2B5EF4-FFF2-40B4-BE49-F238E27FC236}">
                <a16:creationId xmlns:a16="http://schemas.microsoft.com/office/drawing/2014/main" id="{A7C3DA28-2FF0-426D-BE5D-4FE360B0AAE5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14,1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107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A0D628C0-231E-4CDB-B131-BCFCEA49DAA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09290CB-3272-4F60-A32C-4567AFC9121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A3B7D2A-6610-46A0-8BAF-3E647676120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FQ-title">
            <a:extLst>
              <a:ext uri="{FF2B5EF4-FFF2-40B4-BE49-F238E27FC236}">
                <a16:creationId xmlns:a16="http://schemas.microsoft.com/office/drawing/2014/main" id="{28D28D9B-D676-4B2F-8E6E-C3F561F95C7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FQ</a:t>
            </a:r>
          </a:p>
        </p:txBody>
      </p:sp>
      <p:sp>
        <p:nvSpPr>
          <p:cNvPr id="5" name="Sector FQ-subtitle">
            <a:extLst>
              <a:ext uri="{FF2B5EF4-FFF2-40B4-BE49-F238E27FC236}">
                <a16:creationId xmlns:a16="http://schemas.microsoft.com/office/drawing/2014/main" id="{8150A556-B86C-4E26-B841-96E2B8E2EEA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19,2 seg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HE-title">
            <a:extLst>
              <a:ext uri="{FF2B5EF4-FFF2-40B4-BE49-F238E27FC236}">
                <a16:creationId xmlns:a16="http://schemas.microsoft.com/office/drawing/2014/main" id="{2FF3EC2D-78AD-42E6-8F2D-F3B18A043883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HE</a:t>
            </a:r>
          </a:p>
        </p:txBody>
      </p:sp>
      <p:sp>
        <p:nvSpPr>
          <p:cNvPr id="8" name="Sector HE-subtitle">
            <a:extLst>
              <a:ext uri="{FF2B5EF4-FFF2-40B4-BE49-F238E27FC236}">
                <a16:creationId xmlns:a16="http://schemas.microsoft.com/office/drawing/2014/main" id="{EF1F1164-85BA-4E95-9851-AFDD73F4553E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10,6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HU-title">
            <a:extLst>
              <a:ext uri="{FF2B5EF4-FFF2-40B4-BE49-F238E27FC236}">
                <a16:creationId xmlns:a16="http://schemas.microsoft.com/office/drawing/2014/main" id="{8D8A0EEE-623C-4CB6-A70A-B0DEA443B9B4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HU</a:t>
            </a:r>
          </a:p>
        </p:txBody>
      </p:sp>
      <p:sp>
        <p:nvSpPr>
          <p:cNvPr id="11" name="Sector HU-subtitle">
            <a:extLst>
              <a:ext uri="{FF2B5EF4-FFF2-40B4-BE49-F238E27FC236}">
                <a16:creationId xmlns:a16="http://schemas.microsoft.com/office/drawing/2014/main" id="{2156E3D4-C490-4D5A-BBDF-A9FFA1BC8B6B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17,3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058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818B937A-69AE-4E13-BE7C-F0D1DCBF54B7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0CB60C2-D903-4AB7-9FF2-8F74A66C223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26.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20B050B-C8DF-4F02-A163-6763D76AB3E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KR-title">
            <a:extLst>
              <a:ext uri="{FF2B5EF4-FFF2-40B4-BE49-F238E27FC236}">
                <a16:creationId xmlns:a16="http://schemas.microsoft.com/office/drawing/2014/main" id="{6E5EC58B-1B58-4DB2-98F2-754C7C2B4CC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KR</a:t>
            </a:r>
          </a:p>
        </p:txBody>
      </p:sp>
      <p:sp>
        <p:nvSpPr>
          <p:cNvPr id="5" name="Sector KR-subtitle">
            <a:extLst>
              <a:ext uri="{FF2B5EF4-FFF2-40B4-BE49-F238E27FC236}">
                <a16:creationId xmlns:a16="http://schemas.microsoft.com/office/drawing/2014/main" id="{42C17A8E-AC63-4780-ABAF-7D7084FE8E79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sin TN histórico</a:t>
            </a:r>
          </a:p>
        </p:txBody>
      </p:sp>
      <p:graphicFrame>
        <p:nvGraphicFramePr>
          <p:cNvPr id="22" name="Tabla 17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ector MO-title">
            <a:extLst>
              <a:ext uri="{FF2B5EF4-FFF2-40B4-BE49-F238E27FC236}">
                <a16:creationId xmlns:a16="http://schemas.microsoft.com/office/drawing/2014/main" id="{1A24D8EF-DB6A-4741-B313-FE24D367C49A}"/>
              </a:ext>
            </a:extLst>
          </p:cNvPr>
          <p:cNvSpPr>
            <a:spLocks noGrp="1"/>
          </p:cNvSpPr>
          <p:nvPr/>
        </p:nvSpPr>
        <p:spPr>
          <a:xfrm>
            <a:off x="428625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MO</a:t>
            </a:r>
          </a:p>
        </p:txBody>
      </p:sp>
      <p:sp>
        <p:nvSpPr>
          <p:cNvPr id="8" name="Sector MO-subtitle">
            <a:extLst>
              <a:ext uri="{FF2B5EF4-FFF2-40B4-BE49-F238E27FC236}">
                <a16:creationId xmlns:a16="http://schemas.microsoft.com/office/drawing/2014/main" id="{6CDAD003-ACEC-4EC2-9E6A-2C180478370B}"/>
              </a:ext>
            </a:extLst>
          </p:cNvPr>
          <p:cNvSpPr>
            <a:spLocks noGrp="1"/>
          </p:cNvSpPr>
          <p:nvPr/>
        </p:nvSpPr>
        <p:spPr>
          <a:xfrm>
            <a:off x="428625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0,4 seg</a:t>
            </a:r>
          </a:p>
        </p:txBody>
      </p:sp>
      <p:graphicFrame>
        <p:nvGraphicFramePr>
          <p:cNvPr id="25" name="Tabla 20"/>
          <p:cNvGraphicFramePr/>
          <p:nvPr/>
        </p:nvGraphicFramePr>
        <p:xfrm>
          <a:off x="428625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ector P4-title">
            <a:extLst>
              <a:ext uri="{FF2B5EF4-FFF2-40B4-BE49-F238E27FC236}">
                <a16:creationId xmlns:a16="http://schemas.microsoft.com/office/drawing/2014/main" id="{53881786-8DA4-4734-B5DA-170B21508F9E}"/>
              </a:ext>
            </a:extLst>
          </p:cNvPr>
          <p:cNvSpPr>
            <a:spLocks noGrp="1"/>
          </p:cNvSpPr>
          <p:nvPr/>
        </p:nvSpPr>
        <p:spPr>
          <a:xfrm>
            <a:off x="79629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P4</a:t>
            </a:r>
          </a:p>
        </p:txBody>
      </p:sp>
      <p:sp>
        <p:nvSpPr>
          <p:cNvPr id="11" name="Sector P4-subtitle">
            <a:extLst>
              <a:ext uri="{FF2B5EF4-FFF2-40B4-BE49-F238E27FC236}">
                <a16:creationId xmlns:a16="http://schemas.microsoft.com/office/drawing/2014/main" id="{EFA2D00B-124A-44AF-9AEE-EB148A4B8216}"/>
              </a:ext>
            </a:extLst>
          </p:cNvPr>
          <p:cNvSpPr>
            <a:spLocks noGrp="1"/>
          </p:cNvSpPr>
          <p:nvPr/>
        </p:nvSpPr>
        <p:spPr>
          <a:xfrm>
            <a:off x="79629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25,0 seg</a:t>
            </a:r>
          </a:p>
        </p:txBody>
      </p:sp>
      <p:graphicFrame>
        <p:nvGraphicFramePr>
          <p:cNvPr id="28" name="Tabla 23"/>
          <p:cNvGraphicFramePr/>
          <p:nvPr/>
        </p:nvGraphicFramePr>
        <p:xfrm>
          <a:off x="79629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26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icker">
            <a:extLst>
              <a:ext uri="{FF2B5EF4-FFF2-40B4-BE49-F238E27FC236}">
                <a16:creationId xmlns:a16="http://schemas.microsoft.com/office/drawing/2014/main" id="{D24BA67B-8A81-43DF-A8C4-661081DBFA89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B732A17-54A7-4ACA-93DD-BCB6C7D6C41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27. Picking — tablas sectoriales explícitas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5209D20-A68F-4AC8-B781-6FB91CDAF81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Sector PA-title">
            <a:extLst>
              <a:ext uri="{FF2B5EF4-FFF2-40B4-BE49-F238E27FC236}">
                <a16:creationId xmlns:a16="http://schemas.microsoft.com/office/drawing/2014/main" id="{27395C0E-E18F-403C-BF44-A1750483B2C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 PA</a:t>
            </a:r>
          </a:p>
        </p:txBody>
      </p:sp>
      <p:sp>
        <p:nvSpPr>
          <p:cNvPr id="5" name="Sector PA-subtitle">
            <a:extLst>
              <a:ext uri="{FF2B5EF4-FFF2-40B4-BE49-F238E27FC236}">
                <a16:creationId xmlns:a16="http://schemas.microsoft.com/office/drawing/2014/main" id="{F650E46D-FD98-44FB-84DA-26989595485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3295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6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OTRAS CAMARAS | Eq 1,00 | TN 13,4 seg</a:t>
            </a:r>
          </a:p>
        </p:txBody>
      </p:sp>
      <p:graphicFrame>
        <p:nvGraphicFramePr>
          <p:cNvPr id="14" name="Tabla 11"/>
          <p:cNvGraphicFramePr/>
          <p:nvPr/>
        </p:nvGraphicFramePr>
        <p:xfrm>
          <a:off x="609600" y="1676400"/>
          <a:ext cx="3295651" cy="3143252"/>
        </p:xfrm>
        <a:graphic>
          <a:graphicData uri="http://schemas.openxmlformats.org/drawingml/2006/table">
            <a:tbl>
              <a:tblPr firstRow="1" bandRow="1"/>
              <a:tblGrid>
                <a:gridCol w="62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118,5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$740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127,7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$1.464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169,2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$1.631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230,9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1.538,5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11827"/>
                          </a:solidFill>
                        </a:rPr>
                        <a:t>$3.939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37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">
            <a:extLst>
              <a:ext uri="{FF2B5EF4-FFF2-40B4-BE49-F238E27FC236}">
                <a16:creationId xmlns:a16="http://schemas.microsoft.com/office/drawing/2014/main" id="{C0F4722E-64DE-4B94-85D1-218B395EBF50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B6E49FB-1758-45CD-A22D-77E33C4EB82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29. Tablas de escalas y premios — operaciones no Picking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DF1994B2-019C-4A16-AF7F-2E2B389F2309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arga — Secos/No Alimentarios-title">
            <a:extLst>
              <a:ext uri="{FF2B5EF4-FFF2-40B4-BE49-F238E27FC236}">
                <a16:creationId xmlns:a16="http://schemas.microsoft.com/office/drawing/2014/main" id="{E7638DF6-8BE6-4482-9C50-67D55D44FDA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Carga — Secos/No Alimentarios</a:t>
            </a:r>
          </a:p>
        </p:txBody>
      </p:sp>
      <p:graphicFrame>
        <p:nvGraphicFramePr>
          <p:cNvPr id="28" name="Tabla 20"/>
          <p:cNvGraphicFramePr/>
          <p:nvPr/>
        </p:nvGraphicFramePr>
        <p:xfrm>
          <a:off x="609600" y="1485900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$1.413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$3.278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$4.424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$7.009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$11.068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arreteo — General-title">
            <a:extLst>
              <a:ext uri="{FF2B5EF4-FFF2-40B4-BE49-F238E27FC236}">
                <a16:creationId xmlns:a16="http://schemas.microsoft.com/office/drawing/2014/main" id="{5BC617F5-88D6-462A-96B5-606F99017636}"/>
              </a:ext>
            </a:extLst>
          </p:cNvPr>
          <p:cNvSpPr>
            <a:spLocks noGrp="1"/>
          </p:cNvSpPr>
          <p:nvPr/>
        </p:nvSpPr>
        <p:spPr>
          <a:xfrm>
            <a:off x="443865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Carreteo — General</a:t>
            </a:r>
          </a:p>
        </p:txBody>
      </p:sp>
      <p:graphicFrame>
        <p:nvGraphicFramePr>
          <p:cNvPr id="30" name="Tabla 22"/>
          <p:cNvGraphicFramePr/>
          <p:nvPr/>
        </p:nvGraphicFramePr>
        <p:xfrm>
          <a:off x="4438650" y="1485900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38,0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$1.021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$2.368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70,5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$5.062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$7.942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lark — Secos + NOA-title">
            <a:extLst>
              <a:ext uri="{FF2B5EF4-FFF2-40B4-BE49-F238E27FC236}">
                <a16:creationId xmlns:a16="http://schemas.microsoft.com/office/drawing/2014/main" id="{0CC080BE-7627-4A26-A96B-6E90AB7F7053}"/>
              </a:ext>
            </a:extLst>
          </p:cNvPr>
          <p:cNvSpPr>
            <a:spLocks noGrp="1"/>
          </p:cNvSpPr>
          <p:nvPr/>
        </p:nvSpPr>
        <p:spPr>
          <a:xfrm>
            <a:off x="8267700" y="12001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Clark — Secos + NOA</a:t>
            </a:r>
          </a:p>
        </p:txBody>
      </p:sp>
      <p:graphicFrame>
        <p:nvGraphicFramePr>
          <p:cNvPr id="32" name="Tabla 24"/>
          <p:cNvGraphicFramePr/>
          <p:nvPr/>
        </p:nvGraphicFramePr>
        <p:xfrm>
          <a:off x="8267700" y="1485900"/>
          <a:ext cx="3257550" cy="1485897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14,8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19,1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$813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19,2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$2.409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$3.775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33,2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$5.964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Control CHP + CBF — Secos + NOA-title">
            <a:extLst>
              <a:ext uri="{FF2B5EF4-FFF2-40B4-BE49-F238E27FC236}">
                <a16:creationId xmlns:a16="http://schemas.microsoft.com/office/drawing/2014/main" id="{2D4C6041-AFCE-41AE-BAAF-10BEC4BD50D0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CHP + CBF — Secos + NOA</a:t>
            </a:r>
          </a:p>
        </p:txBody>
      </p:sp>
      <p:graphicFrame>
        <p:nvGraphicFramePr>
          <p:cNvPr id="34" name="Tabla 26"/>
          <p:cNvGraphicFramePr/>
          <p:nvPr/>
        </p:nvGraphicFramePr>
        <p:xfrm>
          <a:off x="609600" y="3857625"/>
          <a:ext cx="3257550" cy="1619248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06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153,7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153,8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176,8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176,9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211,8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212,0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254,5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$1.131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254,6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$1.703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286,2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492,3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$2.701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06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492,5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$6.317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epción NOA-title">
            <a:extLst>
              <a:ext uri="{FF2B5EF4-FFF2-40B4-BE49-F238E27FC236}">
                <a16:creationId xmlns:a16="http://schemas.microsoft.com/office/drawing/2014/main" id="{0658FF79-58F7-44DA-8BBC-721F1935A3D8}"/>
              </a:ext>
            </a:extLst>
          </p:cNvPr>
          <p:cNvSpPr>
            <a:spLocks noGrp="1"/>
          </p:cNvSpPr>
          <p:nvPr/>
        </p:nvSpPr>
        <p:spPr>
          <a:xfrm>
            <a:off x="443865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NOA</a:t>
            </a:r>
          </a:p>
        </p:txBody>
      </p:sp>
      <p:graphicFrame>
        <p:nvGraphicFramePr>
          <p:cNvPr id="36" name="Tabla 28"/>
          <p:cNvGraphicFramePr/>
          <p:nvPr/>
        </p:nvGraphicFramePr>
        <p:xfrm>
          <a:off x="4438650" y="3857625"/>
          <a:ext cx="3257550" cy="1352550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6,6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epción Secos-title">
            <a:extLst>
              <a:ext uri="{FF2B5EF4-FFF2-40B4-BE49-F238E27FC236}">
                <a16:creationId xmlns:a16="http://schemas.microsoft.com/office/drawing/2014/main" id="{EC9D8257-076F-47AA-B4D6-058CA402CFFB}"/>
              </a:ext>
            </a:extLst>
          </p:cNvPr>
          <p:cNvSpPr>
            <a:spLocks noGrp="1"/>
          </p:cNvSpPr>
          <p:nvPr/>
        </p:nvSpPr>
        <p:spPr>
          <a:xfrm>
            <a:off x="8267700" y="3571875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Secos</a:t>
            </a:r>
          </a:p>
        </p:txBody>
      </p:sp>
      <p:graphicFrame>
        <p:nvGraphicFramePr>
          <p:cNvPr id="38" name="Tabla 30"/>
          <p:cNvGraphicFramePr/>
          <p:nvPr/>
        </p:nvGraphicFramePr>
        <p:xfrm>
          <a:off x="8267700" y="3857625"/>
          <a:ext cx="3257550" cy="1352550"/>
        </p:xfrm>
        <a:graphic>
          <a:graphicData uri="http://schemas.openxmlformats.org/drawingml/2006/table">
            <a:tbl>
              <a:tblPr firstRow="1" bandRow="1"/>
              <a:tblGrid>
                <a:gridCol w="61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Nivel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Desde/h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Hasta/h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 b="1">
                          <a:solidFill>
                            <a:srgbClr val="111827"/>
                          </a:solidFill>
                        </a:rPr>
                        <a:t>Premio/h</a:t>
                      </a:r>
                    </a:p>
                  </a:txBody>
                  <a:tcPr>
                    <a:solidFill>
                      <a:srgbClr val="DD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8,8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8,9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11,8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$621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13,5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27,7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27,8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10">
                          <a:solidFill>
                            <a:srgbClr val="111827"/>
                          </a:solidFill>
                        </a:rPr>
                        <a:t>$2.781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flat-note">
            <a:extLst>
              <a:ext uri="{FF2B5EF4-FFF2-40B4-BE49-F238E27FC236}">
                <a16:creationId xmlns:a16="http://schemas.microsoft.com/office/drawing/2014/main" id="{CF30CB20-7D07-45B3-B9AC-E9D65F428F9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85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Escalas planas vigentes: Carga Refrigerados/Cámaras $453/h; Control Manual $544/h.</a:t>
            </a:r>
          </a:p>
        </p:txBody>
      </p:sp>
    </p:spTree>
    <p:extLst>
      <p:ext uri="{BB962C8B-B14F-4D97-AF65-F5344CB8AC3E}">
        <p14:creationId xmlns:p14="http://schemas.microsoft.com/office/powerpoint/2010/main" val="2114441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kicker">
            <a:extLst>
              <a:ext uri="{FF2B5EF4-FFF2-40B4-BE49-F238E27FC236}">
                <a16:creationId xmlns:a16="http://schemas.microsoft.com/office/drawing/2014/main" id="{1131B405-8616-4162-ABBE-570C6666C7E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 TABLAS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ABAF45-E5AC-4827-9EF0-83DB6C83E6A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30. Tabla de Premio Grupal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3406F5D-D83D-47A8-BECC-C4D949F67DCD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EEA091B1-0CCB-4663-B230-1E518939420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116330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formula-1">
            <a:extLst>
              <a:ext uri="{FF2B5EF4-FFF2-40B4-BE49-F238E27FC236}">
                <a16:creationId xmlns:a16="http://schemas.microsoft.com/office/drawing/2014/main" id="{4049632D-2AA8-4491-A26C-0E0F3AF59C6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= Premio base turno × Legajos participantes</a:t>
            </a:r>
          </a:p>
        </p:txBody>
      </p:sp>
      <p:sp>
        <p:nvSpPr>
          <p:cNvPr id="6" name="formula-2">
            <a:extLst>
              <a:ext uri="{FF2B5EF4-FFF2-40B4-BE49-F238E27FC236}">
                <a16:creationId xmlns:a16="http://schemas.microsoft.com/office/drawing/2014/main" id="{03742BE2-DA48-4469-BE0C-CD0362660269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Premio base turno = Promedio premios/h pagos × 6,5</a:t>
            </a:r>
          </a:p>
        </p:txBody>
      </p:sp>
      <p:sp>
        <p:nvSpPr>
          <p:cNvPr id="7" name="note">
            <a:extLst>
              <a:ext uri="{FF2B5EF4-FFF2-40B4-BE49-F238E27FC236}">
                <a16:creationId xmlns:a16="http://schemas.microsoft.com/office/drawing/2014/main" id="{FB4ECA1B-950B-43AD-96A3-3338FCB6159D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323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promedio considera solo niveles con premio mayor a cero. Picking usa AL como ancla.</a:t>
            </a:r>
          </a:p>
        </p:txBody>
      </p:sp>
      <p:sp>
        <p:nvSpPr>
          <p:cNvPr id="8" name="h-bg-0">
            <a:extLst>
              <a:ext uri="{FF2B5EF4-FFF2-40B4-BE49-F238E27FC236}">
                <a16:creationId xmlns:a16="http://schemas.microsoft.com/office/drawing/2014/main" id="{B2C4F92C-EEA6-44B7-8FA4-47105CF7253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1857375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h-0">
            <a:extLst>
              <a:ext uri="{FF2B5EF4-FFF2-40B4-BE49-F238E27FC236}">
                <a16:creationId xmlns:a16="http://schemas.microsoft.com/office/drawing/2014/main" id="{FF3867C9-7792-489D-855C-66794A55F3F2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10" name="h-bg-1">
            <a:extLst>
              <a:ext uri="{FF2B5EF4-FFF2-40B4-BE49-F238E27FC236}">
                <a16:creationId xmlns:a16="http://schemas.microsoft.com/office/drawing/2014/main" id="{0168D9BB-61EB-46CF-98B6-B13433817CBA}"/>
              </a:ext>
            </a:extLst>
          </p:cNvPr>
          <p:cNvSpPr>
            <a:spLocks noGrp="1"/>
          </p:cNvSpPr>
          <p:nvPr/>
        </p:nvSpPr>
        <p:spPr>
          <a:xfrm>
            <a:off x="2771775" y="2114550"/>
            <a:ext cx="1143000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h-1">
            <a:extLst>
              <a:ext uri="{FF2B5EF4-FFF2-40B4-BE49-F238E27FC236}">
                <a16:creationId xmlns:a16="http://schemas.microsoft.com/office/drawing/2014/main" id="{2FBAAA91-BA15-4D82-809F-AE35268D1AE1}"/>
              </a:ext>
            </a:extLst>
          </p:cNvPr>
          <p:cNvSpPr>
            <a:spLocks noGrp="1"/>
          </p:cNvSpPr>
          <p:nvPr/>
        </p:nvSpPr>
        <p:spPr>
          <a:xfrm>
            <a:off x="2847975" y="21907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Ancla</a:t>
            </a:r>
          </a:p>
        </p:txBody>
      </p:sp>
      <p:sp>
        <p:nvSpPr>
          <p:cNvPr id="12" name="h-bg-2">
            <a:extLst>
              <a:ext uri="{FF2B5EF4-FFF2-40B4-BE49-F238E27FC236}">
                <a16:creationId xmlns:a16="http://schemas.microsoft.com/office/drawing/2014/main" id="{169EAECA-C7EE-43E3-B410-7FCF6A80E611}"/>
              </a:ext>
            </a:extLst>
          </p:cNvPr>
          <p:cNvSpPr>
            <a:spLocks noGrp="1"/>
          </p:cNvSpPr>
          <p:nvPr/>
        </p:nvSpPr>
        <p:spPr>
          <a:xfrm>
            <a:off x="3914775" y="2114550"/>
            <a:ext cx="1619250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h-2">
            <a:extLst>
              <a:ext uri="{FF2B5EF4-FFF2-40B4-BE49-F238E27FC236}">
                <a16:creationId xmlns:a16="http://schemas.microsoft.com/office/drawing/2014/main" id="{5E114242-8051-4D00-A0BC-6BE1C254403B}"/>
              </a:ext>
            </a:extLst>
          </p:cNvPr>
          <p:cNvSpPr>
            <a:spLocks noGrp="1"/>
          </p:cNvSpPr>
          <p:nvPr/>
        </p:nvSpPr>
        <p:spPr>
          <a:xfrm>
            <a:off x="3990975" y="21907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Promedio/h</a:t>
            </a:r>
          </a:p>
        </p:txBody>
      </p:sp>
      <p:sp>
        <p:nvSpPr>
          <p:cNvPr id="14" name="h-bg-3">
            <a:extLst>
              <a:ext uri="{FF2B5EF4-FFF2-40B4-BE49-F238E27FC236}">
                <a16:creationId xmlns:a16="http://schemas.microsoft.com/office/drawing/2014/main" id="{CDA493E9-8234-4C2A-8FE1-6414D1E17BA3}"/>
              </a:ext>
            </a:extLst>
          </p:cNvPr>
          <p:cNvSpPr>
            <a:spLocks noGrp="1"/>
          </p:cNvSpPr>
          <p:nvPr/>
        </p:nvSpPr>
        <p:spPr>
          <a:xfrm>
            <a:off x="5534025" y="2114550"/>
            <a:ext cx="666750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h-3">
            <a:extLst>
              <a:ext uri="{FF2B5EF4-FFF2-40B4-BE49-F238E27FC236}">
                <a16:creationId xmlns:a16="http://schemas.microsoft.com/office/drawing/2014/main" id="{B4F755CA-5F76-40EF-96B8-E16753106318}"/>
              </a:ext>
            </a:extLst>
          </p:cNvPr>
          <p:cNvSpPr>
            <a:spLocks noGrp="1"/>
          </p:cNvSpPr>
          <p:nvPr/>
        </p:nvSpPr>
        <p:spPr>
          <a:xfrm>
            <a:off x="5610225" y="21907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FTE</a:t>
            </a:r>
          </a:p>
        </p:txBody>
      </p:sp>
      <p:sp>
        <p:nvSpPr>
          <p:cNvPr id="16" name="h-bg-4">
            <a:extLst>
              <a:ext uri="{FF2B5EF4-FFF2-40B4-BE49-F238E27FC236}">
                <a16:creationId xmlns:a16="http://schemas.microsoft.com/office/drawing/2014/main" id="{8D0DADD8-A8DB-49A6-BF52-2DBBBE46D3C6}"/>
              </a:ext>
            </a:extLst>
          </p:cNvPr>
          <p:cNvSpPr>
            <a:spLocks noGrp="1"/>
          </p:cNvSpPr>
          <p:nvPr/>
        </p:nvSpPr>
        <p:spPr>
          <a:xfrm>
            <a:off x="6200775" y="2114550"/>
            <a:ext cx="1619250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h-4">
            <a:extLst>
              <a:ext uri="{FF2B5EF4-FFF2-40B4-BE49-F238E27FC236}">
                <a16:creationId xmlns:a16="http://schemas.microsoft.com/office/drawing/2014/main" id="{387BCCB5-AEBF-4D3A-A675-E4DB62B37D82}"/>
              </a:ext>
            </a:extLst>
          </p:cNvPr>
          <p:cNvSpPr>
            <a:spLocks noGrp="1"/>
          </p:cNvSpPr>
          <p:nvPr/>
        </p:nvSpPr>
        <p:spPr>
          <a:xfrm>
            <a:off x="6276975" y="21907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turno</a:t>
            </a:r>
          </a:p>
        </p:txBody>
      </p:sp>
      <p:sp>
        <p:nvSpPr>
          <p:cNvPr id="18" name="h-bg-5">
            <a:extLst>
              <a:ext uri="{FF2B5EF4-FFF2-40B4-BE49-F238E27FC236}">
                <a16:creationId xmlns:a16="http://schemas.microsoft.com/office/drawing/2014/main" id="{DC1467FA-6A4E-4D96-A65B-2828109FA1D4}"/>
              </a:ext>
            </a:extLst>
          </p:cNvPr>
          <p:cNvSpPr>
            <a:spLocks noGrp="1"/>
          </p:cNvSpPr>
          <p:nvPr/>
        </p:nvSpPr>
        <p:spPr>
          <a:xfrm>
            <a:off x="7820025" y="2114550"/>
            <a:ext cx="2857500" cy="323850"/>
          </a:xfrm>
          <a:prstGeom prst="rect">
            <a:avLst/>
          </a:prstGeom>
          <a:solidFill>
            <a:srgbClr val="DDEFE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h-5">
            <a:extLst>
              <a:ext uri="{FF2B5EF4-FFF2-40B4-BE49-F238E27FC236}">
                <a16:creationId xmlns:a16="http://schemas.microsoft.com/office/drawing/2014/main" id="{28FDD4EC-182C-4485-BEEC-A6BB2E77178A}"/>
              </a:ext>
            </a:extLst>
          </p:cNvPr>
          <p:cNvSpPr>
            <a:spLocks noGrp="1"/>
          </p:cNvSpPr>
          <p:nvPr/>
        </p:nvSpPr>
        <p:spPr>
          <a:xfrm>
            <a:off x="7896225" y="219075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 del Premio Grupal</a:t>
            </a:r>
          </a:p>
        </p:txBody>
      </p:sp>
      <p:sp>
        <p:nvSpPr>
          <p:cNvPr id="20" name="cell-0-0">
            <a:extLst>
              <a:ext uri="{FF2B5EF4-FFF2-40B4-BE49-F238E27FC236}">
                <a16:creationId xmlns:a16="http://schemas.microsoft.com/office/drawing/2014/main" id="{EF24D5E1-C374-4FB0-9DC5-D014C533287A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1857375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xt-0-0">
            <a:extLst>
              <a:ext uri="{FF2B5EF4-FFF2-40B4-BE49-F238E27FC236}">
                <a16:creationId xmlns:a16="http://schemas.microsoft.com/office/drawing/2014/main" id="{E157A1B4-EF9E-4FEA-B60C-68FB493C049F}"/>
              </a:ext>
            </a:extLst>
          </p:cNvPr>
          <p:cNvSpPr>
            <a:spLocks noGrp="1"/>
          </p:cNvSpPr>
          <p:nvPr/>
        </p:nvSpPr>
        <p:spPr>
          <a:xfrm>
            <a:off x="990600" y="2543175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Picking</a:t>
            </a:r>
          </a:p>
        </p:txBody>
      </p:sp>
      <p:sp>
        <p:nvSpPr>
          <p:cNvPr id="22" name="cell-0-1">
            <a:extLst>
              <a:ext uri="{FF2B5EF4-FFF2-40B4-BE49-F238E27FC236}">
                <a16:creationId xmlns:a16="http://schemas.microsoft.com/office/drawing/2014/main" id="{73EC6F6D-FDB7-4116-A9BA-4D78A82303D8}"/>
              </a:ext>
            </a:extLst>
          </p:cNvPr>
          <p:cNvSpPr>
            <a:spLocks noGrp="1"/>
          </p:cNvSpPr>
          <p:nvPr/>
        </p:nvSpPr>
        <p:spPr>
          <a:xfrm>
            <a:off x="2771775" y="2438400"/>
            <a:ext cx="11430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xt-0-1">
            <a:extLst>
              <a:ext uri="{FF2B5EF4-FFF2-40B4-BE49-F238E27FC236}">
                <a16:creationId xmlns:a16="http://schemas.microsoft.com/office/drawing/2014/main" id="{A3807653-736E-4D58-8ABE-283483782682}"/>
              </a:ext>
            </a:extLst>
          </p:cNvPr>
          <p:cNvSpPr>
            <a:spLocks noGrp="1"/>
          </p:cNvSpPr>
          <p:nvPr/>
        </p:nvSpPr>
        <p:spPr>
          <a:xfrm>
            <a:off x="2847975" y="2543175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AL</a:t>
            </a:r>
          </a:p>
        </p:txBody>
      </p:sp>
      <p:sp>
        <p:nvSpPr>
          <p:cNvPr id="24" name="cell-0-2">
            <a:extLst>
              <a:ext uri="{FF2B5EF4-FFF2-40B4-BE49-F238E27FC236}">
                <a16:creationId xmlns:a16="http://schemas.microsoft.com/office/drawing/2014/main" id="{A98D4F1E-2A25-4DF9-947F-FA0F913BD7A6}"/>
              </a:ext>
            </a:extLst>
          </p:cNvPr>
          <p:cNvSpPr>
            <a:spLocks noGrp="1"/>
          </p:cNvSpPr>
          <p:nvPr/>
        </p:nvSpPr>
        <p:spPr>
          <a:xfrm>
            <a:off x="3914775" y="243840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xt-0-2">
            <a:extLst>
              <a:ext uri="{FF2B5EF4-FFF2-40B4-BE49-F238E27FC236}">
                <a16:creationId xmlns:a16="http://schemas.microsoft.com/office/drawing/2014/main" id="{09FA90AF-22C8-483A-B156-4894F8FC6B5C}"/>
              </a:ext>
            </a:extLst>
          </p:cNvPr>
          <p:cNvSpPr>
            <a:spLocks noGrp="1"/>
          </p:cNvSpPr>
          <p:nvPr/>
        </p:nvSpPr>
        <p:spPr>
          <a:xfrm>
            <a:off x="3990975" y="25431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$3.424</a:t>
            </a:r>
          </a:p>
        </p:txBody>
      </p:sp>
      <p:sp>
        <p:nvSpPr>
          <p:cNvPr id="26" name="cell-0-3">
            <a:extLst>
              <a:ext uri="{FF2B5EF4-FFF2-40B4-BE49-F238E27FC236}">
                <a16:creationId xmlns:a16="http://schemas.microsoft.com/office/drawing/2014/main" id="{19B0401C-FDCF-47A1-8D57-977E3C49C54B}"/>
              </a:ext>
            </a:extLst>
          </p:cNvPr>
          <p:cNvSpPr>
            <a:spLocks noGrp="1"/>
          </p:cNvSpPr>
          <p:nvPr/>
        </p:nvSpPr>
        <p:spPr>
          <a:xfrm>
            <a:off x="5534025" y="2438400"/>
            <a:ext cx="6667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xt-0-3">
            <a:extLst>
              <a:ext uri="{FF2B5EF4-FFF2-40B4-BE49-F238E27FC236}">
                <a16:creationId xmlns:a16="http://schemas.microsoft.com/office/drawing/2014/main" id="{31307523-B894-423D-915E-ED17F25B47AB}"/>
              </a:ext>
            </a:extLst>
          </p:cNvPr>
          <p:cNvSpPr>
            <a:spLocks noGrp="1"/>
          </p:cNvSpPr>
          <p:nvPr/>
        </p:nvSpPr>
        <p:spPr>
          <a:xfrm>
            <a:off x="5610225" y="25431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28" name="cell-0-4">
            <a:extLst>
              <a:ext uri="{FF2B5EF4-FFF2-40B4-BE49-F238E27FC236}">
                <a16:creationId xmlns:a16="http://schemas.microsoft.com/office/drawing/2014/main" id="{025539E0-DABC-4D14-89FF-FF79F80D4E66}"/>
              </a:ext>
            </a:extLst>
          </p:cNvPr>
          <p:cNvSpPr>
            <a:spLocks noGrp="1"/>
          </p:cNvSpPr>
          <p:nvPr/>
        </p:nvSpPr>
        <p:spPr>
          <a:xfrm>
            <a:off x="6200775" y="243840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xt-0-4">
            <a:extLst>
              <a:ext uri="{FF2B5EF4-FFF2-40B4-BE49-F238E27FC236}">
                <a16:creationId xmlns:a16="http://schemas.microsoft.com/office/drawing/2014/main" id="{2B50E28B-B3CF-4461-8500-4EA33D774618}"/>
              </a:ext>
            </a:extLst>
          </p:cNvPr>
          <p:cNvSpPr>
            <a:spLocks noGrp="1"/>
          </p:cNvSpPr>
          <p:nvPr/>
        </p:nvSpPr>
        <p:spPr>
          <a:xfrm>
            <a:off x="6276975" y="25431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$22.257</a:t>
            </a:r>
          </a:p>
        </p:txBody>
      </p:sp>
      <p:sp>
        <p:nvSpPr>
          <p:cNvPr id="30" name="cell-0-5">
            <a:extLst>
              <a:ext uri="{FF2B5EF4-FFF2-40B4-BE49-F238E27FC236}">
                <a16:creationId xmlns:a16="http://schemas.microsoft.com/office/drawing/2014/main" id="{6A57301D-0A5E-474C-A774-73ED4680427D}"/>
              </a:ext>
            </a:extLst>
          </p:cNvPr>
          <p:cNvSpPr>
            <a:spLocks noGrp="1"/>
          </p:cNvSpPr>
          <p:nvPr/>
        </p:nvSpPr>
        <p:spPr>
          <a:xfrm>
            <a:off x="7820025" y="2438400"/>
            <a:ext cx="28575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xt-0-5">
            <a:extLst>
              <a:ext uri="{FF2B5EF4-FFF2-40B4-BE49-F238E27FC236}">
                <a16:creationId xmlns:a16="http://schemas.microsoft.com/office/drawing/2014/main" id="{6963C51F-0531-4AC7-80DD-6968C4CE5619}"/>
              </a:ext>
            </a:extLst>
          </p:cNvPr>
          <p:cNvSpPr>
            <a:spLocks noGrp="1"/>
          </p:cNvSpPr>
          <p:nvPr/>
        </p:nvSpPr>
        <p:spPr>
          <a:xfrm>
            <a:off x="7896225" y="2543175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$22.257 × legajos participantes</a:t>
            </a:r>
          </a:p>
        </p:txBody>
      </p:sp>
      <p:sp>
        <p:nvSpPr>
          <p:cNvPr id="32" name="cell-1-0">
            <a:extLst>
              <a:ext uri="{FF2B5EF4-FFF2-40B4-BE49-F238E27FC236}">
                <a16:creationId xmlns:a16="http://schemas.microsoft.com/office/drawing/2014/main" id="{7694CDCA-24EF-4D5A-8E35-7B7556D333E3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18573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xt-1-0">
            <a:extLst>
              <a:ext uri="{FF2B5EF4-FFF2-40B4-BE49-F238E27FC236}">
                <a16:creationId xmlns:a16="http://schemas.microsoft.com/office/drawing/2014/main" id="{A69A5A4A-8431-484A-AEF2-4F63C7FA99AB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Carga</a:t>
            </a:r>
          </a:p>
        </p:txBody>
      </p:sp>
      <p:sp>
        <p:nvSpPr>
          <p:cNvPr id="34" name="cell-1-1">
            <a:extLst>
              <a:ext uri="{FF2B5EF4-FFF2-40B4-BE49-F238E27FC236}">
                <a16:creationId xmlns:a16="http://schemas.microsoft.com/office/drawing/2014/main" id="{7AE4E077-CD15-427D-912C-703ADC010AAF}"/>
              </a:ext>
            </a:extLst>
          </p:cNvPr>
          <p:cNvSpPr>
            <a:spLocks noGrp="1"/>
          </p:cNvSpPr>
          <p:nvPr/>
        </p:nvSpPr>
        <p:spPr>
          <a:xfrm>
            <a:off x="2771775" y="2809875"/>
            <a:ext cx="11430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txt-1-1">
            <a:extLst>
              <a:ext uri="{FF2B5EF4-FFF2-40B4-BE49-F238E27FC236}">
                <a16:creationId xmlns:a16="http://schemas.microsoft.com/office/drawing/2014/main" id="{2EE1C091-E68B-491B-AA22-24FE9F8DD02D}"/>
              </a:ext>
            </a:extLst>
          </p:cNvPr>
          <p:cNvSpPr>
            <a:spLocks noGrp="1"/>
          </p:cNvSpPr>
          <p:nvPr/>
        </p:nvSpPr>
        <p:spPr>
          <a:xfrm>
            <a:off x="2847975" y="29146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36" name="cell-1-2">
            <a:extLst>
              <a:ext uri="{FF2B5EF4-FFF2-40B4-BE49-F238E27FC236}">
                <a16:creationId xmlns:a16="http://schemas.microsoft.com/office/drawing/2014/main" id="{8943DBD9-CE49-4A05-B4AC-BD65541CC865}"/>
              </a:ext>
            </a:extLst>
          </p:cNvPr>
          <p:cNvSpPr>
            <a:spLocks noGrp="1"/>
          </p:cNvSpPr>
          <p:nvPr/>
        </p:nvSpPr>
        <p:spPr>
          <a:xfrm>
            <a:off x="3914775" y="280987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xt-1-2">
            <a:extLst>
              <a:ext uri="{FF2B5EF4-FFF2-40B4-BE49-F238E27FC236}">
                <a16:creationId xmlns:a16="http://schemas.microsoft.com/office/drawing/2014/main" id="{7AF416C4-FA1C-4A0A-8C69-09EE8A0C6A93}"/>
              </a:ext>
            </a:extLst>
          </p:cNvPr>
          <p:cNvSpPr>
            <a:spLocks noGrp="1"/>
          </p:cNvSpPr>
          <p:nvPr/>
        </p:nvSpPr>
        <p:spPr>
          <a:xfrm>
            <a:off x="3990975" y="29146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$4.891</a:t>
            </a:r>
          </a:p>
        </p:txBody>
      </p:sp>
      <p:sp>
        <p:nvSpPr>
          <p:cNvPr id="38" name="cell-1-3">
            <a:extLst>
              <a:ext uri="{FF2B5EF4-FFF2-40B4-BE49-F238E27FC236}">
                <a16:creationId xmlns:a16="http://schemas.microsoft.com/office/drawing/2014/main" id="{F5E00016-C543-46F7-B4D5-01B267AA8EEF}"/>
              </a:ext>
            </a:extLst>
          </p:cNvPr>
          <p:cNvSpPr>
            <a:spLocks noGrp="1"/>
          </p:cNvSpPr>
          <p:nvPr/>
        </p:nvSpPr>
        <p:spPr>
          <a:xfrm>
            <a:off x="5534025" y="280987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xt-1-3">
            <a:extLst>
              <a:ext uri="{FF2B5EF4-FFF2-40B4-BE49-F238E27FC236}">
                <a16:creationId xmlns:a16="http://schemas.microsoft.com/office/drawing/2014/main" id="{E80D2790-76EA-4D74-A6EE-E788B5D5D99B}"/>
              </a:ext>
            </a:extLst>
          </p:cNvPr>
          <p:cNvSpPr>
            <a:spLocks noGrp="1"/>
          </p:cNvSpPr>
          <p:nvPr/>
        </p:nvSpPr>
        <p:spPr>
          <a:xfrm>
            <a:off x="5610225" y="29146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40" name="cell-1-4">
            <a:extLst>
              <a:ext uri="{FF2B5EF4-FFF2-40B4-BE49-F238E27FC236}">
                <a16:creationId xmlns:a16="http://schemas.microsoft.com/office/drawing/2014/main" id="{6ACDF3F2-AAE4-4F34-994D-1576338489C8}"/>
              </a:ext>
            </a:extLst>
          </p:cNvPr>
          <p:cNvSpPr>
            <a:spLocks noGrp="1"/>
          </p:cNvSpPr>
          <p:nvPr/>
        </p:nvSpPr>
        <p:spPr>
          <a:xfrm>
            <a:off x="6200775" y="280987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1" name="txt-1-4">
            <a:extLst>
              <a:ext uri="{FF2B5EF4-FFF2-40B4-BE49-F238E27FC236}">
                <a16:creationId xmlns:a16="http://schemas.microsoft.com/office/drawing/2014/main" id="{7EED8A9C-5482-402D-B234-EA2E56C09A3E}"/>
              </a:ext>
            </a:extLst>
          </p:cNvPr>
          <p:cNvSpPr>
            <a:spLocks noGrp="1"/>
          </p:cNvSpPr>
          <p:nvPr/>
        </p:nvSpPr>
        <p:spPr>
          <a:xfrm>
            <a:off x="6276975" y="29146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$31.790</a:t>
            </a:r>
          </a:p>
        </p:txBody>
      </p:sp>
      <p:sp>
        <p:nvSpPr>
          <p:cNvPr id="42" name="cell-1-5">
            <a:extLst>
              <a:ext uri="{FF2B5EF4-FFF2-40B4-BE49-F238E27FC236}">
                <a16:creationId xmlns:a16="http://schemas.microsoft.com/office/drawing/2014/main" id="{3C07B4F8-4914-4A5A-9D47-0BA9F272CECB}"/>
              </a:ext>
            </a:extLst>
          </p:cNvPr>
          <p:cNvSpPr>
            <a:spLocks noGrp="1"/>
          </p:cNvSpPr>
          <p:nvPr/>
        </p:nvSpPr>
        <p:spPr>
          <a:xfrm>
            <a:off x="7820025" y="2809875"/>
            <a:ext cx="28575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txt-1-5">
            <a:extLst>
              <a:ext uri="{FF2B5EF4-FFF2-40B4-BE49-F238E27FC236}">
                <a16:creationId xmlns:a16="http://schemas.microsoft.com/office/drawing/2014/main" id="{7AFCBC5D-2DB6-4763-B478-0CD8929482AB}"/>
              </a:ext>
            </a:extLst>
          </p:cNvPr>
          <p:cNvSpPr>
            <a:spLocks noGrp="1"/>
          </p:cNvSpPr>
          <p:nvPr/>
        </p:nvSpPr>
        <p:spPr>
          <a:xfrm>
            <a:off x="7896225" y="291465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$31.790 × legajos participantes</a:t>
            </a:r>
          </a:p>
        </p:txBody>
      </p:sp>
      <p:sp>
        <p:nvSpPr>
          <p:cNvPr id="44" name="cell-2-0">
            <a:extLst>
              <a:ext uri="{FF2B5EF4-FFF2-40B4-BE49-F238E27FC236}">
                <a16:creationId xmlns:a16="http://schemas.microsoft.com/office/drawing/2014/main" id="{6FD24300-3104-498F-92D5-0CF1A851EAF2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1857375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txt-2-0">
            <a:extLst>
              <a:ext uri="{FF2B5EF4-FFF2-40B4-BE49-F238E27FC236}">
                <a16:creationId xmlns:a16="http://schemas.microsoft.com/office/drawing/2014/main" id="{C2DFFA2E-B922-4995-8D81-271C3E2DBEA2}"/>
              </a:ext>
            </a:extLst>
          </p:cNvPr>
          <p:cNvSpPr>
            <a:spLocks noGrp="1"/>
          </p:cNvSpPr>
          <p:nvPr/>
        </p:nvSpPr>
        <p:spPr>
          <a:xfrm>
            <a:off x="990600" y="3286125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Carreteo</a:t>
            </a:r>
          </a:p>
        </p:txBody>
      </p:sp>
      <p:sp>
        <p:nvSpPr>
          <p:cNvPr id="46" name="cell-2-1">
            <a:extLst>
              <a:ext uri="{FF2B5EF4-FFF2-40B4-BE49-F238E27FC236}">
                <a16:creationId xmlns:a16="http://schemas.microsoft.com/office/drawing/2014/main" id="{DE044954-0140-4B22-9138-A48C6B1487AB}"/>
              </a:ext>
            </a:extLst>
          </p:cNvPr>
          <p:cNvSpPr>
            <a:spLocks noGrp="1"/>
          </p:cNvSpPr>
          <p:nvPr/>
        </p:nvSpPr>
        <p:spPr>
          <a:xfrm>
            <a:off x="2771775" y="3181350"/>
            <a:ext cx="11430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txt-2-1">
            <a:extLst>
              <a:ext uri="{FF2B5EF4-FFF2-40B4-BE49-F238E27FC236}">
                <a16:creationId xmlns:a16="http://schemas.microsoft.com/office/drawing/2014/main" id="{5553928B-2184-46B8-9EB6-2C78E9891E26}"/>
              </a:ext>
            </a:extLst>
          </p:cNvPr>
          <p:cNvSpPr>
            <a:spLocks noGrp="1"/>
          </p:cNvSpPr>
          <p:nvPr/>
        </p:nvSpPr>
        <p:spPr>
          <a:xfrm>
            <a:off x="2847975" y="3286125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48" name="cell-2-2">
            <a:extLst>
              <a:ext uri="{FF2B5EF4-FFF2-40B4-BE49-F238E27FC236}">
                <a16:creationId xmlns:a16="http://schemas.microsoft.com/office/drawing/2014/main" id="{CDB49D77-4B90-456C-BABF-3A827373FE4F}"/>
              </a:ext>
            </a:extLst>
          </p:cNvPr>
          <p:cNvSpPr>
            <a:spLocks noGrp="1"/>
          </p:cNvSpPr>
          <p:nvPr/>
        </p:nvSpPr>
        <p:spPr>
          <a:xfrm>
            <a:off x="3914775" y="318135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txt-2-2">
            <a:extLst>
              <a:ext uri="{FF2B5EF4-FFF2-40B4-BE49-F238E27FC236}">
                <a16:creationId xmlns:a16="http://schemas.microsoft.com/office/drawing/2014/main" id="{246AB5CD-0855-4A99-AA27-73A371D0558B}"/>
              </a:ext>
            </a:extLst>
          </p:cNvPr>
          <p:cNvSpPr>
            <a:spLocks noGrp="1"/>
          </p:cNvSpPr>
          <p:nvPr/>
        </p:nvSpPr>
        <p:spPr>
          <a:xfrm>
            <a:off x="3990975" y="32861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$3.524</a:t>
            </a:r>
          </a:p>
        </p:txBody>
      </p:sp>
      <p:sp>
        <p:nvSpPr>
          <p:cNvPr id="50" name="cell-2-3">
            <a:extLst>
              <a:ext uri="{FF2B5EF4-FFF2-40B4-BE49-F238E27FC236}">
                <a16:creationId xmlns:a16="http://schemas.microsoft.com/office/drawing/2014/main" id="{039A3A4D-F962-4BB2-BCD3-89D268BABF74}"/>
              </a:ext>
            </a:extLst>
          </p:cNvPr>
          <p:cNvSpPr>
            <a:spLocks noGrp="1"/>
          </p:cNvSpPr>
          <p:nvPr/>
        </p:nvSpPr>
        <p:spPr>
          <a:xfrm>
            <a:off x="5534025" y="3181350"/>
            <a:ext cx="6667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txt-2-3">
            <a:extLst>
              <a:ext uri="{FF2B5EF4-FFF2-40B4-BE49-F238E27FC236}">
                <a16:creationId xmlns:a16="http://schemas.microsoft.com/office/drawing/2014/main" id="{B6F3B9A6-BF06-4790-B4E4-AEF68F95282E}"/>
              </a:ext>
            </a:extLst>
          </p:cNvPr>
          <p:cNvSpPr>
            <a:spLocks noGrp="1"/>
          </p:cNvSpPr>
          <p:nvPr/>
        </p:nvSpPr>
        <p:spPr>
          <a:xfrm>
            <a:off x="5610225" y="32861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52" name="cell-2-4">
            <a:extLst>
              <a:ext uri="{FF2B5EF4-FFF2-40B4-BE49-F238E27FC236}">
                <a16:creationId xmlns:a16="http://schemas.microsoft.com/office/drawing/2014/main" id="{96D94E1A-036C-423A-9FF9-6A69EBD9FB33}"/>
              </a:ext>
            </a:extLst>
          </p:cNvPr>
          <p:cNvSpPr>
            <a:spLocks noGrp="1"/>
          </p:cNvSpPr>
          <p:nvPr/>
        </p:nvSpPr>
        <p:spPr>
          <a:xfrm>
            <a:off x="6200775" y="318135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txt-2-4">
            <a:extLst>
              <a:ext uri="{FF2B5EF4-FFF2-40B4-BE49-F238E27FC236}">
                <a16:creationId xmlns:a16="http://schemas.microsoft.com/office/drawing/2014/main" id="{EEF75C8E-03F0-4EA3-A707-347E98A4EDE9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$22.905</a:t>
            </a:r>
          </a:p>
        </p:txBody>
      </p:sp>
      <p:sp>
        <p:nvSpPr>
          <p:cNvPr id="54" name="cell-2-5">
            <a:extLst>
              <a:ext uri="{FF2B5EF4-FFF2-40B4-BE49-F238E27FC236}">
                <a16:creationId xmlns:a16="http://schemas.microsoft.com/office/drawing/2014/main" id="{D5E71AD1-FE52-4541-A757-C9536EEEA3D9}"/>
              </a:ext>
            </a:extLst>
          </p:cNvPr>
          <p:cNvSpPr>
            <a:spLocks noGrp="1"/>
          </p:cNvSpPr>
          <p:nvPr/>
        </p:nvSpPr>
        <p:spPr>
          <a:xfrm>
            <a:off x="7820025" y="3181350"/>
            <a:ext cx="28575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txt-2-5">
            <a:extLst>
              <a:ext uri="{FF2B5EF4-FFF2-40B4-BE49-F238E27FC236}">
                <a16:creationId xmlns:a16="http://schemas.microsoft.com/office/drawing/2014/main" id="{5264EE38-1EDC-4E16-ADBD-4D3AD7DF7BEC}"/>
              </a:ext>
            </a:extLst>
          </p:cNvPr>
          <p:cNvSpPr>
            <a:spLocks noGrp="1"/>
          </p:cNvSpPr>
          <p:nvPr/>
        </p:nvSpPr>
        <p:spPr>
          <a:xfrm>
            <a:off x="7896225" y="3286125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$22.905 × legajos participantes</a:t>
            </a:r>
          </a:p>
        </p:txBody>
      </p:sp>
      <p:sp>
        <p:nvSpPr>
          <p:cNvPr id="56" name="cell-3-0">
            <a:extLst>
              <a:ext uri="{FF2B5EF4-FFF2-40B4-BE49-F238E27FC236}">
                <a16:creationId xmlns:a16="http://schemas.microsoft.com/office/drawing/2014/main" id="{27CE7CA3-318A-48E5-8FC0-19C462CD04AC}"/>
              </a:ext>
            </a:extLst>
          </p:cNvPr>
          <p:cNvSpPr>
            <a:spLocks noGrp="1"/>
          </p:cNvSpPr>
          <p:nvPr/>
        </p:nvSpPr>
        <p:spPr>
          <a:xfrm>
            <a:off x="914400" y="3552825"/>
            <a:ext cx="18573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7" name="txt-3-0">
            <a:extLst>
              <a:ext uri="{FF2B5EF4-FFF2-40B4-BE49-F238E27FC236}">
                <a16:creationId xmlns:a16="http://schemas.microsoft.com/office/drawing/2014/main" id="{41EA2CF5-7020-4EAB-88C1-F79E02D3AA4D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Clark</a:t>
            </a:r>
          </a:p>
        </p:txBody>
      </p:sp>
      <p:sp>
        <p:nvSpPr>
          <p:cNvPr id="58" name="cell-3-1">
            <a:extLst>
              <a:ext uri="{FF2B5EF4-FFF2-40B4-BE49-F238E27FC236}">
                <a16:creationId xmlns:a16="http://schemas.microsoft.com/office/drawing/2014/main" id="{A83D3BAE-5745-42A0-844D-B1A581722504}"/>
              </a:ext>
            </a:extLst>
          </p:cNvPr>
          <p:cNvSpPr>
            <a:spLocks noGrp="1"/>
          </p:cNvSpPr>
          <p:nvPr/>
        </p:nvSpPr>
        <p:spPr>
          <a:xfrm>
            <a:off x="2771775" y="3552825"/>
            <a:ext cx="11430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txt-3-1">
            <a:extLst>
              <a:ext uri="{FF2B5EF4-FFF2-40B4-BE49-F238E27FC236}">
                <a16:creationId xmlns:a16="http://schemas.microsoft.com/office/drawing/2014/main" id="{05D87475-4933-431C-8580-21CC0DCE0B81}"/>
              </a:ext>
            </a:extLst>
          </p:cNvPr>
          <p:cNvSpPr>
            <a:spLocks noGrp="1"/>
          </p:cNvSpPr>
          <p:nvPr/>
        </p:nvSpPr>
        <p:spPr>
          <a:xfrm>
            <a:off x="2847975" y="365760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60" name="cell-3-2">
            <a:extLst>
              <a:ext uri="{FF2B5EF4-FFF2-40B4-BE49-F238E27FC236}">
                <a16:creationId xmlns:a16="http://schemas.microsoft.com/office/drawing/2014/main" id="{92EFF9CB-5B3C-46A0-BE56-14A33681A195}"/>
              </a:ext>
            </a:extLst>
          </p:cNvPr>
          <p:cNvSpPr>
            <a:spLocks noGrp="1"/>
          </p:cNvSpPr>
          <p:nvPr/>
        </p:nvSpPr>
        <p:spPr>
          <a:xfrm>
            <a:off x="3914775" y="355282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1" name="txt-3-2">
            <a:extLst>
              <a:ext uri="{FF2B5EF4-FFF2-40B4-BE49-F238E27FC236}">
                <a16:creationId xmlns:a16="http://schemas.microsoft.com/office/drawing/2014/main" id="{B2886AA6-FEF1-4EFC-9242-2F08CF14CF04}"/>
              </a:ext>
            </a:extLst>
          </p:cNvPr>
          <p:cNvSpPr>
            <a:spLocks noGrp="1"/>
          </p:cNvSpPr>
          <p:nvPr/>
        </p:nvSpPr>
        <p:spPr>
          <a:xfrm>
            <a:off x="3990975" y="36576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$2.840</a:t>
            </a:r>
          </a:p>
        </p:txBody>
      </p:sp>
      <p:sp>
        <p:nvSpPr>
          <p:cNvPr id="62" name="cell-3-3">
            <a:extLst>
              <a:ext uri="{FF2B5EF4-FFF2-40B4-BE49-F238E27FC236}">
                <a16:creationId xmlns:a16="http://schemas.microsoft.com/office/drawing/2014/main" id="{FF5F4EF7-DA66-4BFF-B99F-AFE4057E0C4A}"/>
              </a:ext>
            </a:extLst>
          </p:cNvPr>
          <p:cNvSpPr>
            <a:spLocks noGrp="1"/>
          </p:cNvSpPr>
          <p:nvPr/>
        </p:nvSpPr>
        <p:spPr>
          <a:xfrm>
            <a:off x="5534025" y="355282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txt-3-3">
            <a:extLst>
              <a:ext uri="{FF2B5EF4-FFF2-40B4-BE49-F238E27FC236}">
                <a16:creationId xmlns:a16="http://schemas.microsoft.com/office/drawing/2014/main" id="{3A056121-AF59-4AF9-ACB3-5C7037245F28}"/>
              </a:ext>
            </a:extLst>
          </p:cNvPr>
          <p:cNvSpPr>
            <a:spLocks noGrp="1"/>
          </p:cNvSpPr>
          <p:nvPr/>
        </p:nvSpPr>
        <p:spPr>
          <a:xfrm>
            <a:off x="5610225" y="36576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64" name="cell-3-4">
            <a:extLst>
              <a:ext uri="{FF2B5EF4-FFF2-40B4-BE49-F238E27FC236}">
                <a16:creationId xmlns:a16="http://schemas.microsoft.com/office/drawing/2014/main" id="{028572D6-8F22-473F-83AE-9AE80E9F8C0C}"/>
              </a:ext>
            </a:extLst>
          </p:cNvPr>
          <p:cNvSpPr>
            <a:spLocks noGrp="1"/>
          </p:cNvSpPr>
          <p:nvPr/>
        </p:nvSpPr>
        <p:spPr>
          <a:xfrm>
            <a:off x="6200775" y="355282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5" name="txt-3-4">
            <a:extLst>
              <a:ext uri="{FF2B5EF4-FFF2-40B4-BE49-F238E27FC236}">
                <a16:creationId xmlns:a16="http://schemas.microsoft.com/office/drawing/2014/main" id="{BC0C581D-12CE-42B4-8DC2-C002C5E5A292}"/>
              </a:ext>
            </a:extLst>
          </p:cNvPr>
          <p:cNvSpPr>
            <a:spLocks noGrp="1"/>
          </p:cNvSpPr>
          <p:nvPr/>
        </p:nvSpPr>
        <p:spPr>
          <a:xfrm>
            <a:off x="6276975" y="36576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$18.461</a:t>
            </a:r>
          </a:p>
        </p:txBody>
      </p:sp>
      <p:sp>
        <p:nvSpPr>
          <p:cNvPr id="66" name="cell-3-5">
            <a:extLst>
              <a:ext uri="{FF2B5EF4-FFF2-40B4-BE49-F238E27FC236}">
                <a16:creationId xmlns:a16="http://schemas.microsoft.com/office/drawing/2014/main" id="{0E14B59A-1A6B-4F71-AF50-82C29B477384}"/>
              </a:ext>
            </a:extLst>
          </p:cNvPr>
          <p:cNvSpPr>
            <a:spLocks noGrp="1"/>
          </p:cNvSpPr>
          <p:nvPr/>
        </p:nvSpPr>
        <p:spPr>
          <a:xfrm>
            <a:off x="7820025" y="3552825"/>
            <a:ext cx="28575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7" name="txt-3-5">
            <a:extLst>
              <a:ext uri="{FF2B5EF4-FFF2-40B4-BE49-F238E27FC236}">
                <a16:creationId xmlns:a16="http://schemas.microsoft.com/office/drawing/2014/main" id="{C8522316-1162-4DE9-98A7-3B30B9E19569}"/>
              </a:ext>
            </a:extLst>
          </p:cNvPr>
          <p:cNvSpPr>
            <a:spLocks noGrp="1"/>
          </p:cNvSpPr>
          <p:nvPr/>
        </p:nvSpPr>
        <p:spPr>
          <a:xfrm>
            <a:off x="7896225" y="365760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$18.461 × legajos participantes</a:t>
            </a:r>
          </a:p>
        </p:txBody>
      </p:sp>
      <p:sp>
        <p:nvSpPr>
          <p:cNvPr id="68" name="cell-4-0">
            <a:extLst>
              <a:ext uri="{FF2B5EF4-FFF2-40B4-BE49-F238E27FC236}">
                <a16:creationId xmlns:a16="http://schemas.microsoft.com/office/drawing/2014/main" id="{26073EC6-25E3-46D6-B669-C0410FBC4AEA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1857375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9" name="txt-4-0">
            <a:extLst>
              <a:ext uri="{FF2B5EF4-FFF2-40B4-BE49-F238E27FC236}">
                <a16:creationId xmlns:a16="http://schemas.microsoft.com/office/drawing/2014/main" id="{44FF7D45-785F-4137-9CEC-555776229811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CHP + CBF</a:t>
            </a:r>
          </a:p>
        </p:txBody>
      </p:sp>
      <p:sp>
        <p:nvSpPr>
          <p:cNvPr id="70" name="cell-4-1">
            <a:extLst>
              <a:ext uri="{FF2B5EF4-FFF2-40B4-BE49-F238E27FC236}">
                <a16:creationId xmlns:a16="http://schemas.microsoft.com/office/drawing/2014/main" id="{83E67C09-C854-4126-909A-5F16C874AE20}"/>
              </a:ext>
            </a:extLst>
          </p:cNvPr>
          <p:cNvSpPr>
            <a:spLocks noGrp="1"/>
          </p:cNvSpPr>
          <p:nvPr/>
        </p:nvSpPr>
        <p:spPr>
          <a:xfrm>
            <a:off x="2771775" y="3924300"/>
            <a:ext cx="11430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1" name="txt-4-1">
            <a:extLst>
              <a:ext uri="{FF2B5EF4-FFF2-40B4-BE49-F238E27FC236}">
                <a16:creationId xmlns:a16="http://schemas.microsoft.com/office/drawing/2014/main" id="{69DF3468-3EC1-429C-BCB8-6D1F807CADE5}"/>
              </a:ext>
            </a:extLst>
          </p:cNvPr>
          <p:cNvSpPr>
            <a:spLocks noGrp="1"/>
          </p:cNvSpPr>
          <p:nvPr/>
        </p:nvSpPr>
        <p:spPr>
          <a:xfrm>
            <a:off x="2847975" y="4029075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72" name="cell-4-2">
            <a:extLst>
              <a:ext uri="{FF2B5EF4-FFF2-40B4-BE49-F238E27FC236}">
                <a16:creationId xmlns:a16="http://schemas.microsoft.com/office/drawing/2014/main" id="{EA13EA1D-DAA1-4B4C-9A36-C373522E3C91}"/>
              </a:ext>
            </a:extLst>
          </p:cNvPr>
          <p:cNvSpPr>
            <a:spLocks noGrp="1"/>
          </p:cNvSpPr>
          <p:nvPr/>
        </p:nvSpPr>
        <p:spPr>
          <a:xfrm>
            <a:off x="3914775" y="392430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3" name="txt-4-2">
            <a:extLst>
              <a:ext uri="{FF2B5EF4-FFF2-40B4-BE49-F238E27FC236}">
                <a16:creationId xmlns:a16="http://schemas.microsoft.com/office/drawing/2014/main" id="{B2DC1048-0BEF-4C55-9900-A84F63DEC5B1}"/>
              </a:ext>
            </a:extLst>
          </p:cNvPr>
          <p:cNvSpPr>
            <a:spLocks noGrp="1"/>
          </p:cNvSpPr>
          <p:nvPr/>
        </p:nvSpPr>
        <p:spPr>
          <a:xfrm>
            <a:off x="3990975" y="40290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$2.210</a:t>
            </a:r>
          </a:p>
        </p:txBody>
      </p:sp>
      <p:sp>
        <p:nvSpPr>
          <p:cNvPr id="74" name="cell-4-3">
            <a:extLst>
              <a:ext uri="{FF2B5EF4-FFF2-40B4-BE49-F238E27FC236}">
                <a16:creationId xmlns:a16="http://schemas.microsoft.com/office/drawing/2014/main" id="{9C2CE685-214E-4B03-B717-6EED89485A9D}"/>
              </a:ext>
            </a:extLst>
          </p:cNvPr>
          <p:cNvSpPr>
            <a:spLocks noGrp="1"/>
          </p:cNvSpPr>
          <p:nvPr/>
        </p:nvSpPr>
        <p:spPr>
          <a:xfrm>
            <a:off x="5534025" y="3924300"/>
            <a:ext cx="6667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5" name="txt-4-3">
            <a:extLst>
              <a:ext uri="{FF2B5EF4-FFF2-40B4-BE49-F238E27FC236}">
                <a16:creationId xmlns:a16="http://schemas.microsoft.com/office/drawing/2014/main" id="{B959CD3D-8403-41B7-91C4-9DD569E54255}"/>
              </a:ext>
            </a:extLst>
          </p:cNvPr>
          <p:cNvSpPr>
            <a:spLocks noGrp="1"/>
          </p:cNvSpPr>
          <p:nvPr/>
        </p:nvSpPr>
        <p:spPr>
          <a:xfrm>
            <a:off x="5610225" y="4029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76" name="cell-4-4">
            <a:extLst>
              <a:ext uri="{FF2B5EF4-FFF2-40B4-BE49-F238E27FC236}">
                <a16:creationId xmlns:a16="http://schemas.microsoft.com/office/drawing/2014/main" id="{BFFFBBBC-B62C-4036-9329-9A93CA88CBFC}"/>
              </a:ext>
            </a:extLst>
          </p:cNvPr>
          <p:cNvSpPr>
            <a:spLocks noGrp="1"/>
          </p:cNvSpPr>
          <p:nvPr/>
        </p:nvSpPr>
        <p:spPr>
          <a:xfrm>
            <a:off x="6200775" y="392430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7" name="txt-4-4">
            <a:extLst>
              <a:ext uri="{FF2B5EF4-FFF2-40B4-BE49-F238E27FC236}">
                <a16:creationId xmlns:a16="http://schemas.microsoft.com/office/drawing/2014/main" id="{53252A47-5B68-4F5F-8F69-189459955095}"/>
              </a:ext>
            </a:extLst>
          </p:cNvPr>
          <p:cNvSpPr>
            <a:spLocks noGrp="1"/>
          </p:cNvSpPr>
          <p:nvPr/>
        </p:nvSpPr>
        <p:spPr>
          <a:xfrm>
            <a:off x="6276975" y="40290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$14.363</a:t>
            </a:r>
          </a:p>
        </p:txBody>
      </p:sp>
      <p:sp>
        <p:nvSpPr>
          <p:cNvPr id="78" name="cell-4-5">
            <a:extLst>
              <a:ext uri="{FF2B5EF4-FFF2-40B4-BE49-F238E27FC236}">
                <a16:creationId xmlns:a16="http://schemas.microsoft.com/office/drawing/2014/main" id="{36FB7C9C-08C7-47BD-9374-38EA3D8EC685}"/>
              </a:ext>
            </a:extLst>
          </p:cNvPr>
          <p:cNvSpPr>
            <a:spLocks noGrp="1"/>
          </p:cNvSpPr>
          <p:nvPr/>
        </p:nvSpPr>
        <p:spPr>
          <a:xfrm>
            <a:off x="7820025" y="3924300"/>
            <a:ext cx="28575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9" name="txt-4-5">
            <a:extLst>
              <a:ext uri="{FF2B5EF4-FFF2-40B4-BE49-F238E27FC236}">
                <a16:creationId xmlns:a16="http://schemas.microsoft.com/office/drawing/2014/main" id="{C00B3B53-6882-4E49-B1CE-07BFBD186BD9}"/>
              </a:ext>
            </a:extLst>
          </p:cNvPr>
          <p:cNvSpPr>
            <a:spLocks noGrp="1"/>
          </p:cNvSpPr>
          <p:nvPr/>
        </p:nvSpPr>
        <p:spPr>
          <a:xfrm>
            <a:off x="7896225" y="4029075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$14.363 × legajos participantes</a:t>
            </a:r>
          </a:p>
        </p:txBody>
      </p:sp>
      <p:sp>
        <p:nvSpPr>
          <p:cNvPr id="80" name="cell-5-0">
            <a:extLst>
              <a:ext uri="{FF2B5EF4-FFF2-40B4-BE49-F238E27FC236}">
                <a16:creationId xmlns:a16="http://schemas.microsoft.com/office/drawing/2014/main" id="{2C14BCAF-AFE6-4482-B754-6F35558C8CB7}"/>
              </a:ext>
            </a:extLst>
          </p:cNvPr>
          <p:cNvSpPr>
            <a:spLocks noGrp="1"/>
          </p:cNvSpPr>
          <p:nvPr/>
        </p:nvSpPr>
        <p:spPr>
          <a:xfrm>
            <a:off x="914400" y="4295775"/>
            <a:ext cx="1857375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1" name="txt-5-0">
            <a:extLst>
              <a:ext uri="{FF2B5EF4-FFF2-40B4-BE49-F238E27FC236}">
                <a16:creationId xmlns:a16="http://schemas.microsoft.com/office/drawing/2014/main" id="{49E93ED4-24E0-4E2A-B43C-1E2310B5E89A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NOA</a:t>
            </a:r>
          </a:p>
        </p:txBody>
      </p:sp>
      <p:sp>
        <p:nvSpPr>
          <p:cNvPr id="82" name="cell-5-1">
            <a:extLst>
              <a:ext uri="{FF2B5EF4-FFF2-40B4-BE49-F238E27FC236}">
                <a16:creationId xmlns:a16="http://schemas.microsoft.com/office/drawing/2014/main" id="{6BFDCF06-B121-4DF5-9EF1-CB1412FB1F35}"/>
              </a:ext>
            </a:extLst>
          </p:cNvPr>
          <p:cNvSpPr>
            <a:spLocks noGrp="1"/>
          </p:cNvSpPr>
          <p:nvPr/>
        </p:nvSpPr>
        <p:spPr>
          <a:xfrm>
            <a:off x="2771775" y="4295775"/>
            <a:ext cx="11430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3" name="txt-5-1">
            <a:extLst>
              <a:ext uri="{FF2B5EF4-FFF2-40B4-BE49-F238E27FC236}">
                <a16:creationId xmlns:a16="http://schemas.microsoft.com/office/drawing/2014/main" id="{6CDE2B5E-3798-47CB-B742-55790743B771}"/>
              </a:ext>
            </a:extLst>
          </p:cNvPr>
          <p:cNvSpPr>
            <a:spLocks noGrp="1"/>
          </p:cNvSpPr>
          <p:nvPr/>
        </p:nvSpPr>
        <p:spPr>
          <a:xfrm>
            <a:off x="2847975" y="4400550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84" name="cell-5-2">
            <a:extLst>
              <a:ext uri="{FF2B5EF4-FFF2-40B4-BE49-F238E27FC236}">
                <a16:creationId xmlns:a16="http://schemas.microsoft.com/office/drawing/2014/main" id="{A21946FA-45BB-450F-9241-DAAC737918E8}"/>
              </a:ext>
            </a:extLst>
          </p:cNvPr>
          <p:cNvSpPr>
            <a:spLocks noGrp="1"/>
          </p:cNvSpPr>
          <p:nvPr/>
        </p:nvSpPr>
        <p:spPr>
          <a:xfrm>
            <a:off x="3914775" y="429577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5" name="txt-5-2">
            <a:extLst>
              <a:ext uri="{FF2B5EF4-FFF2-40B4-BE49-F238E27FC236}">
                <a16:creationId xmlns:a16="http://schemas.microsoft.com/office/drawing/2014/main" id="{224F2B6C-4F6D-47C9-9742-7FDD25C2F264}"/>
              </a:ext>
            </a:extLst>
          </p:cNvPr>
          <p:cNvSpPr>
            <a:spLocks noGrp="1"/>
          </p:cNvSpPr>
          <p:nvPr/>
        </p:nvSpPr>
        <p:spPr>
          <a:xfrm>
            <a:off x="3990975" y="44005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$1.172</a:t>
            </a:r>
          </a:p>
        </p:txBody>
      </p:sp>
      <p:sp>
        <p:nvSpPr>
          <p:cNvPr id="86" name="cell-5-3">
            <a:extLst>
              <a:ext uri="{FF2B5EF4-FFF2-40B4-BE49-F238E27FC236}">
                <a16:creationId xmlns:a16="http://schemas.microsoft.com/office/drawing/2014/main" id="{B314F692-383E-4695-BE85-46EF06FFF135}"/>
              </a:ext>
            </a:extLst>
          </p:cNvPr>
          <p:cNvSpPr>
            <a:spLocks noGrp="1"/>
          </p:cNvSpPr>
          <p:nvPr/>
        </p:nvSpPr>
        <p:spPr>
          <a:xfrm>
            <a:off x="5534025" y="4295775"/>
            <a:ext cx="6667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7" name="txt-5-3">
            <a:extLst>
              <a:ext uri="{FF2B5EF4-FFF2-40B4-BE49-F238E27FC236}">
                <a16:creationId xmlns:a16="http://schemas.microsoft.com/office/drawing/2014/main" id="{EE65DD32-AF50-42BE-8245-AA08E480F896}"/>
              </a:ext>
            </a:extLst>
          </p:cNvPr>
          <p:cNvSpPr>
            <a:spLocks noGrp="1"/>
          </p:cNvSpPr>
          <p:nvPr/>
        </p:nvSpPr>
        <p:spPr>
          <a:xfrm>
            <a:off x="5610225" y="44005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88" name="cell-5-4">
            <a:extLst>
              <a:ext uri="{FF2B5EF4-FFF2-40B4-BE49-F238E27FC236}">
                <a16:creationId xmlns:a16="http://schemas.microsoft.com/office/drawing/2014/main" id="{7CCCBC4B-199B-4535-84CB-99E868BB7553}"/>
              </a:ext>
            </a:extLst>
          </p:cNvPr>
          <p:cNvSpPr>
            <a:spLocks noGrp="1"/>
          </p:cNvSpPr>
          <p:nvPr/>
        </p:nvSpPr>
        <p:spPr>
          <a:xfrm>
            <a:off x="6200775" y="4295775"/>
            <a:ext cx="161925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9" name="txt-5-4">
            <a:extLst>
              <a:ext uri="{FF2B5EF4-FFF2-40B4-BE49-F238E27FC236}">
                <a16:creationId xmlns:a16="http://schemas.microsoft.com/office/drawing/2014/main" id="{95F3D417-8192-42F2-9744-2F15198EB1DC}"/>
              </a:ext>
            </a:extLst>
          </p:cNvPr>
          <p:cNvSpPr>
            <a:spLocks noGrp="1"/>
          </p:cNvSpPr>
          <p:nvPr/>
        </p:nvSpPr>
        <p:spPr>
          <a:xfrm>
            <a:off x="6276975" y="44005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$7.616</a:t>
            </a:r>
          </a:p>
        </p:txBody>
      </p:sp>
      <p:sp>
        <p:nvSpPr>
          <p:cNvPr id="90" name="cell-5-5">
            <a:extLst>
              <a:ext uri="{FF2B5EF4-FFF2-40B4-BE49-F238E27FC236}">
                <a16:creationId xmlns:a16="http://schemas.microsoft.com/office/drawing/2014/main" id="{62662B31-D733-4D03-80D8-288DDF900FDF}"/>
              </a:ext>
            </a:extLst>
          </p:cNvPr>
          <p:cNvSpPr>
            <a:spLocks noGrp="1"/>
          </p:cNvSpPr>
          <p:nvPr/>
        </p:nvSpPr>
        <p:spPr>
          <a:xfrm>
            <a:off x="7820025" y="4295775"/>
            <a:ext cx="2857500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1" name="txt-5-5">
            <a:extLst>
              <a:ext uri="{FF2B5EF4-FFF2-40B4-BE49-F238E27FC236}">
                <a16:creationId xmlns:a16="http://schemas.microsoft.com/office/drawing/2014/main" id="{6D102627-24A5-45E1-B9A5-655787FC4654}"/>
              </a:ext>
            </a:extLst>
          </p:cNvPr>
          <p:cNvSpPr>
            <a:spLocks noGrp="1"/>
          </p:cNvSpPr>
          <p:nvPr/>
        </p:nvSpPr>
        <p:spPr>
          <a:xfrm>
            <a:off x="7896225" y="440055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$7.616 × legajos participantes</a:t>
            </a:r>
          </a:p>
        </p:txBody>
      </p:sp>
      <p:sp>
        <p:nvSpPr>
          <p:cNvPr id="92" name="cell-6-0">
            <a:extLst>
              <a:ext uri="{FF2B5EF4-FFF2-40B4-BE49-F238E27FC236}">
                <a16:creationId xmlns:a16="http://schemas.microsoft.com/office/drawing/2014/main" id="{D42A4460-D148-4E46-BEEC-F215B6BE30CC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1857375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3" name="txt-6-0">
            <a:extLst>
              <a:ext uri="{FF2B5EF4-FFF2-40B4-BE49-F238E27FC236}">
                <a16:creationId xmlns:a16="http://schemas.microsoft.com/office/drawing/2014/main" id="{B6672AD1-521F-40EC-B12A-67BDB3BA3E92}"/>
              </a:ext>
            </a:extLst>
          </p:cNvPr>
          <p:cNvSpPr>
            <a:spLocks noGrp="1"/>
          </p:cNvSpPr>
          <p:nvPr/>
        </p:nvSpPr>
        <p:spPr>
          <a:xfrm>
            <a:off x="990600" y="4772025"/>
            <a:ext cx="17049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 Secos</a:t>
            </a:r>
          </a:p>
        </p:txBody>
      </p:sp>
      <p:sp>
        <p:nvSpPr>
          <p:cNvPr id="94" name="cell-6-1">
            <a:extLst>
              <a:ext uri="{FF2B5EF4-FFF2-40B4-BE49-F238E27FC236}">
                <a16:creationId xmlns:a16="http://schemas.microsoft.com/office/drawing/2014/main" id="{6E8F3D54-4B85-4C09-9711-99E052EF77E3}"/>
              </a:ext>
            </a:extLst>
          </p:cNvPr>
          <p:cNvSpPr>
            <a:spLocks noGrp="1"/>
          </p:cNvSpPr>
          <p:nvPr/>
        </p:nvSpPr>
        <p:spPr>
          <a:xfrm>
            <a:off x="2771775" y="4667250"/>
            <a:ext cx="11430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5" name="txt-6-1">
            <a:extLst>
              <a:ext uri="{FF2B5EF4-FFF2-40B4-BE49-F238E27FC236}">
                <a16:creationId xmlns:a16="http://schemas.microsoft.com/office/drawing/2014/main" id="{2C4061B2-4820-4C0C-B2D1-FDBC5DD3A88E}"/>
              </a:ext>
            </a:extLst>
          </p:cNvPr>
          <p:cNvSpPr>
            <a:spLocks noGrp="1"/>
          </p:cNvSpPr>
          <p:nvPr/>
        </p:nvSpPr>
        <p:spPr>
          <a:xfrm>
            <a:off x="2847975" y="4772025"/>
            <a:ext cx="99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</a:t>
            </a:r>
          </a:p>
        </p:txBody>
      </p:sp>
      <p:sp>
        <p:nvSpPr>
          <p:cNvPr id="96" name="cell-6-2">
            <a:extLst>
              <a:ext uri="{FF2B5EF4-FFF2-40B4-BE49-F238E27FC236}">
                <a16:creationId xmlns:a16="http://schemas.microsoft.com/office/drawing/2014/main" id="{9A11B6CB-4966-437F-AA74-EE3BCCD4380B}"/>
              </a:ext>
            </a:extLst>
          </p:cNvPr>
          <p:cNvSpPr>
            <a:spLocks noGrp="1"/>
          </p:cNvSpPr>
          <p:nvPr/>
        </p:nvSpPr>
        <p:spPr>
          <a:xfrm>
            <a:off x="3914775" y="466725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7" name="txt-6-2">
            <a:extLst>
              <a:ext uri="{FF2B5EF4-FFF2-40B4-BE49-F238E27FC236}">
                <a16:creationId xmlns:a16="http://schemas.microsoft.com/office/drawing/2014/main" id="{6DAF55CC-8B33-48E5-A22B-9177C267C942}"/>
              </a:ext>
            </a:extLst>
          </p:cNvPr>
          <p:cNvSpPr>
            <a:spLocks noGrp="1"/>
          </p:cNvSpPr>
          <p:nvPr/>
        </p:nvSpPr>
        <p:spPr>
          <a:xfrm>
            <a:off x="3990975" y="47720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$1.243</a:t>
            </a:r>
          </a:p>
        </p:txBody>
      </p:sp>
      <p:sp>
        <p:nvSpPr>
          <p:cNvPr id="98" name="cell-6-3">
            <a:extLst>
              <a:ext uri="{FF2B5EF4-FFF2-40B4-BE49-F238E27FC236}">
                <a16:creationId xmlns:a16="http://schemas.microsoft.com/office/drawing/2014/main" id="{B95637D3-A32C-448D-A4E4-9DEC9045FAF7}"/>
              </a:ext>
            </a:extLst>
          </p:cNvPr>
          <p:cNvSpPr>
            <a:spLocks noGrp="1"/>
          </p:cNvSpPr>
          <p:nvPr/>
        </p:nvSpPr>
        <p:spPr>
          <a:xfrm>
            <a:off x="5534025" y="4667250"/>
            <a:ext cx="6667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9" name="txt-6-3">
            <a:extLst>
              <a:ext uri="{FF2B5EF4-FFF2-40B4-BE49-F238E27FC236}">
                <a16:creationId xmlns:a16="http://schemas.microsoft.com/office/drawing/2014/main" id="{D26B2C55-6C8E-4329-B6F1-2FE41B6537E2}"/>
              </a:ext>
            </a:extLst>
          </p:cNvPr>
          <p:cNvSpPr>
            <a:spLocks noGrp="1"/>
          </p:cNvSpPr>
          <p:nvPr/>
        </p:nvSpPr>
        <p:spPr>
          <a:xfrm>
            <a:off x="5610225" y="477202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6,5</a:t>
            </a:r>
          </a:p>
        </p:txBody>
      </p:sp>
      <p:sp>
        <p:nvSpPr>
          <p:cNvPr id="100" name="cell-6-4">
            <a:extLst>
              <a:ext uri="{FF2B5EF4-FFF2-40B4-BE49-F238E27FC236}">
                <a16:creationId xmlns:a16="http://schemas.microsoft.com/office/drawing/2014/main" id="{8A2692CC-9AD6-4A2C-A440-ABA308841AF6}"/>
              </a:ext>
            </a:extLst>
          </p:cNvPr>
          <p:cNvSpPr>
            <a:spLocks noGrp="1"/>
          </p:cNvSpPr>
          <p:nvPr/>
        </p:nvSpPr>
        <p:spPr>
          <a:xfrm>
            <a:off x="6200775" y="4667250"/>
            <a:ext cx="161925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" name="txt-6-4">
            <a:extLst>
              <a:ext uri="{FF2B5EF4-FFF2-40B4-BE49-F238E27FC236}">
                <a16:creationId xmlns:a16="http://schemas.microsoft.com/office/drawing/2014/main" id="{2B5D70EC-4150-4804-92F6-261F09485057}"/>
              </a:ext>
            </a:extLst>
          </p:cNvPr>
          <p:cNvSpPr>
            <a:spLocks noGrp="1"/>
          </p:cNvSpPr>
          <p:nvPr/>
        </p:nvSpPr>
        <p:spPr>
          <a:xfrm>
            <a:off x="6276975" y="477202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$8.080</a:t>
            </a:r>
          </a:p>
        </p:txBody>
      </p:sp>
      <p:sp>
        <p:nvSpPr>
          <p:cNvPr id="102" name="cell-6-5">
            <a:extLst>
              <a:ext uri="{FF2B5EF4-FFF2-40B4-BE49-F238E27FC236}">
                <a16:creationId xmlns:a16="http://schemas.microsoft.com/office/drawing/2014/main" id="{C1995808-984E-45D2-81B9-41EEF75E7ED7}"/>
              </a:ext>
            </a:extLst>
          </p:cNvPr>
          <p:cNvSpPr>
            <a:spLocks noGrp="1"/>
          </p:cNvSpPr>
          <p:nvPr/>
        </p:nvSpPr>
        <p:spPr>
          <a:xfrm>
            <a:off x="7820025" y="4667250"/>
            <a:ext cx="2857500" cy="3714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3" name="txt-6-5">
            <a:extLst>
              <a:ext uri="{FF2B5EF4-FFF2-40B4-BE49-F238E27FC236}">
                <a16:creationId xmlns:a16="http://schemas.microsoft.com/office/drawing/2014/main" id="{80A7142F-A42B-49EE-B191-9F10DF78728D}"/>
              </a:ext>
            </a:extLst>
          </p:cNvPr>
          <p:cNvSpPr>
            <a:spLocks noGrp="1"/>
          </p:cNvSpPr>
          <p:nvPr/>
        </p:nvSpPr>
        <p:spPr>
          <a:xfrm>
            <a:off x="7896225" y="4772025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$8.080 × legajos participantes</a:t>
            </a:r>
          </a:p>
        </p:txBody>
      </p:sp>
      <p:sp>
        <p:nvSpPr>
          <p:cNvPr id="104" name="distribution">
            <a:extLst>
              <a:ext uri="{FF2B5EF4-FFF2-40B4-BE49-F238E27FC236}">
                <a16:creationId xmlns:a16="http://schemas.microsoft.com/office/drawing/2014/main" id="{65373F9C-596B-48A6-B4B0-CB9B66A41CA0}"/>
              </a:ext>
            </a:extLst>
          </p:cNvPr>
          <p:cNvSpPr>
            <a:spLocks noGrp="1"/>
          </p:cNvSpPr>
          <p:nvPr/>
        </p:nvSpPr>
        <p:spPr>
          <a:xfrm>
            <a:off x="914400" y="52006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Distribución: Opción A por participación productiva; Opciones B y C por horas participadas.</a:t>
            </a:r>
          </a:p>
        </p:txBody>
      </p:sp>
      <p:sp>
        <p:nvSpPr>
          <p:cNvPr id="105" name="distribution2">
            <a:extLst>
              <a:ext uri="{FF2B5EF4-FFF2-40B4-BE49-F238E27FC236}">
                <a16:creationId xmlns:a16="http://schemas.microsoft.com/office/drawing/2014/main" id="{BECB39CA-804E-4BC3-9274-13158A861D22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valor del Premio Grupal crece o disminuye con la cantidad de legajos participantes del turno.</a:t>
            </a:r>
          </a:p>
        </p:txBody>
      </p:sp>
    </p:spTree>
    <p:extLst>
      <p:ext uri="{BB962C8B-B14F-4D97-AF65-F5344CB8AC3E}">
        <p14:creationId xmlns:p14="http://schemas.microsoft.com/office/powerpoint/2010/main" val="721094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D4E0E70F-32A4-46B0-A63B-B460A69085E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D2AA6AB-F626-4F29-A638-946999AE1E6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31. Funciones medibles y no medibles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45521945-D1DE-4AF6-8797-E4734EF6EC15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left-panel">
            <a:extLst>
              <a:ext uri="{FF2B5EF4-FFF2-40B4-BE49-F238E27FC236}">
                <a16:creationId xmlns:a16="http://schemas.microsoft.com/office/drawing/2014/main" id="{2DCFFD55-D02A-4DD2-B3D0-ACACE3D97410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4762500" cy="4762500"/>
          </a:xfrm>
          <a:prstGeom prst="roundRect">
            <a:avLst>
              <a:gd name="adj" fmla="val 2400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ight-panel">
            <a:extLst>
              <a:ext uri="{FF2B5EF4-FFF2-40B4-BE49-F238E27FC236}">
                <a16:creationId xmlns:a16="http://schemas.microsoft.com/office/drawing/2014/main" id="{00E53352-F5CF-4DC1-A4CD-D90D4519D551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47625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med-title">
            <a:extLst>
              <a:ext uri="{FF2B5EF4-FFF2-40B4-BE49-F238E27FC236}">
                <a16:creationId xmlns:a16="http://schemas.microsoft.com/office/drawing/2014/main" id="{80951596-2877-4D5F-A79D-117971050A48}"/>
              </a:ext>
            </a:extLst>
          </p:cNvPr>
          <p:cNvSpPr>
            <a:spLocks noGrp="1"/>
          </p:cNvSpPr>
          <p:nvPr/>
        </p:nvSpPr>
        <p:spPr>
          <a:xfrm>
            <a:off x="1238250" y="17145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Funciones medibles</a:t>
            </a:r>
          </a:p>
        </p:txBody>
      </p:sp>
      <p:sp>
        <p:nvSpPr>
          <p:cNvPr id="7" name="med-body">
            <a:extLst>
              <a:ext uri="{FF2B5EF4-FFF2-40B4-BE49-F238E27FC236}">
                <a16:creationId xmlns:a16="http://schemas.microsoft.com/office/drawing/2014/main" id="{C40B13B2-302E-40AE-98A7-8A176A8FC40A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4000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Tienen una unidad física observable por hora.</a:t>
            </a:r>
          </a:p>
          <a:p>
            <a:endParaRPr sz="11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Ejemplos: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Picking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Carga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Carreteo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Clark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Control</a:t>
            </a:r>
          </a:p>
          <a:p>
            <a:pPr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Recepción</a:t>
            </a:r>
          </a:p>
        </p:txBody>
      </p:sp>
      <p:sp>
        <p:nvSpPr>
          <p:cNvPr id="8" name="nomed-title">
            <a:extLst>
              <a:ext uri="{FF2B5EF4-FFF2-40B4-BE49-F238E27FC236}">
                <a16:creationId xmlns:a16="http://schemas.microsoft.com/office/drawing/2014/main" id="{B8F449B3-9F07-4D13-8B97-8D9F262785A8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Funciones no medibles</a:t>
            </a:r>
          </a:p>
        </p:txBody>
      </p:sp>
      <p:sp>
        <p:nvSpPr>
          <p:cNvPr id="9" name="nomed-body">
            <a:extLst>
              <a:ext uri="{FF2B5EF4-FFF2-40B4-BE49-F238E27FC236}">
                <a16:creationId xmlns:a16="http://schemas.microsoft.com/office/drawing/2014/main" id="{DE00B4BE-B8A6-4C19-B27D-F0F3E9A9EFEE}"/>
              </a:ext>
            </a:extLst>
          </p:cNvPr>
          <p:cNvSpPr>
            <a:spLocks noGrp="1"/>
          </p:cNvSpPr>
          <p:nvPr/>
        </p:nvSpPr>
        <p:spPr>
          <a:xfrm>
            <a:off x="6762750" y="2190750"/>
            <a:ext cx="40957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tienen aún una unidad física directa validada, y cobran premio actualmente.</a:t>
            </a:r>
          </a:p>
          <a:p>
            <a:endParaRPr sz="863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Administrativas/soporte: Administrativos CD, Instructor, Hielo Seco, Reachstacker, Armado de Muebles Grandes.</a:t>
            </a:r>
          </a:p>
          <a:p>
            <a:endParaRPr sz="863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Devoluciones: Administración, Autoelevador, Operario, Recepción.</a:t>
            </a:r>
          </a:p>
          <a:p>
            <a:endParaRPr sz="863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Otras tareas: Administrativo, Autoelevador, Autoelevador Cámara 6, Cámara 6, Clasificación Guía, General, Operario, Toritero.</a:t>
            </a:r>
          </a:p>
          <a:p>
            <a:endParaRPr sz="863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Recepción/importados: Recepción Importado de NOA, Recepción Importado NOA | Toyota.</a:t>
            </a:r>
          </a:p>
          <a:p>
            <a:endParaRPr sz="863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Refrigerados: Administración, Calidad, Carga, Control de Procesos, Operaciones, Procesamiento, Recepción.</a:t>
            </a:r>
          </a:p>
        </p:txBody>
      </p:sp>
    </p:spTree>
    <p:extLst>
      <p:ext uri="{BB962C8B-B14F-4D97-AF65-F5344CB8AC3E}">
        <p14:creationId xmlns:p14="http://schemas.microsoft.com/office/powerpoint/2010/main" val="13501621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5360</Words>
  <Application>Microsoft Office PowerPoint</Application>
  <DocSecurity>0</DocSecurity>
  <PresentationFormat>Panorámica</PresentationFormat>
  <Paragraphs>2517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093 Ingenieria - Cucci Adrian Augusto</cp:lastModifiedBy>
  <cp:revision>4</cp:revision>
  <dcterms:created xsi:type="dcterms:W3CDTF">2026-07-30T22:07:07Z</dcterms:created>
  <dcterms:modified xsi:type="dcterms:W3CDTF">2026-07-30T22:40:42Z</dcterms:modified>
</cp:coreProperties>
</file>