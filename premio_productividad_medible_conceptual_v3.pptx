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2cc73f43a40ba" /><Relationship Type="http://schemas.openxmlformats.org/officeDocument/2006/relationships/extended-properties" Target="/docProps/app.xml" Id="Rebcbe11e7991428a" /><Relationship Type="http://schemas.openxmlformats.org/officeDocument/2006/relationships/officeDocument" Target="/ppt/presentation.xml" Id="Rcce03a638b1e4e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321a421944811"/>
  </p:sldMasterIdLst>
  <p:notesMasterIdLst>
    <p:notesMasterId xmlns:r="http://schemas.openxmlformats.org/officeDocument/2006/relationships" r:id="Rb0731050c9cb49c2"/>
  </p:notesMasterIdLst>
  <p:sldIdLst>
    <p:sldId xmlns:r="http://schemas.openxmlformats.org/officeDocument/2006/relationships" id="256" r:id="R5e03170382644cc6"/>
    <p:sldId xmlns:r="http://schemas.openxmlformats.org/officeDocument/2006/relationships" id="257" r:id="Rcca83173af03408a"/>
    <p:sldId xmlns:r="http://schemas.openxmlformats.org/officeDocument/2006/relationships" id="258" r:id="Rb38bec99f7fc4f66"/>
    <p:sldId xmlns:r="http://schemas.openxmlformats.org/officeDocument/2006/relationships" id="259" r:id="R25534762c9234234"/>
    <p:sldId xmlns:r="http://schemas.openxmlformats.org/officeDocument/2006/relationships" id="260" r:id="R844c2afbe1b04e2d"/>
    <p:sldId xmlns:r="http://schemas.openxmlformats.org/officeDocument/2006/relationships" id="261" r:id="Rb6ab719c5c35415f"/>
    <p:sldId xmlns:r="http://schemas.openxmlformats.org/officeDocument/2006/relationships" id="262" r:id="R102c40f5639e4364"/>
    <p:sldId xmlns:r="http://schemas.openxmlformats.org/officeDocument/2006/relationships" id="263" r:id="Rabaca001502642bf"/>
    <p:sldId xmlns:r="http://schemas.openxmlformats.org/officeDocument/2006/relationships" id="264" r:id="R2c9b86c357a04c91"/>
    <p:sldId xmlns:r="http://schemas.openxmlformats.org/officeDocument/2006/relationships" id="265" r:id="Rc73aaa0af7e54079"/>
    <p:sldId xmlns:r="http://schemas.openxmlformats.org/officeDocument/2006/relationships" id="266" r:id="Re0d03cb2e3d54f2d"/>
    <p:sldId xmlns:r="http://schemas.openxmlformats.org/officeDocument/2006/relationships" id="267" r:id="R51463f07b794484a"/>
    <p:sldId xmlns:r="http://schemas.openxmlformats.org/officeDocument/2006/relationships" id="268" r:id="Rd902ecc8592e443f"/>
    <p:sldId xmlns:r="http://schemas.openxmlformats.org/officeDocument/2006/relationships" id="269" r:id="Re710ccd407834d2f"/>
    <p:sldId xmlns:r="http://schemas.openxmlformats.org/officeDocument/2006/relationships" id="270" r:id="Rfe0fda9505bc4208"/>
    <p:sldId xmlns:r="http://schemas.openxmlformats.org/officeDocument/2006/relationships" id="271" r:id="R15be96101ea24407"/>
    <p:sldId xmlns:r="http://schemas.openxmlformats.org/officeDocument/2006/relationships" id="272" r:id="R936195c53ac84d50"/>
    <p:sldId xmlns:r="http://schemas.openxmlformats.org/officeDocument/2006/relationships" id="273" r:id="R1c629f48ac7e4651"/>
    <p:sldId xmlns:r="http://schemas.openxmlformats.org/officeDocument/2006/relationships" id="274" r:id="Rb1ba075fe84f42c9"/>
    <p:sldId xmlns:r="http://schemas.openxmlformats.org/officeDocument/2006/relationships" id="275" r:id="Rbfb71887d90c43fa"/>
    <p:sldId xmlns:r="http://schemas.openxmlformats.org/officeDocument/2006/relationships" id="276" r:id="Rb6984ec630ec44b8"/>
    <p:sldId xmlns:r="http://schemas.openxmlformats.org/officeDocument/2006/relationships" id="277" r:id="R09a3b9e1e9b74d93"/>
    <p:sldId xmlns:r="http://schemas.openxmlformats.org/officeDocument/2006/relationships" id="278" r:id="Rc96db12518df4400"/>
    <p:sldId xmlns:r="http://schemas.openxmlformats.org/officeDocument/2006/relationships" id="279" r:id="Re5cbede20de6444c"/>
    <p:sldId xmlns:r="http://schemas.openxmlformats.org/officeDocument/2006/relationships" id="280" r:id="Rbf6f1f6685f94a94"/>
    <p:sldId xmlns:r="http://schemas.openxmlformats.org/officeDocument/2006/relationships" id="281" r:id="Rba4660b9742641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facb0c2fe4b90" /><Relationship Type="http://schemas.openxmlformats.org/officeDocument/2006/relationships/slideMaster" Target="/ppt/slideMasters/slideMaster1.xml" Id="Rf9b321a421944811" /><Relationship Type="http://schemas.openxmlformats.org/officeDocument/2006/relationships/notesMaster" Target="/ppt/notesMasters/notesMaster1.xml" Id="Rb0731050c9cb49c2" /><Relationship Type="http://schemas.openxmlformats.org/officeDocument/2006/relationships/presProps" Target="/ppt/presProps.xml" Id="R2bb32317653c4ab7" /><Relationship Type="http://schemas.openxmlformats.org/officeDocument/2006/relationships/tableStyles" Target="/ppt/tableStyles.xml" Id="R2ca38a46511f47be" /><Relationship Type="http://schemas.openxmlformats.org/officeDocument/2006/relationships/slide" Target="/ppt/slides/slide1.xml" Id="R5e03170382644cc6" /><Relationship Type="http://schemas.openxmlformats.org/officeDocument/2006/relationships/slide" Target="/ppt/slides/slide2.xml" Id="Rcca83173af03408a" /><Relationship Type="http://schemas.openxmlformats.org/officeDocument/2006/relationships/slide" Target="/ppt/slides/slide3.xml" Id="Rb38bec99f7fc4f66" /><Relationship Type="http://schemas.openxmlformats.org/officeDocument/2006/relationships/slide" Target="/ppt/slides/slide4.xml" Id="R25534762c9234234" /><Relationship Type="http://schemas.openxmlformats.org/officeDocument/2006/relationships/slide" Target="/ppt/slides/slide5.xml" Id="R844c2afbe1b04e2d" /><Relationship Type="http://schemas.openxmlformats.org/officeDocument/2006/relationships/slide" Target="/ppt/slides/slide6.xml" Id="Rb6ab719c5c35415f" /><Relationship Type="http://schemas.openxmlformats.org/officeDocument/2006/relationships/slide" Target="/ppt/slides/slide7.xml" Id="R102c40f5639e4364" /><Relationship Type="http://schemas.openxmlformats.org/officeDocument/2006/relationships/slide" Target="/ppt/slides/slide8.xml" Id="Rabaca001502642bf" /><Relationship Type="http://schemas.openxmlformats.org/officeDocument/2006/relationships/slide" Target="/ppt/slides/slide9.xml" Id="R2c9b86c357a04c91" /><Relationship Type="http://schemas.openxmlformats.org/officeDocument/2006/relationships/slide" Target="/ppt/slides/slide10.xml" Id="Rc73aaa0af7e54079" /><Relationship Type="http://schemas.openxmlformats.org/officeDocument/2006/relationships/slide" Target="/ppt/slides/slide11.xml" Id="Re0d03cb2e3d54f2d" /><Relationship Type="http://schemas.openxmlformats.org/officeDocument/2006/relationships/slide" Target="/ppt/slides/slide12.xml" Id="R51463f07b794484a" /><Relationship Type="http://schemas.openxmlformats.org/officeDocument/2006/relationships/slide" Target="/ppt/slides/slide13.xml" Id="Rd902ecc8592e443f" /><Relationship Type="http://schemas.openxmlformats.org/officeDocument/2006/relationships/slide" Target="/ppt/slides/slide14.xml" Id="Re710ccd407834d2f" /><Relationship Type="http://schemas.openxmlformats.org/officeDocument/2006/relationships/slide" Target="/ppt/slides/slide15.xml" Id="Rfe0fda9505bc4208" /><Relationship Type="http://schemas.openxmlformats.org/officeDocument/2006/relationships/slide" Target="/ppt/slides/slide16.xml" Id="R15be96101ea24407" /><Relationship Type="http://schemas.openxmlformats.org/officeDocument/2006/relationships/slide" Target="/ppt/slides/slide17.xml" Id="R936195c53ac84d50" /><Relationship Type="http://schemas.openxmlformats.org/officeDocument/2006/relationships/slide" Target="/ppt/slides/slide18.xml" Id="R1c629f48ac7e4651" /><Relationship Type="http://schemas.openxmlformats.org/officeDocument/2006/relationships/slide" Target="/ppt/slides/slide19.xml" Id="Rb1ba075fe84f42c9" /><Relationship Type="http://schemas.openxmlformats.org/officeDocument/2006/relationships/slide" Target="/ppt/slides/slide20.xml" Id="Rbfb71887d90c43fa" /><Relationship Type="http://schemas.openxmlformats.org/officeDocument/2006/relationships/slide" Target="/ppt/slides/slide21.xml" Id="Rb6984ec630ec44b8" /><Relationship Type="http://schemas.openxmlformats.org/officeDocument/2006/relationships/slide" Target="/ppt/slides/slide22.xml" Id="R09a3b9e1e9b74d93" /><Relationship Type="http://schemas.openxmlformats.org/officeDocument/2006/relationships/slide" Target="/ppt/slides/slide23.xml" Id="Rc96db12518df4400" /><Relationship Type="http://schemas.openxmlformats.org/officeDocument/2006/relationships/slide" Target="/ppt/slides/slide24.xml" Id="Re5cbede20de6444c" /><Relationship Type="http://schemas.openxmlformats.org/officeDocument/2006/relationships/slide" Target="/ppt/slides/slide25.xml" Id="Rbf6f1f6685f94a94" /><Relationship Type="http://schemas.openxmlformats.org/officeDocument/2006/relationships/slide" Target="/ppt/slides/slide26.xml" Id="Rba4660b97426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c1cb01d52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ca941c4384944" /><Relationship Type="http://schemas.openxmlformats.org/officeDocument/2006/relationships/notesMaster" Target="/ppt/notesMasters/notesMaster1.xml" Id="R5ab024c50d2f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08b52b118a4542" /><Relationship Type="http://schemas.openxmlformats.org/officeDocument/2006/relationships/notesMaster" Target="/ppt/notesMasters/notesMaster1.xml" Id="R5812d48c82a345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90d4167fb34ade" /><Relationship Type="http://schemas.openxmlformats.org/officeDocument/2006/relationships/notesMaster" Target="/ppt/notesMasters/notesMaster1.xml" Id="R345d1b001dfc4a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6ec273f774843" /><Relationship Type="http://schemas.openxmlformats.org/officeDocument/2006/relationships/notesMaster" Target="/ppt/notesMasters/notesMaster1.xml" Id="Rd8d36304fa9d43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36246b5fd34427" /><Relationship Type="http://schemas.openxmlformats.org/officeDocument/2006/relationships/notesMaster" Target="/ppt/notesMasters/notesMaster1.xml" Id="Rc80308d9632e4b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98f8972bc7470b" /><Relationship Type="http://schemas.openxmlformats.org/officeDocument/2006/relationships/notesMaster" Target="/ppt/notesMasters/notesMaster1.xml" Id="R821389490c0247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307f19a77d4292" /><Relationship Type="http://schemas.openxmlformats.org/officeDocument/2006/relationships/notesMaster" Target="/ppt/notesMasters/notesMaster1.xml" Id="Raf2e362663bd42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c88f2c4de84eb4" /><Relationship Type="http://schemas.openxmlformats.org/officeDocument/2006/relationships/notesMaster" Target="/ppt/notesMasters/notesMaster1.xml" Id="Re00d60920cc141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f60e636354ef8" /><Relationship Type="http://schemas.openxmlformats.org/officeDocument/2006/relationships/notesMaster" Target="/ppt/notesMasters/notesMaster1.xml" Id="R31e21d23992249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bac65ff6c14534" /><Relationship Type="http://schemas.openxmlformats.org/officeDocument/2006/relationships/notesMaster" Target="/ppt/notesMasters/notesMaster1.xml" Id="R87854ada0f984c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8ea339a12244c9" /><Relationship Type="http://schemas.openxmlformats.org/officeDocument/2006/relationships/notesMaster" Target="/ppt/notesMasters/notesMaster1.xml" Id="R423359f24d5145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f85bacd48044aa" /><Relationship Type="http://schemas.openxmlformats.org/officeDocument/2006/relationships/notesMaster" Target="/ppt/notesMasters/notesMaster1.xml" Id="Rdb9978e5f3154d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8442050e6c42c2" /><Relationship Type="http://schemas.openxmlformats.org/officeDocument/2006/relationships/notesMaster" Target="/ppt/notesMasters/notesMaster1.xml" Id="R2ae68d6e7bfe4f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8cc0ed740b4f09" /><Relationship Type="http://schemas.openxmlformats.org/officeDocument/2006/relationships/notesMaster" Target="/ppt/notesMasters/notesMaster1.xml" Id="Rded4179a4ae841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65656e52b34f96" /><Relationship Type="http://schemas.openxmlformats.org/officeDocument/2006/relationships/notesMaster" Target="/ppt/notesMasters/notesMaster1.xml" Id="R2a35c3a19fcc4c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695fdb60df4db2" /><Relationship Type="http://schemas.openxmlformats.org/officeDocument/2006/relationships/notesMaster" Target="/ppt/notesMasters/notesMaster1.xml" Id="R5a1f996b588c44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5871889614473d" /><Relationship Type="http://schemas.openxmlformats.org/officeDocument/2006/relationships/notesMaster" Target="/ppt/notesMasters/notesMaster1.xml" Id="Rdc288e86028245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aa0b4597494c0c" /><Relationship Type="http://schemas.openxmlformats.org/officeDocument/2006/relationships/notesMaster" Target="/ppt/notesMasters/notesMaster1.xml" Id="R9df4d7d5e3384b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59be70cb1244c2" /><Relationship Type="http://schemas.openxmlformats.org/officeDocument/2006/relationships/notesMaster" Target="/ppt/notesMasters/notesMaster1.xml" Id="Re73597c39a9344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4bb51834fe4a14" /><Relationship Type="http://schemas.openxmlformats.org/officeDocument/2006/relationships/notesMaster" Target="/ppt/notesMasters/notesMaster1.xml" Id="Rf1b3d4296e2e46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b3a3cad8ec44a2" /><Relationship Type="http://schemas.openxmlformats.org/officeDocument/2006/relationships/notesMaster" Target="/ppt/notesMasters/notesMaster1.xml" Id="R311e35171fc945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8c9f709b1744d9" /><Relationship Type="http://schemas.openxmlformats.org/officeDocument/2006/relationships/notesMaster" Target="/ppt/notesMasters/notesMaster1.xml" Id="R5b097e3b515f4e5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36a2f9257bb4583" /><Relationship Type="http://schemas.openxmlformats.org/officeDocument/2006/relationships/notesMaster" Target="/ppt/notesMasters/notesMaster1.xml" Id="R51985ebb62e443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f319cfdbd3451f" /><Relationship Type="http://schemas.openxmlformats.org/officeDocument/2006/relationships/notesMaster" Target="/ppt/notesMasters/notesMaster1.xml" Id="Rcb9f966f791440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d6532387c4415e" /><Relationship Type="http://schemas.openxmlformats.org/officeDocument/2006/relationships/notesMaster" Target="/ppt/notesMasters/notesMaster1.xml" Id="R2362a0ef11b94e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7f81b58dce04419" /><Relationship Type="http://schemas.openxmlformats.org/officeDocument/2006/relationships/notesMaster" Target="/ppt/notesMasters/notesMaster1.xml" Id="Rf9a63314112a4c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1d1960f304d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1b8daf16b4d5c" /><Relationship Type="http://schemas.openxmlformats.org/officeDocument/2006/relationships/slideLayout" Target="/ppt/slideLayouts/slideLayout1.xml" Id="R38031cef9ae740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031cef9ae740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9431f9e0d4627" /><Relationship Type="http://schemas.openxmlformats.org/officeDocument/2006/relationships/notesSlide" Target="/ppt/notesSlides/notesSlide1.xml" Id="Reb9257307f4e45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5bf40f5274d2e" /><Relationship Type="http://schemas.openxmlformats.org/officeDocument/2006/relationships/notesSlide" Target="/ppt/notesSlides/notesSlide2.xml" Id="Rdc2420278c4b4f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852f07d1e43d5" /><Relationship Type="http://schemas.openxmlformats.org/officeDocument/2006/relationships/notesSlide" Target="/ppt/notesSlides/notesSlide3.xml" Id="R36f2197f2611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f66388fef429d" /><Relationship Type="http://schemas.openxmlformats.org/officeDocument/2006/relationships/notesSlide" Target="/ppt/notesSlides/notesSlide4.xml" Id="R1eb2eb644f9747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9db45b23a4ff7" /><Relationship Type="http://schemas.openxmlformats.org/officeDocument/2006/relationships/notesSlide" Target="/ppt/notesSlides/notesSlide5.xml" Id="R5114999554ee4f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f0d27d5c54950" /><Relationship Type="http://schemas.openxmlformats.org/officeDocument/2006/relationships/notesSlide" Target="/ppt/notesSlides/notesSlide6.xml" Id="Rd401ad756bf740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13db7c4249de" /><Relationship Type="http://schemas.openxmlformats.org/officeDocument/2006/relationships/notesSlide" Target="/ppt/notesSlides/notesSlide7.xml" Id="Raafc6862d2dd4f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94969a3bb46cf" /><Relationship Type="http://schemas.openxmlformats.org/officeDocument/2006/relationships/notesSlide" Target="/ppt/notesSlides/notesSlide8.xml" Id="Rd84782ced7a54c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ac98da71f4502" /><Relationship Type="http://schemas.openxmlformats.org/officeDocument/2006/relationships/notesSlide" Target="/ppt/notesSlides/notesSlide9.xml" Id="Ra403034cd64f43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554e65d6d4999" /><Relationship Type="http://schemas.openxmlformats.org/officeDocument/2006/relationships/notesSlide" Target="/ppt/notesSlides/notesSlide10.xml" Id="Rfe343fd4482f46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c7f3b38c4487" /><Relationship Type="http://schemas.openxmlformats.org/officeDocument/2006/relationships/notesSlide" Target="/ppt/notesSlides/notesSlide11.xml" Id="Rd93fa65aa4e149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4d76bb0034dfc" /><Relationship Type="http://schemas.openxmlformats.org/officeDocument/2006/relationships/notesSlide" Target="/ppt/notesSlides/notesSlide12.xml" Id="Rf6f1018d0f4e49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f8c68961c420a" /><Relationship Type="http://schemas.openxmlformats.org/officeDocument/2006/relationships/notesSlide" Target="/ppt/notesSlides/notesSlide13.xml" Id="R8b57c227fce949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8d0bef5a94524" /><Relationship Type="http://schemas.openxmlformats.org/officeDocument/2006/relationships/notesSlide" Target="/ppt/notesSlides/notesSlide14.xml" Id="R3779e46a27504a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e62b85401457a" /><Relationship Type="http://schemas.openxmlformats.org/officeDocument/2006/relationships/notesSlide" Target="/ppt/notesSlides/notesSlide15.xml" Id="R3dea8e48c5b940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e947d41e34316" /><Relationship Type="http://schemas.openxmlformats.org/officeDocument/2006/relationships/notesSlide" Target="/ppt/notesSlides/notesSlide16.xml" Id="R9925d9a428b343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489e6af6547f7" /><Relationship Type="http://schemas.openxmlformats.org/officeDocument/2006/relationships/notesSlide" Target="/ppt/notesSlides/notesSlide17.xml" Id="R30866d3edccc4d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694daab7b4b00" /><Relationship Type="http://schemas.openxmlformats.org/officeDocument/2006/relationships/notesSlide" Target="/ppt/notesSlides/notesSlide18.xml" Id="R3d1abe9d7e294a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9098354fc4530" /><Relationship Type="http://schemas.openxmlformats.org/officeDocument/2006/relationships/notesSlide" Target="/ppt/notesSlides/notesSlide19.xml" Id="Ra03c98142a794f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441e3b786452b" /><Relationship Type="http://schemas.openxmlformats.org/officeDocument/2006/relationships/notesSlide" Target="/ppt/notesSlides/notesSlide20.xml" Id="R1cacdbf87f834f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c429afda9476c" /><Relationship Type="http://schemas.openxmlformats.org/officeDocument/2006/relationships/notesSlide" Target="/ppt/notesSlides/notesSlide21.xml" Id="Ra6b0e1c75b1c479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2c50f8f4f454d" /><Relationship Type="http://schemas.openxmlformats.org/officeDocument/2006/relationships/notesSlide" Target="/ppt/notesSlides/notesSlide22.xml" Id="R0f3309bdbd924b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70d4e0cc74c90" /><Relationship Type="http://schemas.openxmlformats.org/officeDocument/2006/relationships/notesSlide" Target="/ppt/notesSlides/notesSlide23.xml" Id="Rdf13f26b3e1246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3d825411c44c1" /><Relationship Type="http://schemas.openxmlformats.org/officeDocument/2006/relationships/notesSlide" Target="/ppt/notesSlides/notesSlide24.xml" Id="R97687c75ea674b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37948bd1d4753" /><Relationship Type="http://schemas.openxmlformats.org/officeDocument/2006/relationships/notesSlide" Target="/ppt/notesSlides/notesSlide25.xml" Id="Rc1f00e3608a84c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f23c5209a47d4" /><Relationship Type="http://schemas.openxmlformats.org/officeDocument/2006/relationships/notesSlide" Target="/ppt/notesSlides/notesSlide26.xml" Id="R2a1690c39e184a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99CB50-A48C-400E-9D72-AA2AA019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La propuesta cambia la granularidad de medición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23A24C-E368-4148-8DE2-81D8182E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Finalidad de la propuesta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Medir las operaciones productivas por hora para reconocer mejor lo que ocurre dentro de la jornada.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cambio propuesto no busca discutir una nueva curva económica en esta instancia.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Busca cambiar la granularidad de medición: de jornada completa a tramos horarios.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 términos prácticos: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cada hora se evalúa contra la escala que corresponde a la operación y al sector;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el premio diario surge de sumar los resultados horarios;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los descuentos por TNC y errores se aplican sobre el resultado del día;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el premio grupal se activa sólo si el grupo alcanza el objetivo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discusión esperada para esta etapa es validar el método, las unidades medidas y las tablas propuestas por sector.</a:t>
            </a:r>
          </a:p>
        </p:txBody>
      </p:sp>
    </p:spTree>
    <p:extLst>
      <p:ext uri="{BB962C8B-B14F-4D97-AF65-F5344CB8AC3E}">
        <p14:creationId xmlns:p14="http://schemas.microsoft.com/office/powerpoint/2010/main" val="2142386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898149-69EB-407F-8305-D332BCA0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Cada operación se mide con su propia unidad operativa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6CF3E-093D-486F-B320-A10293B9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Qué mide cada operación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Cada operación medible se evalúa por hora según su unidad operativa propia.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               | Unidad de medición propuesta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Picking                 | bultos preparados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                  | pallets cargados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                | pallets trasladados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                  | pallets o movimientos equivalentes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CHP + CBF       | huecos controlados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Manual          | huecos controlados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NOA           | pallets recibidos/revisados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Secos         | pallets recibidos/revisados por hora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Consolidación           | pallets consolidados por hora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Criterio importante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La consolidación no se incluye implícitamente dentro de Picking, Carga o Carreteo.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Picking mide preparación.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Carga mide carga.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Carreteo mide traslado.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Consolidación mide consolidación.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Si una persona realiza más de una operación durante el día, cada hora se mide contra la operación efectivamente realizada.</a:t>
            </a:r>
          </a:p>
        </p:txBody>
      </p:sp>
    </p:spTree>
    <p:extLst>
      <p:ext uri="{BB962C8B-B14F-4D97-AF65-F5344CB8AC3E}">
        <p14:creationId xmlns:p14="http://schemas.microsoft.com/office/powerpoint/2010/main" val="1978288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E013A-2D75-4E47-988C-B9714E5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Las fórmulas se resumen en conceptos de pago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A6157B-CAAB-4FA6-93C9-2F3CF33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diario = Σ premios horarios - TNC - errores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Concepto: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hora genera, o no, un premio según la producción real de esa hora y la tabla aplicable.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grupal = bolsa grupal × participación individual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Concepto: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el grupo supera el objetivo, se genera una bolsa. Esa bolsa se reparte según la contribución de cada persona a la producción total del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grupal = premio mínimo horario × cantidad de operarios × factor colchón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Concepto: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bolsa se calcula con una referencia mínima y un factor de resguardo, no como suma directa de todos los premios individuales.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total diario = pago individual diario + pago grupal individual</a:t>
            </a:r>
          </a:p>
        </p:txBody>
      </p:sp>
    </p:spTree>
    <p:extLst>
      <p:ext uri="{BB962C8B-B14F-4D97-AF65-F5344CB8AC3E}">
        <p14:creationId xmlns:p14="http://schemas.microsoft.com/office/powerpoint/2010/main" val="1980672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F7D84F-D2F5-4CE6-B95A-5C1E7F2C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Picking se abre por sector explícito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5F0531-3D7A-4F26-A294-B1CADFC5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 para las tablas por sector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Picking, la tabla se abre por sector explícito: AL, MU, B1, PI, etc.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sector conserva su equivalencia operativa cargada en PV_TIEMPOS_DE_PICKING.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Esa equivalencia ajusta la cantidad física de bultos/hora requerida para cada tramo.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 de una tabla sectorial: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Desde/h y Hasta/h indican bultos físicos por hora para ese sector.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Premio/h indica el pago horario aplicable si la producción cae en ese tramo.</a:t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Cuando el sector no tiene tiempo normal histórico, se muestra igualmente la tabla si existe equivalencia.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Esto evita tratar a todos los sectores como si tuvieran la misma dificultad operativa.</a:t>
            </a:r>
          </a:p>
        </p:txBody>
      </p:sp>
    </p:spTree>
    <p:extLst>
      <p:ext uri="{BB962C8B-B14F-4D97-AF65-F5344CB8AC3E}">
        <p14:creationId xmlns:p14="http://schemas.microsoft.com/office/powerpoint/2010/main" val="922498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9593C3-8FEC-4FE0-9D8F-BC8E54E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B697DE-474D-495F-95E9-495C7DF3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AL | base SECOS + NOA | eq 1,00 | TN 19,9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153,7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153,8 |   172,2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172,3 |   195,2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195,4 |   218,3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218,5 |   241,4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241,5 |   279,8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280,0 |   346,0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346,2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A2 | base SECOS + NOA | eq 1,14 | TN 22,7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134,8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135,0 |   151,0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151,1 |   171,3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171,4 |   191,5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191,6 |   211,7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211,9 |   245,5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245,6 |   303,5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303,6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A3 | base SECOS + NOA | eq 0,93 | TN 18,5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165,3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165,4 |   185,1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185,3 |   209,9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210,1 |   234,7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234,9 |   259,6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259,7 |   300,9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301,1 |   372,0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372,2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660800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7EEEB3-2504-49A7-9AD2-EB1617E1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B0CB2A-3B6A-48B3-BC42-BD725224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A4 | base SECOS + NOA | eq 0,81 | TN 16,1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189,7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189,9 |   212,5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212,7 |   241,0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241,2 |   269,5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269,7 |   298,0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298,2 |   345,5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345,7 |   427,2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427,4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AS | base SECOS + NOA | eq 1,00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153,7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153,8 |   172,2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172,3 |   195,2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195,4 |   218,3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218,5 |   241,4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241,5 |   279,8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280,0 |   346,0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346,2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B1 | base SECOS + NOA | eq 1,00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153,7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153,8 |   172,2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172,3 |   195,2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195,4 |   218,3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218,5 |   241,4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241,5 |   279,8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280,0 |   346,0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346,2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2140646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5FAFC8-D22D-4ADB-A99E-AEE5E3E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534BC2-52FD-4521-A553-7B798FF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B2 | base SECOS + NOA | eq 0,84 | TN 16,7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183,0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183,2 |   204,9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205,1 |   232,4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232,6 |   259,9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260,1 |   287,4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287,5 |   333,2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333,3 |   411,9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412,1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B3 | base SECOS + NOA | eq 0,85 | TN 16,9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180,8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181,0 |   202,5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202,7 |   229,7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229,9 |   256,8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257,0 |   284,0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284,2 |   329,2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329,4 |   407,1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407,2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BE | base SECOS + NOA | eq 1,14 | TN 22,6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134,8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135,0 |   151,0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151,1 |   171,3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171,4 |   191,5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191,6 |   211,7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211,9 |   245,5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245,6 |   303,5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303,6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935518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93C3A0-B744-4E47-9E3D-D5E35C16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C0422E-F7CF-4041-B6EC-617C02D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CA | base SECOS + NOA | eq 0,86 | TN 17,0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178,7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178,9 |   200,2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200,4 |   227,0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227,2 |   253,8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254,0 |   280,7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280,9 |   325,4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325,6 |   402,3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402,5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CH | base SECOS + NOA | eq 1,14 | TN 22,7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134,8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135,0 |   151,0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151,1 |   171,3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171,4 |   191,5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191,6 |   211,7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211,9 |   245,5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245,6 |   303,5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303,6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CP | base SECOS + NOA | eq 1,15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133,6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133,8 |   149,7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149,8 |   169,8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169,9 |   189,8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190,0 |   209,9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210,0 |   243,3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243,5 |   300,9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301,0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2077846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F8EFAD-8957-4A50-AC1B-35538F2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8F45A3-3350-4062-A13C-81E6E0A6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HA | base SECOS + NOA | eq 1,01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152,2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152,3 |   170,4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170,6 |   193,3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193,5 |   216,1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216,3 |   239,0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239,1 |   277,1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277,2 |   342,6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342,7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IN | base SECOS + NOA | eq 1,13 | TN 22,4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136,0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136,1 |   152,3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152,5 |   172,8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172,9 |   193,2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193,3 |   213,6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213,8 |   247,7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247,8 |   306,2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306,3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KC | base SECOS + NOA | eq 1,00 | TN 19,9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153,7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153,8 |   172,2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172,3 |   195,2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195,4 |   218,3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218,5 |   241,4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241,5 |   279,8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280,0 |   346,0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346,2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1891904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FD5B3C-F346-4D5C-BAD8-B00B988D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078DF6-9064-41AF-B36D-FC46F8D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KN | base SECOS + NOA | eq 1,10 | TN 19,9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139,7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139,9 |   156,5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156,6 |   177,5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177,6 |   198,5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198,6 |   219,4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219,6 |   254,4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254,5 |   314,5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314,7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KT | base SECOS + NOA | eq 1,19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129,2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129,3 |   144,7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144,8 |   164,1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164,2 |   183,5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183,6 |   202,8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203,0 |   235,2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235,3 |   290,8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290,9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NA | base SECOS + NOA | eq 1,03 | TN 20,5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149,2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149,4 |   167,1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167,3 |   189,5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189,7 |   211,9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212,1 |   234,4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234,5 |   271,7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271,8 |   335,9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336,1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14240319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7E62D8-8767-496E-BD2F-5208301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C73465-46FC-4E94-9FC6-EA77D699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NP | base SECOS + NOA | eq 0,71 | TN 14,1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216,5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216,7 |   242,5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242,7 |   275,0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275,2 |   307,5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307,7 |   340,0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340,2 |   394,1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394,4 |   487,3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487,5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OF | base SECOS + NOA | eq 0,96 | TN 19,1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160,1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160,3 |   179,3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179,5 |   203,4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203,5 |   227,4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227,6 |   251,4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251,6 |   291,5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291,7 |   360,4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360,6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P1 | base SECOS + NOA | eq 1,12 | TN 22,3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137,2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137,4 |   153,7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174,3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174,5 |   194,9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195,1 |   215,5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215,7 |   249,9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250,0 |   308,9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309,1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542833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AC797B-8930-47FC-9095-3DCD805E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BA2D26-4C82-4535-91E6-AFCD9E34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P3 | base SECOS + NOA | eq 0,68 | TN 13,6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226,0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226,2 |   253,2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253,4 |   287,1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287,3 |   321,0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321,3 |   355,0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355,2 |   411,5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411,8 |   508,8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509,0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PE | base SECOS + NOA | eq 1,13 | TN 22,5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136,0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136,1 |   152,3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152,5 |   172,8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172,9 |   193,2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193,3 |   213,6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213,8 |   247,7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247,8 |   306,2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306,3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SF | base SECOS + NOA | eq 0,99 | TN 19,6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155,2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155,4 |   173,9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174,0 |   197,2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197,4 |   220,5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220,7 |   243,8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244,0 |   282,7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282,8 |   349,5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349,7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875847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66F7D3-4F5F-41E0-8C5E-B4B9763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C2BFB0-14C3-4242-A5B1-1622CF57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AM | base SECOS + NOA | eq 1,10 | TN 21,9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139,7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139,9 |   156,5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156,6 |   177,5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177,6 |   198,5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198,6 |   219,4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219,6 |   254,4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254,5 |   314,5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314,7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B5 | base SECOS + NOA | eq 1,00 | TN 19,9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153,7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153,8 |   172,2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172,3 |   195,2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195,4 |   218,3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218,5 |   241,4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241,5 |   279,8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280,0 |   346,0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346,2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CU | base SECOS + NOA | eq 1,03 | TN 20,5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149,2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149,4 |   167,1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167,3 |   189,5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189,7 |   211,9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212,1 |   234,4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234,5 |   271,7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271,8 |   335,9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336,1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2112546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7AED79-40A5-45A6-87E2-D4C67D7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7BBC85-A416-4EF1-892C-0ECB392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EC | base SECOS + NOA | eq 1,02 | TN 19,2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150,7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150,8 |   168,8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168,9 |   191,4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191,6 |   214,0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214,2 |   236,7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236,8 |   274,4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274,5 |   339,2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339,4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EP | base SECOS + NOA | eq 0,90 | TN 18,0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170,8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170,9 |   191,3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191,5 |   216,9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217,1 |   242,6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242,7 |   268,2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268,4 |   310,9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311,1 |   384,4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384,6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JC | base SECOS + NOA | eq 0,79 | TN 15,7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194,5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194,7 |   217,9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218,1 |   247,1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247,3 |   276,3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276,5 |   305,6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305,7 |   354,2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354,4 |   438,0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438,2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19408973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388C59-E65C-441C-9716-6DF1B6AD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D84896-FE37-476E-B4CD-C8A648EC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LB | base SECOS + NOA | eq 0,60 | TN 11,8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258,3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258,6 |   289,3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289,6 |   328,1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328,4 |   366,9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367,2 |   405,7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405,9 |   470,3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470,6 |   581,5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581,8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MU | base SECOS + NOA | eq 1,88 | TN 37,4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 81,8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81,8 |    91,6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91,7 |   103,8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103,9 |   116,1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116,2 |   128,4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128,5 |   148,9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148,9 |   184,0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184,1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N1 | base SECOS + NOA | eq 0,33 | TN 6,6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465,7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466,2 |   521,7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522,1 |   591,6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592,1 |   661,5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662,0 |   731,5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731,9 |   848,0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848,5 | 1.048,5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1.049,0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12729130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C5702D-F82B-404F-A2D4-BEF40B1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58B494-7E9E-494A-B252-1FF51DFA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N2 | base SECOS + NOA | eq 0,46 | TN 9,1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334,1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334,4 |   374,2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374,6 |   424,4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424,7 |   474,6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474,9 |   524,7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525,1 |   608,4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608,7 |   752,2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752,5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NS | base SECOS + NOA | eq 1,43 | TN 28,3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107,5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107,6 |   120,4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120,5 |   136,5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136,6 |   152,7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152,8 |   168,8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168,9 |   195,7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195,8 |   242,0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242,1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NT | base SECOS + NOA | eq 1,60 | TN 31,1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 96,1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96,2 |   107,6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107,7 |   122,0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122,1 |   136,4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136,5 |   150,9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151,0 |   174,9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175,0 |   216,3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216,3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1626488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C8207B-CF28-4EF3-A5F4-F46F8B5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17.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2CD5F5-D6FB-4329-9411-0BA4C7B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PI | base SECOS + NOA | eq 1,64 | TN 32,6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 93,7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93,8 |   105,0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105,1 |   119,0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119,1 |   133,1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133,2 |   147,2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147,3 |   170,6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170,7 |   211,0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211,1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PT | base SECOS + NOA | eq 0,30 | TN 5,9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512,3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512,8 |   573,8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574,4 |   650,8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651,3 |   727,7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728,2 |   804,6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805,1 |   932,8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933,3 | 1.153,3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1.153,8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TV | base SECOS + NOA | eq 0,60 | TN 11,8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258,3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258,6 |   289,3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289,6 |   328,1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328,4 |   366,9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367,2 |   405,7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405,9 |   470,3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470,6 |   581,5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581,8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20723971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63A655-8DED-4D3C-9757-E92C9FD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BE5412-1EBD-43DC-A09B-0FC9BBAE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VA | base SECOS + NOA | eq 1,43 | TN 28,3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107,5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107,6 |   120,4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120,5 |   136,5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136,6 |   152,7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152,8 |   168,8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168,9 |   195,7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195,8 |   242,0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242,1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VN | base SECOS + NOA | eq 0,91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168,9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169,1 |   189,2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189,3 |   214,5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214,7 |   239,9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240,1 |   265,3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265,4 |   307,5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307,7 |   380,2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380,4 |       +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VT | base SECOS + NOA | eq 1,38 | TN 27,3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 0,0 |   111,4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111,5 |   124,7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124,9 |   141,5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141,6 |   158,2 | $1.991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158,3 |   174,9 | $2.783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  175,0 |   202,8 | $3.902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  202,9 |   250,7 | $5.523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  250,8 |       + | $8.013</a:t>
            </a:r>
          </a:p>
        </p:txBody>
      </p:sp>
    </p:spTree>
    <p:extLst>
      <p:ext uri="{BB962C8B-B14F-4D97-AF65-F5344CB8AC3E}">
        <p14:creationId xmlns:p14="http://schemas.microsoft.com/office/powerpoint/2010/main" val="12687176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AF784E-5C17-42B4-A677-EDE52FD3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19.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82419B-B13B-43BD-854C-05781E8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FB | base CAMARA 06 | eq 1,00 | TN 15,9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 67,5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67,7 |    73,7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73,8 |    92,2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92,3 |    99,8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100,0 |   161,5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161,7 |       +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BA | base CAMARA 06 | eq 1,00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 67,5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67,7 |    73,7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73,8 |    92,2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92,3 |    99,8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100,0 |   161,5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161,7 |       +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F1 | base CAMARA 06 | eq 1,00 | TN 19,6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 67,5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67,7 |    73,7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73,8 |    92,2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92,3 |    99,8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100,0 |   161,5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161,7 |       + | $3.939</a:t>
            </a:r>
          </a:p>
        </p:txBody>
      </p:sp>
    </p:spTree>
    <p:extLst>
      <p:ext uri="{BB962C8B-B14F-4D97-AF65-F5344CB8AC3E}">
        <p14:creationId xmlns:p14="http://schemas.microsoft.com/office/powerpoint/2010/main" val="6958892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5F20FC-5E76-4335-8C78-8F4C93A0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7D13B3-4057-436F-A8F6-13C0AF1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F2 | base CAMARA 06 | eq 1,00 | TN 15,3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 67,5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67,7 |    73,7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73,8 |    92,2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92,3 |    99,8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100,0 |   161,5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161,7 |       +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FC | base CAMARA 06 | eq 1,00 | TN 19,3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 67,5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67,7 |    73,7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73,8 |    92,2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92,3 |    99,8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100,0 |   161,5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161,7 |       +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VE | base CAMARA 06 | eq 1,00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 67,5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 67,7 |    73,7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 73,8 |    92,2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 92,3 |    99,8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100,0 |   161,5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161,7 |       + | $3.939</a:t>
            </a:r>
          </a:p>
        </p:txBody>
      </p:sp>
    </p:spTree>
    <p:extLst>
      <p:ext uri="{BB962C8B-B14F-4D97-AF65-F5344CB8AC3E}">
        <p14:creationId xmlns:p14="http://schemas.microsoft.com/office/powerpoint/2010/main" val="429250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0681CB-0E26-4412-8AB9-8E42D8D9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7ABE9C-FF6D-4534-8FFB-7F63EA9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CF | base OTRAS CAMARAS | eq 1,00 | TN 26,9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CO | base OTRAS CAMARAS | eq 1,00 | TN 18,7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F4 | base OTRAS CAMARAS | eq 1,00 | TN 14,1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</p:txBody>
      </p:sp>
    </p:spTree>
    <p:extLst>
      <p:ext uri="{BB962C8B-B14F-4D97-AF65-F5344CB8AC3E}">
        <p14:creationId xmlns:p14="http://schemas.microsoft.com/office/powerpoint/2010/main" val="15437209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7E29A1-1526-4CF1-8ACC-6F0B6195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22.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D1EB88-AC7C-45D4-944B-FECCDF5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FQ | base OTRAS CAMARAS | eq 1,00 | TN 19,2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HE | base OTRAS CAMARAS | eq 1,00 | TN 10,6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HU | base OTRAS CAMARAS | eq 1,00 | TN 17,3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</p:txBody>
      </p:sp>
    </p:spTree>
    <p:extLst>
      <p:ext uri="{BB962C8B-B14F-4D97-AF65-F5344CB8AC3E}">
        <p14:creationId xmlns:p14="http://schemas.microsoft.com/office/powerpoint/2010/main" val="20806037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B0D361-06CF-4CE3-ADA6-EBAFB17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23.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73C337-D4A7-4FF7-9C8D-F8275BF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KR | base OTRAS CAMARAS | eq 1,00 | sin TN histórico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MO | base OTRAS CAMARAS | eq 1,00 | TN 0,4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P4 | base OTRAS CAMARAS | eq 1,00 | TN 25,0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</p:txBody>
      </p:sp>
    </p:spTree>
    <p:extLst>
      <p:ext uri="{BB962C8B-B14F-4D97-AF65-F5344CB8AC3E}">
        <p14:creationId xmlns:p14="http://schemas.microsoft.com/office/powerpoint/2010/main" val="14687464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F7AEC-A3C2-4712-BC9E-2EF37B03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24. Picking — tablas sectoriales explícitas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938467-4E38-4853-BE59-1B66BA8E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 PA | base OTRAS CAMARAS | eq 1,00 | TN 13,4 seg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    0,0 |   118,3 |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  118,5 |   127,5 | $740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  127,7 |   153,7 | $1.017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  153,8 |   169,1 | $1.464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  169,2 |   230,8 | $1.631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  230,9 | 1.538,5 | $3.939</a:t>
            </a:r>
          </a:p>
        </p:txBody>
      </p:sp>
    </p:spTree>
    <p:extLst>
      <p:ext uri="{BB962C8B-B14F-4D97-AF65-F5344CB8AC3E}">
        <p14:creationId xmlns:p14="http://schemas.microsoft.com/office/powerpoint/2010/main" val="19990189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FA7A18-35D7-42FE-A7BE-2E78FA5D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25. Resto de operaciones medibles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247CAB-763F-4CF0-8E44-66720AD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Resto de operaciones medibles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Para las operaciones distintas de Picking, la propuesta mantiene la apertura disponible en la escala vigente.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               | Unidad | Criterio visible en esta versión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                  | Pallet | Secos / Refrigerados según escala vigente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                | Pallet | Escala general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                  | Pallet | Secos + NOA / Refrigerados según escala vigente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CHP + CBF       | Hueco  | Secos + NOA según escala vigente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Manual          | Hueco  | Escala general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NOA           | Pallet | Tabla de submódulo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Secos         | Pallet | Tabla de submódulo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Nota: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mantiene escala económica, pero requiere validación de la unidad operativa fina antes de cerrar targets definitivos.</a:t>
            </a:r>
          </a:p>
        </p:txBody>
      </p:sp>
    </p:spTree>
    <p:extLst>
      <p:ext uri="{BB962C8B-B14F-4D97-AF65-F5344CB8AC3E}">
        <p14:creationId xmlns:p14="http://schemas.microsoft.com/office/powerpoint/2010/main" val="18609122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668AE7-5278-4D21-AB4D-CED79DB1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26. Tablas de escalas y premios — operaciones no Picking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BE9CDE-6938-4FFA-98E0-19A5C79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91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Tablas propuestas para operaciones no Picking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- Secos/No Alimentarios       CARRETEO - General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Desde/h Hasta/h Premio/h      Nivel Desde/h Hasta/h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0,0     37,8    $0            1     0,0     37,8   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38,0    43,7    $1.413        2     38,0    43,7    $1.021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43,8    50,3    $2.153        3     43,8    50,3    $1.555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50,5    55,4    $3.278        4     50,5    55,4    $2.368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55,5    70,3    $4.424        5     55,5    70,3    $3.195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70,5    92,3    $7.009        6     70,5    92,3    $5.062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92,5    +       $11.068       7     92,5    +       $7.942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- Secos + NOA                 CONTROL CHP + CBF - Secos + NOA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Desde/h Hasta/h Premio/h      Nivel Desde/h Hasta/h Premio/h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0,0     14,6    $0            0     0,0     153,7   $0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14,8    19,1    $813          1     153,8   176,8   $621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19,2    23,7    $1.240        2     176,9   211,8   $785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23,8    28,3    $2.409        3     212,0   254,5   $1.131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28,5    33,1    $3.775        4     254,6   286,0   $1.703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33,2    +       $5.964        5     286,2   492,3   $2.701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                                      6     492,5   +       $6.317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NOA                       RECEPCIÓN SECOS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N2 desde 6,6/h  premio $621/h       N2 desde 8,9/h  premio $621/h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N3 desde 9,7/h  premio $785/h       N3 desde 12,0/h premio $785/h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N4 desde 11,2/h premio $785/h       N4 desde 13,5/h premio $785/h</a:t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N5 desde 23,5/h premio $2.496/h     N5 desde 27,8/h premio $2.781/h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Escalas planas vigentes: Carga Refrigerados/Cámaras $453/h; Control Manual $544/h.</a:t>
            </a:r>
          </a:p>
        </p:txBody>
      </p:sp>
    </p:spTree>
    <p:extLst>
      <p:ext uri="{BB962C8B-B14F-4D97-AF65-F5344CB8AC3E}">
        <p14:creationId xmlns:p14="http://schemas.microsoft.com/office/powerpoint/2010/main" val="378679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2026-07-28T15:41:57.3540000Z</dcterms:created>
  <dcterms:modified xsi:type="dcterms:W3CDTF">2026-07-28T15:41:57.3540000Z</dcterms:modified>
</coreProperties>
</file>