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24d2b16e524e63" /><Relationship Type="http://schemas.openxmlformats.org/officeDocument/2006/relationships/extended-properties" Target="/docProps/app.xml" Id="R8c295b4bbf3e49e2" /><Relationship Type="http://schemas.openxmlformats.org/officeDocument/2006/relationships/officeDocument" Target="/ppt/presentation.xml" Id="R8e57f8fc9ed24c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c97b6e4fd442f2"/>
  </p:sldMasterIdLst>
  <p:notesMasterIdLst>
    <p:notesMasterId xmlns:r="http://schemas.openxmlformats.org/officeDocument/2006/relationships" r:id="Rf17c9aceccb44b2c"/>
  </p:notesMasterIdLst>
  <p:sldIdLst>
    <p:sldId xmlns:r="http://schemas.openxmlformats.org/officeDocument/2006/relationships" id="256" r:id="Ra0175764e80f44f4"/>
    <p:sldId xmlns:r="http://schemas.openxmlformats.org/officeDocument/2006/relationships" id="257" r:id="R29f6d2590cd948ca"/>
    <p:sldId xmlns:r="http://schemas.openxmlformats.org/officeDocument/2006/relationships" id="258" r:id="R2198ec97fe4a4187"/>
    <p:sldId xmlns:r="http://schemas.openxmlformats.org/officeDocument/2006/relationships" id="259" r:id="R77d8cb5c6a224825"/>
    <p:sldId xmlns:r="http://schemas.openxmlformats.org/officeDocument/2006/relationships" id="260" r:id="R0dba8d95f04c4829"/>
    <p:sldId xmlns:r="http://schemas.openxmlformats.org/officeDocument/2006/relationships" id="261" r:id="Rd69b2d0a6c5b484a"/>
    <p:sldId xmlns:r="http://schemas.openxmlformats.org/officeDocument/2006/relationships" id="262" r:id="R2bbb36f59b8847e5"/>
    <p:sldId xmlns:r="http://schemas.openxmlformats.org/officeDocument/2006/relationships" id="263" r:id="Rb46c6fd20e2441d4"/>
    <p:sldId xmlns:r="http://schemas.openxmlformats.org/officeDocument/2006/relationships" id="264" r:id="Rd9ea7e806ce444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85cc5d30e4c7e" /><Relationship Type="http://schemas.openxmlformats.org/officeDocument/2006/relationships/slideMaster" Target="/ppt/slideMasters/slideMaster1.xml" Id="R1ec97b6e4fd442f2" /><Relationship Type="http://schemas.openxmlformats.org/officeDocument/2006/relationships/notesMaster" Target="/ppt/notesMasters/notesMaster1.xml" Id="Rf17c9aceccb44b2c" /><Relationship Type="http://schemas.openxmlformats.org/officeDocument/2006/relationships/presProps" Target="/ppt/presProps.xml" Id="R5676dd90ae29426c" /><Relationship Type="http://schemas.openxmlformats.org/officeDocument/2006/relationships/tableStyles" Target="/ppt/tableStyles.xml" Id="Rfd3e9a5aefee4e95" /><Relationship Type="http://schemas.openxmlformats.org/officeDocument/2006/relationships/slide" Target="/ppt/slides/slide1.xml" Id="Ra0175764e80f44f4" /><Relationship Type="http://schemas.openxmlformats.org/officeDocument/2006/relationships/slide" Target="/ppt/slides/slide2.xml" Id="R29f6d2590cd948ca" /><Relationship Type="http://schemas.openxmlformats.org/officeDocument/2006/relationships/slide" Target="/ppt/slides/slide3.xml" Id="R2198ec97fe4a4187" /><Relationship Type="http://schemas.openxmlformats.org/officeDocument/2006/relationships/slide" Target="/ppt/slides/slide4.xml" Id="R77d8cb5c6a224825" /><Relationship Type="http://schemas.openxmlformats.org/officeDocument/2006/relationships/slide" Target="/ppt/slides/slide5.xml" Id="R0dba8d95f04c4829" /><Relationship Type="http://schemas.openxmlformats.org/officeDocument/2006/relationships/slide" Target="/ppt/slides/slide6.xml" Id="Rd69b2d0a6c5b484a" /><Relationship Type="http://schemas.openxmlformats.org/officeDocument/2006/relationships/slide" Target="/ppt/slides/slide7.xml" Id="R2bbb36f59b8847e5" /><Relationship Type="http://schemas.openxmlformats.org/officeDocument/2006/relationships/slide" Target="/ppt/slides/slide8.xml" Id="Rb46c6fd20e2441d4" /><Relationship Type="http://schemas.openxmlformats.org/officeDocument/2006/relationships/slide" Target="/ppt/slides/slide9.xml" Id="Rd9ea7e806ce4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921088bd4042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4e7f05656439b" /><Relationship Type="http://schemas.openxmlformats.org/officeDocument/2006/relationships/notesMaster" Target="/ppt/notesMasters/notesMaster1.xml" Id="R97221de4b7d44b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a8315f3a644eb8" /><Relationship Type="http://schemas.openxmlformats.org/officeDocument/2006/relationships/notesMaster" Target="/ppt/notesMasters/notesMaster1.xml" Id="R91bf7bf5551b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1ee92ebeab4e04" /><Relationship Type="http://schemas.openxmlformats.org/officeDocument/2006/relationships/notesMaster" Target="/ppt/notesMasters/notesMaster1.xml" Id="Ra578a2593f7b4e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2cbc61dcbb49c3" /><Relationship Type="http://schemas.openxmlformats.org/officeDocument/2006/relationships/notesMaster" Target="/ppt/notesMasters/notesMaster1.xml" Id="Ra3d173481db34f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55a535f8934507" /><Relationship Type="http://schemas.openxmlformats.org/officeDocument/2006/relationships/notesMaster" Target="/ppt/notesMasters/notesMaster1.xml" Id="Rfe8d3e82d3984f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f95711e4d14dbe" /><Relationship Type="http://schemas.openxmlformats.org/officeDocument/2006/relationships/notesMaster" Target="/ppt/notesMasters/notesMaster1.xml" Id="R01f77ac070c84a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d42bf4dea541e3" /><Relationship Type="http://schemas.openxmlformats.org/officeDocument/2006/relationships/notesMaster" Target="/ppt/notesMasters/notesMaster1.xml" Id="R38c7e9391a444e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b79d74c62c434c" /><Relationship Type="http://schemas.openxmlformats.org/officeDocument/2006/relationships/notesMaster" Target="/ppt/notesMasters/notesMaster1.xml" Id="Rf2ad469981a04c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402963999944f0" /><Relationship Type="http://schemas.openxmlformats.org/officeDocument/2006/relationships/notesMaster" Target="/ppt/notesMasters/notesMaster1.xml" Id="R184385fdaa394a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812c4381544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38d95b2764442" /><Relationship Type="http://schemas.openxmlformats.org/officeDocument/2006/relationships/slideLayout" Target="/ppt/slideLayouts/slideLayout1.xml" Id="R2e3531dfb6d24f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3531dfb6d24f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fba80c73842f1" /><Relationship Type="http://schemas.openxmlformats.org/officeDocument/2006/relationships/notesSlide" Target="/ppt/notesSlides/notesSlide1.xml" Id="Reff26bbfa5cd4d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04c47d7b1462c" /><Relationship Type="http://schemas.openxmlformats.org/officeDocument/2006/relationships/notesSlide" Target="/ppt/notesSlides/notesSlide2.xml" Id="R16341617737c44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90382ed75430b" /><Relationship Type="http://schemas.openxmlformats.org/officeDocument/2006/relationships/notesSlide" Target="/ppt/notesSlides/notesSlide3.xml" Id="Rc285cc13169e4e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88427accc4f51" /><Relationship Type="http://schemas.openxmlformats.org/officeDocument/2006/relationships/notesSlide" Target="/ppt/notesSlides/notesSlide4.xml" Id="R588b1618c8e54d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d5ae87a5e4515" /><Relationship Type="http://schemas.openxmlformats.org/officeDocument/2006/relationships/notesSlide" Target="/ppt/notesSlides/notesSlide5.xml" Id="Rf83fa9f9bd4b41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5dfd43a7a4ab1" /><Relationship Type="http://schemas.openxmlformats.org/officeDocument/2006/relationships/notesSlide" Target="/ppt/notesSlides/notesSlide6.xml" Id="R3acc9fd223ad4c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435a5665b4d1d" /><Relationship Type="http://schemas.openxmlformats.org/officeDocument/2006/relationships/notesSlide" Target="/ppt/notesSlides/notesSlide7.xml" Id="R3bec0b6d0a044b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56e5c87674bac" /><Relationship Type="http://schemas.openxmlformats.org/officeDocument/2006/relationships/notesSlide" Target="/ppt/notesSlides/notesSlide8.xml" Id="Rcc16f721110d45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bd3cf1dce4f2b" /><Relationship Type="http://schemas.openxmlformats.org/officeDocument/2006/relationships/notesSlide" Target="/ppt/notesSlides/notesSlide9.xml" Id="R8298893fe44d41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49E08D-AC32-42A2-B477-03BD6C1F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La propuesta valida una medición horaria sin rediseñar el premio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4F39FD-1362-4DC8-9632-BCC54072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Finalidad de la propuesta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Revisar el premio de productividad para que las operaciones medibles puedan liquidarse por hora, sin cambiar inicialmente la escala económica vigente.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El cambio buscado es metodológico: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Hoy: la productividad se liquida principalmente como resultado de jornada.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Propuesto: la productividad se evalúa hora por hora y el pago diario surge de la suma de esos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Criterio de resguardo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escala de pago actual se toma como base.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se propone una nueva curva económica en esta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propuesta permite medir mejor sin abrir, al mismo tiempo, una discusión de rediseño salarial.</a:t>
            </a:r>
          </a:p>
        </p:txBody>
      </p:sp>
    </p:spTree>
    <p:extLst>
      <p:ext uri="{BB962C8B-B14F-4D97-AF65-F5344CB8AC3E}">
        <p14:creationId xmlns:p14="http://schemas.microsoft.com/office/powerpoint/2010/main" val="19487632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22EAB7-DDC8-4051-B287-C6A5BD85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El cálculo se explica como una suma simple de horas medidas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DA297B-9DA0-4406-A6D4-011D8706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Cálculo individual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En cada hora se identifica: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qué operación realizó la persona,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cuánta producción generó,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qué escala horaria corresponde a esa operación y sector.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 la producción de la hora cae dentro de un tramo de la escala, genera el premio horario de ese tramo.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Pago individual diario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diario bruto = suma de premios horarios del día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diario neto =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 diario bruto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descuento por exceso de TNC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descuento por errores computados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Cálculo grupal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El premio grupal es binario: se genera sólo cuando el grupo supera el target definido.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Bolsa grupal = premio mínimo horario × cantidad de operarios × factor colchón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Distribución individual = bolsa grupal × participación de cada persona en la producción del grupo</a:t>
            </a:r>
          </a:p>
        </p:txBody>
      </p:sp>
    </p:spTree>
    <p:extLst>
      <p:ext uri="{BB962C8B-B14F-4D97-AF65-F5344CB8AC3E}">
        <p14:creationId xmlns:p14="http://schemas.microsoft.com/office/powerpoint/2010/main" val="1636316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9F8D5D-CB76-4094-905B-82AA78C4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Cada tabla horaria surge de dividir la escala vigente por 6,5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4898EA-1743-4F72-92E5-0100FB53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Construcción de las tablas propuestas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 cada escala vigente de jornada: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Desde hora = Desde jornada / 6,5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Hasta hora = Hasta jornada / 6,5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Premio hora = Premio jornada / 6,5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Lectura práctica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tabla horaria es una fracción directa de la tabla vigente.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 eso, si se multiplica una escala horaria por 6,5 horas, se vuelve a la escala de jornada actual.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Decisión metodológica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se usan porcentajes de cumplimiento en esta versión.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se redefine el nivel básico.</a:t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se normalizan curvas de pago todavía.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Primero se valida el cambio de medición: de jornada a hora.</a:t>
            </a:r>
          </a:p>
        </p:txBody>
      </p:sp>
    </p:spTree>
    <p:extLst>
      <p:ext uri="{BB962C8B-B14F-4D97-AF65-F5344CB8AC3E}">
        <p14:creationId xmlns:p14="http://schemas.microsoft.com/office/powerpoint/2010/main" val="3134479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1DEA0D-526C-4527-BF81-C07EA2F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Tabla propuesta — Picking Secos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06DEB1-5238-47A1-B159-05425A81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Operación: Picking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Sector: Secos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Unidad: bultos preparados por hora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Base vigente: escala SECOS + NOA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0,0     | 153,7   | $0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153,8   | 172,2   | $740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172,3   | 195,2   | $1.017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195,4   | 218,3   | $1.991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218,5   | 241,4   | $2.783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241,5   | 279,8   | $3.902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280,0   | 346,0   | $5.523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346,2   | +      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Nota de validación: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Esta tabla no cambia los valores vigentes: sólo los expresa por hora.</a:t>
            </a:r>
          </a:p>
        </p:txBody>
      </p:sp>
    </p:spTree>
    <p:extLst>
      <p:ext uri="{BB962C8B-B14F-4D97-AF65-F5344CB8AC3E}">
        <p14:creationId xmlns:p14="http://schemas.microsoft.com/office/powerpoint/2010/main" val="283475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C445A9-3C60-41C2-BACF-DF062A18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5. Tabla propuesta — Picking NOA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2A5A2C-CC12-4149-980B-3058236C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Operación: Picking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Sector: NOA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Unidad: bultos preparados por hora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Base vigente: escala SECOS + NOA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0,0     | 153,7   | $0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153,8   | 172,2   | $740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172,3   | 195,2   | $1.017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195,4   | 218,3   | $1.991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218,5   | 241,4   | $2.783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241,5   | 279,8   | $3.902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280,0   | 346,0   | $5.523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346,2   | +      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Nota de validación:</a:t>
            </a:r>
          </a:p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Si se requiere una escala distinta para NOA, debe separarse explícitamente de la escala vigente SECOS + NOA.</a:t>
            </a:r>
          </a:p>
        </p:txBody>
      </p:sp>
    </p:spTree>
    <p:extLst>
      <p:ext uri="{BB962C8B-B14F-4D97-AF65-F5344CB8AC3E}">
        <p14:creationId xmlns:p14="http://schemas.microsoft.com/office/powerpoint/2010/main" val="907638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C92E5A-DF2D-4EC0-855A-DB949076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6. Tabla propuesta — Picking Refrigerados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EF2DDF-E9D5-4250-83DB-98263AC0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Operación: Picking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Sector: Refrigerados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Unidad: bultos preparados por hora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CÁMARA 06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0,0     | 67,5    | $0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67,7    | 73,7    | $740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73,8    | 92,2    | $1.017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92,3    | 99,8    | $1.464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100,0   | 161,5   | $1.631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161,7   | +       | $3.939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OTRAS CÁMARAS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0,0     | 118,3   | $0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118,5   | 127,5   | $740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127,7   | 153,7   | $1.017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153,8   | 169,1   | $1.464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169,2   | 230,8   | $1.631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230,9   | +       | $3.939</a:t>
            </a:r>
          </a:p>
        </p:txBody>
      </p:sp>
    </p:spTree>
    <p:extLst>
      <p:ext uri="{BB962C8B-B14F-4D97-AF65-F5344CB8AC3E}">
        <p14:creationId xmlns:p14="http://schemas.microsoft.com/office/powerpoint/2010/main" val="13970045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270096-B4A1-4A1E-81E8-5DE492B3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7. Tablas propuestas — Carga y Carreteo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5456F0-EE77-4358-B659-C7DD0771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Operaciones: Carga y Carreteo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Unidad: pallets por hora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CARGA — SECOS Y NO ALIMENTARIOS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0,0     | 37,8    | $0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38,0    | 43,7    | $1.413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43,8    | 50,3    | $2.153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50,5    | 55,4    | $3.278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55,5    | 70,3    | $4.424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70,5    | 92,3    | $7.009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92,5    | +       | $11.068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CARGA — REFRIGERADOS / CÁMARAS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Escala vigente plana: $453/h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CARRETEO — ESCALA GENERAL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0,0     | 37,8    | $0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38,0    | 43,7    | $1.021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43,8    | 50,3    | $1.555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50,5    | 55,4    | $2.368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55,5    | 70,3    | $3.195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70,5    | 92,3    | $5.062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92,5    | +       | $7.942</a:t>
            </a:r>
          </a:p>
        </p:txBody>
      </p:sp>
    </p:spTree>
    <p:extLst>
      <p:ext uri="{BB962C8B-B14F-4D97-AF65-F5344CB8AC3E}">
        <p14:creationId xmlns:p14="http://schemas.microsoft.com/office/powerpoint/2010/main" val="299228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36D6CB-CD82-43DB-BDFE-6D6863AF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8. Tabla propuesta — Clark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C63131-94E4-45B9-A7FA-CABEF6EA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Operación: Clark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Unidad vigente: pallets por hora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SECOS + NOA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0,0     | 14,6    | $0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14,8    | 19,1    | $813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19,2    | 23,7    | $1.240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23,8    | 28,3    | $2.409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28,5    | 33,1    | $3.775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33,2    | +       | $5.964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CÁMARA 06 / OTRAS CÁMARAS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Cámara 06 desde/h | Otras cámaras desde/h | Premio/h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13,8              | 18,5                  | $811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16,2              | 21,5                  | $979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301   | 17,4              | 23,1                  | $1.088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302   | 19,7              | 26,3                  | $1.294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303   | 22,0              | 29,4                  | $1.603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37,1              | 46,2                  | $2.405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Nota de validación:</a:t>
            </a:r>
          </a:p>
          <a:p xmlns:a="http://schemas.openxmlformats.org/drawingml/2006/main">
            <a:pPr>
              <a:def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La escala económica existe; queda pendiente definir la unidad operativa fina de Clark.</a:t>
            </a:r>
          </a:p>
        </p:txBody>
      </p:sp>
    </p:spTree>
    <p:extLst>
      <p:ext uri="{BB962C8B-B14F-4D97-AF65-F5344CB8AC3E}">
        <p14:creationId xmlns:p14="http://schemas.microsoft.com/office/powerpoint/2010/main" val="7418708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2763EB-5A5B-4CB8-87A7-468E164A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9. Tablas propuestas — Control y Recepción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B8BF22-74CD-445A-BFD5-154D3DF1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Operaciones: Control y Recepción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 CHP + CBF — SECOS + NOA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Unidad: huecos por hora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     | 0,0     | 153,7   | $0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153,8   | 176,8   | $621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176,9   | 211,8   | $785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212,0   | 254,5   | $1.131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254,6   | 286,0   | $1.703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286,2   | 492,3   | $2.701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492,5   | +       | $6.317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 PROCESOS MANUAL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Unidad: huecos por hora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Escala vigente plana: $544/h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NOA — tabla submódulo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2: desde 6,6/h, premio $621/h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3: desde 9,7/h, premio $785/h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4: desde 11,2/h, premio $785/h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5: desde 23,5/h, premio $2.496/h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SECOS — tabla submódulo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2: desde 8,9/h, premio $621/h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3: desde 12,0/h, premio $785/h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4: desde 13,5/h, premio $785/h</a:t>
            </a:r>
          </a:p>
          <a:p xmlns:a="http://schemas.openxmlformats.org/drawingml/2006/main">
            <a:pPr>
              <a:def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5: desde 27,8/h, premio $2.781/h</a:t>
            </a:r>
          </a:p>
        </p:txBody>
      </p:sp>
    </p:spTree>
    <p:extLst>
      <p:ext uri="{BB962C8B-B14F-4D97-AF65-F5344CB8AC3E}">
        <p14:creationId xmlns:p14="http://schemas.microsoft.com/office/powerpoint/2010/main" val="3954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2026-07-28T15:11:57.9840000Z</dcterms:created>
  <dcterms:modified xsi:type="dcterms:W3CDTF">2026-07-28T15:11:57.9840000Z</dcterms:modified>
</coreProperties>
</file>