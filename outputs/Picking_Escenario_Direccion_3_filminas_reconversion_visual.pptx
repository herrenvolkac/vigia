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b9ed175fa42c2" /><Relationship Type="http://schemas.openxmlformats.org/officeDocument/2006/relationships/extended-properties" Target="/docProps/app.xml" Id="R26440d023a144748" /><Relationship Type="http://schemas.openxmlformats.org/officeDocument/2006/relationships/officeDocument" Target="/ppt/presentation.xml" Id="Rd88670f5310d4e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4332f7dce84a3b"/>
  </p:sldMasterIdLst>
  <p:notesMasterIdLst>
    <p:notesMasterId xmlns:r="http://schemas.openxmlformats.org/officeDocument/2006/relationships" r:id="R65371d205be24951"/>
  </p:notesMasterIdLst>
  <p:sldIdLst>
    <p:sldId xmlns:r="http://schemas.openxmlformats.org/officeDocument/2006/relationships" id="256" r:id="Rce8702ae8bc74a6a"/>
    <p:sldId xmlns:r="http://schemas.openxmlformats.org/officeDocument/2006/relationships" id="257" r:id="Re5a9c17d589a4bac"/>
    <p:sldId xmlns:r="http://schemas.openxmlformats.org/officeDocument/2006/relationships" id="258" r:id="Rbc49efcd33f447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745ffa9974f56" /><Relationship Type="http://schemas.openxmlformats.org/officeDocument/2006/relationships/slideMaster" Target="/ppt/slideMasters/slideMaster1.xml" Id="R244332f7dce84a3b" /><Relationship Type="http://schemas.openxmlformats.org/officeDocument/2006/relationships/notesMaster" Target="/ppt/notesMasters/notesMaster1.xml" Id="R65371d205be24951" /><Relationship Type="http://schemas.openxmlformats.org/officeDocument/2006/relationships/presProps" Target="/ppt/presProps.xml" Id="R7cb78b6d893d4272" /><Relationship Type="http://schemas.openxmlformats.org/officeDocument/2006/relationships/viewProps" Target="/ppt/viewProps.xml" Id="Ra77fab0f11a44268" /><Relationship Type="http://schemas.openxmlformats.org/officeDocument/2006/relationships/tableStyles" Target="/ppt/tableStyles.xml" Id="R929cc3dcf43046d2" /><Relationship Type="http://schemas.openxmlformats.org/officeDocument/2006/relationships/slide" Target="/ppt/slides/slide1.xml" Id="Rce8702ae8bc74a6a" /><Relationship Type="http://schemas.openxmlformats.org/officeDocument/2006/relationships/slide" Target="/ppt/slides/slide2.xml" Id="Re5a9c17d589a4bac" /><Relationship Type="http://schemas.openxmlformats.org/officeDocument/2006/relationships/slide" Target="/ppt/slides/slide3.xml" Id="Rbc49efcd33f447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50c7c0764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8209dede245c5" /><Relationship Type="http://schemas.openxmlformats.org/officeDocument/2006/relationships/notesMaster" Target="/ppt/notesMasters/notesMaster1.xml" Id="R71fdec4b364247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07c341528b46b5" /><Relationship Type="http://schemas.openxmlformats.org/officeDocument/2006/relationships/notesMaster" Target="/ppt/notesMasters/notesMaster1.xml" Id="Raa27c87a17a6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c8cf379a73416e" /><Relationship Type="http://schemas.openxmlformats.org/officeDocument/2006/relationships/notesMaster" Target="/ppt/notesMasters/notesMaster1.xml" Id="R2c71681d7cbb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4.433 jornadas-legajo; 170 sin productividad Picking; 160 con otra operación medida.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4.433 jornadas-legajo; 170 sin productividad Picking; 160 con otra operación medida.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4.433 jornadas-legajo; 170 sin productividad Picking; 160 con otra operación medida.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37b3d429344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a0ff1d98d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4456eea0f4214" /><Relationship Type="http://schemas.openxmlformats.org/officeDocument/2006/relationships/slideLayout" Target="/ppt/slideLayouts/slideLayout1.xml" Id="R0c6ace8b40ce4ba1" /><Relationship Type="http://schemas.openxmlformats.org/officeDocument/2006/relationships/slideLayout" Target="/ppt/slideLayouts/slideLayout2.xml" Id="R886997a1db8f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6ace8b40ce4ba1"/>
    <p:sldLayoutId xmlns:r="http://schemas.openxmlformats.org/officeDocument/2006/relationships" id="2147483650" r:id="R886997a1db8f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d4e8ec7c9435a" /><Relationship Type="http://schemas.openxmlformats.org/officeDocument/2006/relationships/notesSlide" Target="/ppt/notesSlides/notesSlide1.xml" Id="R2e10697ed7d1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2eb9b66a3426c" /><Relationship Type="http://schemas.openxmlformats.org/officeDocument/2006/relationships/notesSlide" Target="/ppt/notesSlides/notesSlide2.xml" Id="R1a89fe03a853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2ba6cfeab400b" /><Relationship Type="http://schemas.openxmlformats.org/officeDocument/2006/relationships/notesSlide" Target="/ppt/notesSlides/notesSlide3.xml" Id="Rd75842bb2e5243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8025F1B-A545-4276-8E57-648EB91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039F9A-22E6-40F3-8BBD-8A6FA0A8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Picking | El cálculo directo queda cercano al pago actual</a:t>
            </a:r>
            <a:endParaRPr sz="2400" b="1" i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BAB0419-E40A-4EED-8569-572C0BF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D198202B-9AD4-4B93-9014-310C3EB9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D4B8C9C-3B3D-410F-8220-5064175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PAGO ACTUAL · JULIO</a:t>
            </a:r>
          </a:p>
        </p:txBody>
      </p:sp>
      <p:sp>
        <p:nvSpPr>
          <p:cNvPr id="6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C9C7385-759A-4418-BFB4-7E32D96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$48,42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Referencia liquidada de julio.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Bultos reales</a:t>
            </a:r>
          </a:p>
          <a:p xmlns:a="http://schemas.openxmlformats.org/drawingml/2006/main">
            <a:r>
              <a:t>Hora reloj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rd-label-0">
            <a:extLst xmlns:a="http://schemas.openxmlformats.org/drawingml/2006/main">
              <a:ext uri="{FF2B5EF4-FFF2-40B4-BE49-F238E27FC236}">
                <a16:creationId xmlns:a16="http://schemas.microsoft.com/office/drawing/2014/main" id="{B1AEED4E-311A-4C31-B71D-EBEBCB5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Método vigente</a:t>
            </a:r>
          </a:p>
        </p:txBody>
      </p:sp>
      <p:sp>
        <p:nvSpPr>
          <p:cNvPr id="8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18643A6B-5EF7-4DD0-8F6C-CEDD06CD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0000"/>
            </a:solidFill>
            <a:prstDash val="solid"/>
          </a:ln>
        </p:spPr>
      </p:sp>
      <p:sp>
        <p:nvSpPr>
          <p:cNvPr id="9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4AEF3F3-AB86-4604-916E-E3113EC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NUEVO DIRECTO</a:t>
            </a:r>
          </a:p>
        </p:txBody>
      </p:sp>
      <p:sp>
        <p:nvSpPr>
          <p:cNvPr id="10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E3913B7-C088-4679-B06A-834BC67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$49,01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Cálculo por bultos reales,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sin ajustes sectoriales.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Misma base horaria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B7DF2154-1B70-4115-8097-AE7929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 calibración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04C15002-5FE4-4FF7-ABD7-E654028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A436AE0-B7C2-4F11-98B9-6E7DC32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DIFERENCIA GLOBAL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D274743-90D5-4C01-A641-AD2C7EB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+$0,58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+1,2% sobre el pago actual.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Resultado global similar</a:t>
            </a:r>
          </a:p>
          <a:p xmlns:a="http://schemas.openxmlformats.org/drawingml/2006/main">
            <a:r>
              <a:t>Impacto redistribuido internamente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2DD1EE82-5918-4F13-9128-E49432F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gerencial</a:t>
            </a:r>
          </a:p>
        </p:txBody>
      </p:sp>
      <p:sp>
        <p:nvSpPr>
          <p:cNvPr id="16" name="footer-separator">
            <a:extLst xmlns:a="http://schemas.openxmlformats.org/drawingml/2006/main">
              <a:ext uri="{FF2B5EF4-FFF2-40B4-BE49-F238E27FC236}">
                <a16:creationId xmlns:a16="http://schemas.microsoft.com/office/drawing/2014/main" id="{05F6C2AD-8701-42E6-96CC-35E4526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46A6829-9E3C-40AB-A96D-304345C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339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nuevo método no cambia la unidad: paga bultos reales por hora reloj.</a:t>
            </a:r>
          </a:p>
        </p:txBody>
      </p:sp>
      <p:sp>
        <p:nvSpPr>
          <p:cNvPr id="18" name="footer2">
            <a:extLst xmlns:a="http://schemas.openxmlformats.org/drawingml/2006/main">
              <a:ext uri="{FF2B5EF4-FFF2-40B4-BE49-F238E27FC236}">
                <a16:creationId xmlns:a16="http://schemas.microsoft.com/office/drawing/2014/main" id="{114CF7A1-4B6D-4C8F-8DF7-62ACDA7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439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global es acotada; la revisión necesaria está en la distribución por sector y legajo.</a:t>
            </a:r>
          </a:p>
        </p:txBody>
      </p:sp>
      <p:sp>
        <p:nvSpPr>
          <p:cNvPr id="20" name="footer2">
            <a:extLst xmlns:a="http://schemas.openxmlformats.org/drawingml/2006/main">
              <a:ext uri="{FF2B5EF4-FFF2-40B4-BE49-F238E27FC236}">
                <a16:creationId xmlns:a16="http://schemas.microsoft.com/office/drawing/2014/main" id="{13A533C3-B0B5-F7FA-5B8E-02388E7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74151"/>
                </a:solidFill>
                <a:latin typeface="Aptos"/>
                <a:ea typeface="Aptos"/>
                <a:cs typeface="Aptos"/>
              </a:rPr>
              <a:t>Base comparada: Picking · julio 2026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23FE5997-7095-44F9-B2ED-F845D4B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30"/>
          </a:solidFill>
          <a:ln xmlns:a="http://schemas.openxmlformats.org/drawingml/2006/main" w="0">
            <a:solidFill>
              <a:srgbClr val="0B1630"/>
            </a:solidFill>
            <a:prstDash val="solid"/>
          </a:ln>
        </p:spPr>
      </p:sp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F7A31810-2208-48C4-BE92-A63DB5B1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ESCENARIO PICKING · JULIO 2026</a:t>
            </a:r>
          </a:p>
        </p:txBody>
      </p:sp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244175BC-5B4B-42F9-B778-9B3ED091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El cálculo directo queda alineado al pago actual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4ACC4-68E8-49D1-B4C3-EBD90DD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btitle">
            <a:extLst xmlns:a="http://schemas.openxmlformats.org/drawingml/2006/main">
              <a:ext uri="{FF2B5EF4-FFF2-40B4-BE49-F238E27FC236}">
                <a16:creationId xmlns:a16="http://schemas.microsoft.com/office/drawing/2014/main" id="{6F552E99-ED38-4145-9440-885BDBE0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8DC"/>
                </a:solidFill>
              </a:defRPr>
            </a:pPr>
            <a:r>
              <a:rPr sz="1125" b="0">
                <a:solidFill>
                  <a:srgbClr val="B9C8DC"/>
                </a:solidFill>
              </a:rPr>
              <a:t>Bultos reales · hora reloj · sin ajustes sectoriales</a:t>
            </a:r>
          </a:p>
        </p:txBody>
      </p:sp>
      <p:sp>
        <p:nvSpPr>
          <p:cNvPr id="26" name="card-PAGO ACTUAL">
            <a:extLst xmlns:a="http://schemas.openxmlformats.org/drawingml/2006/main">
              <a:ext uri="{FF2B5EF4-FFF2-40B4-BE49-F238E27FC236}">
                <a16:creationId xmlns:a16="http://schemas.microsoft.com/office/drawing/2014/main" id="{FCFF89AC-CA26-46CD-9AF0-303E8BE0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A4452-2ADB-491A-8AC0-2F16D0C2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GO ACTUAL-label">
            <a:extLst xmlns:a="http://schemas.openxmlformats.org/drawingml/2006/main">
              <a:ext uri="{FF2B5EF4-FFF2-40B4-BE49-F238E27FC236}">
                <a16:creationId xmlns:a16="http://schemas.microsoft.com/office/drawing/2014/main" id="{43E96879-2FC4-4164-A4E5-B3387BE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E"/>
                </a:solidFill>
              </a:defRPr>
            </a:pPr>
            <a:r>
              <a:rPr sz="900" b="1">
                <a:solidFill>
                  <a:srgbClr val="52657E"/>
                </a:solidFill>
              </a:rPr>
              <a:t>PAGO ACTUAL</a:t>
            </a:r>
          </a:p>
        </p:txBody>
      </p:sp>
      <p:sp>
        <p:nvSpPr>
          <p:cNvPr id="29" name="PAGO ACTUAL-value">
            <a:extLst xmlns:a="http://schemas.openxmlformats.org/drawingml/2006/main">
              <a:ext uri="{FF2B5EF4-FFF2-40B4-BE49-F238E27FC236}">
                <a16:creationId xmlns:a16="http://schemas.microsoft.com/office/drawing/2014/main" id="{BA7E11D0-2F08-4283-A7A8-45B546E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33"/>
                </a:solidFill>
              </a:defRPr>
            </a:pPr>
            <a:r>
              <a:rPr sz="2400" b="1">
                <a:solidFill>
                  <a:srgbClr val="142033"/>
                </a:solidFill>
              </a:rPr>
              <a:t>$48,42 M</a:t>
            </a:r>
          </a:p>
        </p:txBody>
      </p:sp>
      <p:sp>
        <p:nvSpPr>
          <p:cNvPr id="30" name="PAGO ACTUAL-detail">
            <a:extLst xmlns:a="http://schemas.openxmlformats.org/drawingml/2006/main">
              <a:ext uri="{FF2B5EF4-FFF2-40B4-BE49-F238E27FC236}">
                <a16:creationId xmlns:a16="http://schemas.microsoft.com/office/drawing/2014/main" id="{6EAE4ABB-181C-4818-93DA-6A834C0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Monto liquidado en julio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Base de comparación</a:t>
            </a:r>
          </a:p>
        </p:txBody>
      </p:sp>
      <p:sp>
        <p:nvSpPr>
          <p:cNvPr id="31" name="card-NUEVO DIRECTO">
            <a:extLst xmlns:a="http://schemas.openxmlformats.org/drawingml/2006/main">
              <a:ext uri="{FF2B5EF4-FFF2-40B4-BE49-F238E27FC236}">
                <a16:creationId xmlns:a16="http://schemas.microsoft.com/office/drawing/2014/main" id="{EF3A0DDD-A611-44EE-8399-16AA2F59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53D72"/>
          </a:solidFill>
          <a:ln xmlns:a="http://schemas.openxmlformats.org/drawingml/2006/main" w="9525">
            <a:solidFill>
              <a:srgbClr val="153D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264A0-6A00-49AA-91AE-94603C9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UEVO DIRECTO-label">
            <a:extLst xmlns:a="http://schemas.openxmlformats.org/drawingml/2006/main">
              <a:ext uri="{FF2B5EF4-FFF2-40B4-BE49-F238E27FC236}">
                <a16:creationId xmlns:a16="http://schemas.microsoft.com/office/drawing/2014/main" id="{F609EA37-E6CC-46F1-884E-8C0B3EA6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D8EA"/>
                </a:solidFill>
              </a:defRPr>
            </a:pPr>
            <a:r>
              <a:rPr sz="900" b="1">
                <a:solidFill>
                  <a:srgbClr val="C9D8EA"/>
                </a:solidFill>
              </a:rPr>
              <a:t>NUEVO DIRECTO</a:t>
            </a:r>
          </a:p>
        </p:txBody>
      </p:sp>
      <p:sp>
        <p:nvSpPr>
          <p:cNvPr id="34" name="NUEVO DIRECTO-value">
            <a:extLst xmlns:a="http://schemas.openxmlformats.org/drawingml/2006/main">
              <a:ext uri="{FF2B5EF4-FFF2-40B4-BE49-F238E27FC236}">
                <a16:creationId xmlns:a16="http://schemas.microsoft.com/office/drawing/2014/main" id="{A56A5D72-1E0C-4D8E-93DA-27CE8A1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$49,01 M</a:t>
            </a:r>
          </a:p>
        </p:txBody>
      </p:sp>
      <p:sp>
        <p:nvSpPr>
          <p:cNvPr id="35" name="NUEVO DIRECTO-detail">
            <a:extLst xmlns:a="http://schemas.openxmlformats.org/drawingml/2006/main">
              <a:ext uri="{FF2B5EF4-FFF2-40B4-BE49-F238E27FC236}">
                <a16:creationId xmlns:a16="http://schemas.microsoft.com/office/drawing/2014/main" id="{845E893F-5764-4980-AC3D-1BE30830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7F3"/>
                </a:solidFill>
              </a:defRPr>
            </a:pPr>
            <a:r>
              <a:rPr sz="1050" b="0">
                <a:solidFill>
                  <a:srgbClr val="DCE7F3"/>
                </a:solidFill>
              </a:rPr>
              <a:t>Cálculo directo por bultos</a:t>
            </a:r>
          </a:p>
          <a:p xmlns:a="http://schemas.openxmlformats.org/drawingml/2006/main">
            <a:pPr>
              <a:defRPr sz="1050" b="0">
                <a:solidFill>
                  <a:srgbClr val="DCE7F3"/>
                </a:solidFill>
              </a:defRPr>
            </a:pPr>
            <a:r>
              <a:rPr sz="1050" b="0">
                <a:solidFill>
                  <a:srgbClr val="DCE7F3"/>
                </a:solidFill>
              </a:rPr>
              <a:t>Sin calibración sectorial</a:t>
            </a:r>
          </a:p>
        </p:txBody>
      </p:sp>
      <p:sp>
        <p:nvSpPr>
          <p:cNvPr id="36" name="card-DIFERENCIA">
            <a:extLst xmlns:a="http://schemas.openxmlformats.org/drawingml/2006/main">
              <a:ext uri="{FF2B5EF4-FFF2-40B4-BE49-F238E27FC236}">
                <a16:creationId xmlns:a16="http://schemas.microsoft.com/office/drawing/2014/main" id="{2247D201-D15A-471E-AFFF-0F458E6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31018-9144-4893-A473-791A870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IFERENCIA-label">
            <a:extLst xmlns:a="http://schemas.openxmlformats.org/drawingml/2006/main">
              <a:ext uri="{FF2B5EF4-FFF2-40B4-BE49-F238E27FC236}">
                <a16:creationId xmlns:a16="http://schemas.microsoft.com/office/drawing/2014/main" id="{EDDD5936-DBA4-444C-86FF-D5D0EAC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E"/>
                </a:solidFill>
              </a:defRPr>
            </a:pPr>
            <a:r>
              <a:rPr sz="900" b="1">
                <a:solidFill>
                  <a:srgbClr val="52657E"/>
                </a:solidFill>
              </a:rPr>
              <a:t>DIFERENCIA</a:t>
            </a:r>
          </a:p>
        </p:txBody>
      </p:sp>
      <p:sp>
        <p:nvSpPr>
          <p:cNvPr id="39" name="DIFERENCIA-value">
            <a:extLst xmlns:a="http://schemas.openxmlformats.org/drawingml/2006/main">
              <a:ext uri="{FF2B5EF4-FFF2-40B4-BE49-F238E27FC236}">
                <a16:creationId xmlns:a16="http://schemas.microsoft.com/office/drawing/2014/main" id="{2A650DB3-98E6-4595-98E9-2A05DAE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33"/>
                </a:solidFill>
              </a:defRPr>
            </a:pPr>
            <a:r>
              <a:rPr sz="2400" b="1">
                <a:solidFill>
                  <a:srgbClr val="142033"/>
                </a:solidFill>
              </a:rPr>
              <a:t>+$0,58 M</a:t>
            </a:r>
          </a:p>
        </p:txBody>
      </p:sp>
      <p:sp>
        <p:nvSpPr>
          <p:cNvPr id="40" name="DIFERENCIA-detail">
            <a:extLst xmlns:a="http://schemas.openxmlformats.org/drawingml/2006/main">
              <a:ext uri="{FF2B5EF4-FFF2-40B4-BE49-F238E27FC236}">
                <a16:creationId xmlns:a16="http://schemas.microsoft.com/office/drawing/2014/main" id="{8BC4C2A0-53B4-4852-B28E-3069B96F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+1,2% sobre el pago actual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Resultado global similar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070ED0-0F25-4911-A631-32A21EA6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434CC-2583-437F-B346-31452C3D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LECTURA GERENCIAL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A98A36-FD00-4712-825B-8F63499A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 discusión no está en el total global: está en cómo se distribuye por sector y por legajo.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19CB9C-3172-4ACF-92E2-42721F5B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C"/>
                </a:solidFill>
              </a:defRPr>
            </a:pPr>
            <a:r>
              <a:rPr sz="1050" b="0">
                <a:solidFill>
                  <a:srgbClr val="B9C8DC"/>
                </a:solidFill>
              </a:rPr>
              <a:t>La unidad de pago se mantiene: producción efectiva registrada y horas reloj.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BC6D2F-FAD2-4291-A451-DD624EE5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34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DA3BE"/>
                </a:solidFill>
              </a:defRPr>
            </a:pPr>
            <a:r>
              <a:rPr sz="750" b="0">
                <a:solidFill>
                  <a:srgbClr val="8DA3BE"/>
                </a:solidFill>
              </a:rPr>
              <a:t>Fuente: caché de productividad · Picking · julio 2026</a:t>
            </a: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B759442-4E6C-4659-AD8D-A2A8FFC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CA2989-D30A-42BA-B364-61557B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Cinco sectores requieren una calibración específica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29E5B7F-8153-4CCD-BF81-948BEC1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2CE3807A-EC70-4995-BCB1-6B2688C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525405D9-230D-4BB2-9273-EC2BC8C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SECTORES PROPUESTOS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FBB664F7-C56E-4FB3-BB94-9D67897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B1 · AM · PI · N1 · VA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F626CDB0-08D0-4F00-8DDD-46F26BD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Incremento propuesto: +30% en la escala monetaria del sector. No modifica los bultos registrados ni crea equivalencias.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24FBB201-54EE-47B1-9D7B-F84A8F1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OPERATIVA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F4B6162-1E83-413B-9253-251CAC9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428,9 m por etapa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215,9 m en el resto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406FE951-F1DD-4A34-B9A7-B182FF6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recorrido medio por etapa es 98,6% superior. La operación exige más desplazamiento para producir una unidad efectiva.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4A2DB39-3487-43E3-885C-26E6E2E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IMPACTO OBSERVADO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923903A9-A757-4B5A-8C1F-7A70B7CE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16,23 m por bulto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14,35 m en el resto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034DFD5C-C10C-4265-99A0-AD649F5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es 13,1% en metros por bulto. El ajuste calibra el valor monetario sin convertir metros en bultos.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E0A4B526-221E-4784-B1A4-AF6B4F5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BFE7C99B-603F-471B-BD6D-F094DFE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Propuesta: mantener bultos reales y hora reloj; ajustar la escala solo donde la evidencia muestra una exigencia de recorrido superior.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4765D811-12E2-449D-B9F4-710C50B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DE MEDICIÓN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E437DA44-58BD-44E1-B679-C15DA28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PV_ETAPA_CAB.DISTANCIA_EN_METROS · Picking · 72.052 etapas en los cinco sectores / 131.807 en el resto</a:t>
            </a:r>
          </a:p>
        </p:txBody>
      </p:sp>
      <p:sp>
        <p:nvSpPr>
          <p:cNvPr id="19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563AF7BB-7F95-4490-A0E3-FAEF21F1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F5E3B8E4-DAB6-4B2E-837A-C730903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CALIBRACIÓN PROPUESTA</a:t>
            </a:r>
          </a:p>
        </p:txBody>
      </p: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F206F839-3A43-4859-8305-FBD2D84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033"/>
                </a:solidFill>
              </a:defRPr>
            </a:pPr>
            <a:r>
              <a:rPr sz="2325" b="1">
                <a:solidFill>
                  <a:srgbClr val="142033"/>
                </a:solidFill>
              </a:rPr>
              <a:t>Cinco sectores necesitan una escala monetaria específica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F7C8B-84C1-4D68-BC5A-AC4A945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btitle">
            <a:extLst xmlns:a="http://schemas.openxmlformats.org/drawingml/2006/main">
              <a:ext uri="{FF2B5EF4-FFF2-40B4-BE49-F238E27FC236}">
                <a16:creationId xmlns:a16="http://schemas.microsoft.com/office/drawing/2014/main" id="{1BED034D-0341-4C59-B01D-8AE9EEB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7E"/>
                </a:solidFill>
              </a:defRPr>
            </a:pPr>
            <a:r>
              <a:rPr sz="1125" b="0">
                <a:solidFill>
                  <a:srgbClr val="52657E"/>
                </a:solidFill>
              </a:rPr>
              <a:t>La evidencia muestra mayor recorrido operativo por unidad real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629A5-98E1-4039-8863-D6FDE3F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153D72"/>
          </a:solidFill>
          <a:ln xmlns:a="http://schemas.openxmlformats.org/drawingml/2006/main" w="0">
            <a:solidFill>
              <a:srgbClr val="153D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78A1A-BE61-4ABA-804C-3703AC5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C5E4"/>
                </a:solidFill>
              </a:defRPr>
            </a:pPr>
            <a:r>
              <a:rPr sz="900" b="1">
                <a:solidFill>
                  <a:srgbClr val="A9C5E4"/>
                </a:solidFill>
              </a:rPr>
              <a:t>SECTORES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44BCB-3E9C-44F2-A88A-A330FDE4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B1 · AM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PI · N1 · 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313896-9920-4C2A-8414-7CFE4C5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2D714-D75E-45FB-AA9B-4DBFD42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+30% escala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8A582-B7E3-4894-A9E2-249DDE1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E6F3"/>
                </a:solidFill>
              </a:defRPr>
            </a:pPr>
            <a:r>
              <a:rPr sz="1125" b="0">
                <a:solidFill>
                  <a:srgbClr val="D8E6F3"/>
                </a:solidFill>
              </a:rPr>
              <a:t>Propuesta de calibración</a:t>
            </a:r>
          </a:p>
          <a:p xmlns:a="http://schemas.openxmlformats.org/drawingml/2006/main">
            <a:pPr>
              <a:defRPr sz="1125" b="0">
                <a:solidFill>
                  <a:srgbClr val="D8E6F3"/>
                </a:solidFill>
              </a:defRPr>
            </a:pPr>
            <a:r>
              <a:rPr sz="1125" b="0">
                <a:solidFill>
                  <a:srgbClr val="D8E6F3"/>
                </a:solidFill>
              </a:rPr>
              <a:t>sobre el valor monetario del premio.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1B4E6-7156-4698-AE83-0F45C199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2A33A"/>
                </a:solidFill>
              </a:defRPr>
            </a:pPr>
            <a:r>
              <a:rPr sz="900" b="1">
                <a:solidFill>
                  <a:srgbClr val="F2A33A"/>
                </a:solidFill>
              </a:rPr>
              <a:t>No convierte metros en bultos.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56A1C-B455-4068-9889-638ED326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72580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E4CD06-1F87-4A8A-B459-54FE502D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¿Qué se midió?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95928-C036-441E-8301-A1C0A50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Promedio de recorrido por unidad efectiva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1E36FE-ACFB-481F-889E-713714B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Cinco sectores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F469B4-FFD8-4135-B270-0478C493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825844-8B3F-4544-8254-8E9EBC86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0C66D-1691-4345-8B78-93333E1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428,9 m / etapa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FAED2A-45D8-4006-8507-AAA2983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Resto de sectores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129F3-428F-46FA-9BC6-89954B2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8ECA2F-8AE1-4FF8-8FB9-6084757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1917881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EBEFC8-C431-4507-A68D-E79D2C1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8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215,9 m / etapa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79F532-C2EF-48FB-9004-AB1807FB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1016C5-1A86-49C0-8D69-2D708968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37A"/>
                </a:solidFill>
              </a:defRPr>
            </a:pPr>
            <a:r>
              <a:rPr sz="1200" b="1">
                <a:solidFill>
                  <a:srgbClr val="00A37A"/>
                </a:solidFill>
              </a:rPr>
              <a:t>98,6% más metros por etapa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38C11A-1B5D-4010-BAAE-118DF972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16,23 m/bulto vs 14,35 m/bulto en el resto (+13,1%)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100DC2-83DC-4109-9E59-6C8D494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0D5"/>
          </a:solidFill>
          <a:ln xmlns:a="http://schemas.openxmlformats.org/drawingml/2006/main" w="0">
            <a:solidFill>
              <a:srgbClr val="FFF0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BDEDA4-1367-4366-8572-5319853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A33A"/>
                </a:solidFill>
              </a:defRPr>
            </a:pPr>
            <a:r>
              <a:rPr sz="975" b="1">
                <a:solidFill>
                  <a:srgbClr val="F2A33A"/>
                </a:solidFill>
              </a:rPr>
              <a:t>Criterio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3B780-84BC-4C21-B835-D4745F36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033"/>
                </a:solidFill>
              </a:defRPr>
            </a:pPr>
            <a:r>
              <a:rPr sz="1125" b="1">
                <a:solidFill>
                  <a:srgbClr val="142033"/>
                </a:solidFill>
              </a:rPr>
              <a:t>Mantener bultos reales y hora reloj; calibrar el premio donde el recorrido operativo medido sea sistemáticamente superior.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9144BF-6040-4145-ADC0-7CD1C4B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57E"/>
                </a:solidFill>
              </a:defRPr>
            </a:pPr>
            <a:r>
              <a:rPr sz="750" b="0">
                <a:solidFill>
                  <a:srgbClr val="52657E"/>
                </a:solidFill>
              </a:rPr>
              <a:t>Fuente: PV_ETAPA_CAB.DISTANCIA_EN_METROS · julio 2026 · 72.052 etapas en los cinco sectores / 131.807 en el resto</a:t>
            </a: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DA909B0-2B54-4C36-A5F2-34FE415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CONDICIÓN DE IMPLEMENTACIÓN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2E9C58-F4BD-4A2A-8FC2-9B7417A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premio grupal requiere alinear nómina y actividad real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CE0F20-5132-4AA6-B7A7-BA8F242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A0C1A63C-333A-47B3-92C7-7767FB4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E329D114-CA9E-4411-A4B4-DC317F9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NÓMINA TEÓRICA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9531DFDD-5A4C-49F0-B7CA-5EE1502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≈143 legajos / día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3FFE02D5-6869-447F-B150-8FBDDE6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Promedio de legajos-jornada asignados a Picking en julio. Esta nómina alimenta el denominador del objetivo grupal.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53044816-8376-4C93-BC6C-084818B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ACTIVIDAD REAL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8FD124F-5A71-483D-BCA5-15924A5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5–6 legajos / día sin bultos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71EAF7E7-59E4-44DC-B4F0-3EA9BAB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3,6% de las jornadas-legajo no registra bultos de Picking y sí registra otra actividad productiva medida.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859CC25-5AB7-4309-92A9-14F585F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EFECTO SOBRE EL GRUPO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D04BDAB2-6494-4550-A655-F5AF752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Denominador alto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Numerador incompleto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B5A019BC-1A80-44EB-A74E-CF6AB43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persona permanece en la nómina de Picking, pero no suma bultos allí. El cumplimiento grupal queda subestimado y el premio no se activa.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02018029-E1C0-42E1-A01D-B56F3701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4106AE25-2B1B-4A60-9AEF-6730DA0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Conclusión: el premio grupal es viable cuando la nómina activa refleje la tarea efectivamente realizada por cada legajo.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74228960-DF57-41F6-B8EA-0180252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DEL CACHÉ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3CF1BE14-95B9-4B1D-98B3-A95FAD4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4.433 jornadas-legajo Picking · 170 sin productividad Picking · 160 con otra operación medida · 94,1% de los casos sin Picking tiene otra actividad</a:t>
            </a:r>
          </a:p>
        </p:txBody>
      </p:sp>
      <p:sp>
        <p:nvSpPr>
          <p:cNvPr id="19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C9BF1379-D4CE-40AD-9576-BC35D53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19122F4-00E3-49AB-AB3F-8FDF5CA8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PREMIO GRUPAL</a:t>
            </a:r>
          </a:p>
        </p:txBody>
      </p: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0157E3F0-4269-48C1-BBD9-71B0D5A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033"/>
                </a:solidFill>
              </a:defRPr>
            </a:pPr>
            <a:r>
              <a:rPr sz="2325" b="1">
                <a:solidFill>
                  <a:srgbClr val="142033"/>
                </a:solidFill>
              </a:rPr>
              <a:t>El desafío actual es operativo, no conceptual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F24C3-3658-4A1B-AD5C-5CC8C34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btitle">
            <a:extLst xmlns:a="http://schemas.openxmlformats.org/drawingml/2006/main">
              <a:ext uri="{FF2B5EF4-FFF2-40B4-BE49-F238E27FC236}">
                <a16:creationId xmlns:a16="http://schemas.microsoft.com/office/drawing/2014/main" id="{0B038D6E-CF3C-417A-AF53-2EA4A1D1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7E"/>
                </a:solidFill>
              </a:defRPr>
            </a:pPr>
            <a:r>
              <a:rPr sz="1125" b="0">
                <a:solidFill>
                  <a:srgbClr val="52657E"/>
                </a:solidFill>
              </a:rPr>
              <a:t>La nómina teórica no coincide con la actividad real registrada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0C1F3-5222-45DA-A76E-944030D0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A5C6B-58B9-4920-AB60-CFCA0D03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DA105-8601-455D-BAB8-5079CBA0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369785-1999-4307-8408-FBFD5C4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NÓMINA TEÓRICA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882D5-9364-4940-8BFC-7374E0E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033"/>
                </a:solidFill>
              </a:defRPr>
            </a:pPr>
            <a:r>
              <a:rPr sz="2025" b="1">
                <a:solidFill>
                  <a:srgbClr val="142033"/>
                </a:solidFill>
              </a:rPr>
              <a:t>≈143 / día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8A784-1EE9-44CC-805F-43DB6E03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Legajos asignados a Picking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que alimentan el denominador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del objetivo grupal.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DEC6D-0C34-4CDA-90BE-3DFA97CF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78917-32FC-4958-80A3-984B946B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7A11F-382A-4749-BFAE-38BFA9A0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ED280-DACD-453B-86B1-FB9F9A07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ACTIVIDAD REAL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60D155-F38B-4717-8E35-6DF8E82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033"/>
                </a:solidFill>
              </a:defRPr>
            </a:pPr>
            <a:r>
              <a:rPr sz="2025" b="1">
                <a:solidFill>
                  <a:srgbClr val="142033"/>
                </a:solidFill>
              </a:rPr>
              <a:t>5–6 / día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17A51-0340-48D1-8E27-A5F33838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No registran bultos de Picking.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La mayoría sí registra otra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actividad productiva medida.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11E17-3838-4583-BB47-B088FBAA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FFF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FAC7A-0A43-46B7-A048-98C5FED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493A49-7857-40B7-A86B-F90FDF1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047AA5-88EE-4F30-B48E-7943F0E7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EFECTO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A53C0C-2772-499F-ADB8-9C34169C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444E"/>
                </a:solidFill>
              </a:defRPr>
            </a:pPr>
            <a:r>
              <a:rPr sz="2025" b="1">
                <a:solidFill>
                  <a:srgbClr val="C9444E"/>
                </a:solidFill>
              </a:rPr>
              <a:t>Umbral alto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D5877F-EDF4-4793-884D-84E77EE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El legajo permanece en la nómina,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pero no suma bultos en Picking.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El cumplimiento se subestima.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DCA709-55B6-4827-AC3C-1B44D62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37A"/>
                </a:solidFill>
              </a:defRPr>
            </a:pPr>
            <a:r>
              <a:rPr sz="2250" b="1">
                <a:solidFill>
                  <a:srgbClr val="00A37A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ABB558-9D5A-41D1-B94A-D1728A6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37A"/>
                </a:solidFill>
              </a:defRPr>
            </a:pPr>
            <a:r>
              <a:rPr sz="2250" b="1">
                <a:solidFill>
                  <a:srgbClr val="00A37A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DA715-3399-4E5D-B70C-E72AC213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0">
            <a:solidFill>
              <a:srgbClr val="0B163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66B04E-7D79-46D0-8CF4-5CCDDC10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EVIDENCIA JULIO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2A18CC-3D76-4560-AF67-FDFA003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9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3,6%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4546C-F500-4467-968D-E0C43D4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959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7F3"/>
                </a:solidFill>
              </a:defRPr>
            </a:pPr>
            <a:r>
              <a:rPr sz="1125" b="0">
                <a:solidFill>
                  <a:srgbClr val="DCE7F3"/>
                </a:solidFill>
              </a:rPr>
              <a:t>de las jornadas-legajo no registra Picking y sí registra otra actividad medida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EEF719-7082-4A76-801F-1835FBE6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Conclusión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8D706E-822E-457C-82A9-27090F5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484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033"/>
                </a:solidFill>
              </a:defRPr>
            </a:pPr>
            <a:r>
              <a:rPr sz="1125" b="1">
                <a:solidFill>
                  <a:srgbClr val="142033"/>
                </a:solidFill>
              </a:rPr>
              <a:t>El premio grupal es viable cuando la nómina activa refleje la tarea efectivamente realizada.</a:t>
            </a: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2026-08-18T19:04:14.6020000Z</dcterms:created>
  <dcterms:modified xsi:type="dcterms:W3CDTF">2026-08-18T19:04:14.6020000Z</dcterms:modified>
</coreProperties>
</file>