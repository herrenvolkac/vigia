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60b27fdfa14b95" /><Relationship Type="http://schemas.openxmlformats.org/officeDocument/2006/relationships/extended-properties" Target="/docProps/app.xml" Id="Rd803abc86ee64d70" /><Relationship Type="http://schemas.openxmlformats.org/officeDocument/2006/relationships/officeDocument" Target="/ppt/presentation.xml" Id="Rd3b0a819a92343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4f6189474c4275"/>
  </p:sldMasterIdLst>
  <p:notesMasterIdLst>
    <p:notesMasterId xmlns:r="http://schemas.openxmlformats.org/officeDocument/2006/relationships" r:id="R3e3fff7c47c8456f"/>
  </p:notesMasterIdLst>
  <p:sldIdLst>
    <p:sldId xmlns:r="http://schemas.openxmlformats.org/officeDocument/2006/relationships" id="256" r:id="Re680c3f6f9bd4d07"/>
    <p:sldId xmlns:r="http://schemas.openxmlformats.org/officeDocument/2006/relationships" id="257" r:id="R8d1f1cb7c30b40fc"/>
    <p:sldId xmlns:r="http://schemas.openxmlformats.org/officeDocument/2006/relationships" id="258" r:id="R38b5edefc81343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247523869446cb" /><Relationship Type="http://schemas.openxmlformats.org/officeDocument/2006/relationships/slideMaster" Target="/ppt/slideMasters/slideMaster1.xml" Id="R0e4f6189474c4275" /><Relationship Type="http://schemas.openxmlformats.org/officeDocument/2006/relationships/notesMaster" Target="/ppt/notesMasters/notesMaster1.xml" Id="R3e3fff7c47c8456f" /><Relationship Type="http://schemas.openxmlformats.org/officeDocument/2006/relationships/presProps" Target="/ppt/presProps.xml" Id="R65bcfb016e6947ce" /><Relationship Type="http://schemas.openxmlformats.org/officeDocument/2006/relationships/viewProps" Target="/ppt/viewProps.xml" Id="R6e8e22ffec544815" /><Relationship Type="http://schemas.openxmlformats.org/officeDocument/2006/relationships/tableStyles" Target="/ppt/tableStyles.xml" Id="Rc1cbc7cbf7424971" /><Relationship Type="http://schemas.openxmlformats.org/officeDocument/2006/relationships/slide" Target="/ppt/slides/slide1.xml" Id="Re680c3f6f9bd4d07" /><Relationship Type="http://schemas.openxmlformats.org/officeDocument/2006/relationships/slide" Target="/ppt/slides/slide2.xml" Id="R8d1f1cb7c30b40fc" /><Relationship Type="http://schemas.openxmlformats.org/officeDocument/2006/relationships/slide" Target="/ppt/slides/slide3.xml" Id="R38b5edefc81343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3427f597304d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0d449665224564" /><Relationship Type="http://schemas.openxmlformats.org/officeDocument/2006/relationships/notesMaster" Target="/ppt/notesMasters/notesMaster1.xml" Id="Rae286c4c63404b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33514c86ca42af" /><Relationship Type="http://schemas.openxmlformats.org/officeDocument/2006/relationships/notesMaster" Target="/ppt/notesMasters/notesMaster1.xml" Id="R0f891c18efce40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7347e96b024b1f" /><Relationship Type="http://schemas.openxmlformats.org/officeDocument/2006/relationships/notesMaster" Target="/ppt/notesMasters/notesMaster1.xml" Id="R31267051624346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primero la lectura global: el método directo queda prácticamente alineado con el pago vigente.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Caché SQLite del módulo análisis premio productividad, Picking, julio 2026.</a:t>
            </a:r>
            <a:endParaRPr/>
          </a:p>
          <a:p xmlns:a="http://schemas.openxmlformats.org/drawingml/2006/main">
            <a:r>
              <a:t>- Comparación de pago actual vs. nuevo método directo sin ajustes sectoriales.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+30% se presenta como calibración basada en evidencia de recorrido, no como conversión de metros a bultos.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Oracle Productiv, PV_ETAPA_CAB.DISTANCIA_EN_METROS, Picking, julio 2026.</a:t>
            </a:r>
            <a:endParaRPr/>
          </a:p>
          <a:p xmlns:a="http://schemas.openxmlformats.org/drawingml/2006/main">
            <a:r>
              <a:t>- Comparación de sectores B1, AM, PI, N1, VA contra el resto.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limitación del premio grupal no es conceptual: es de correspondencia entre la nómina teórica y la tarea efectivamente realizada.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Caché SQLite pp_operacion_evidencia_dia, Picking, julio 2026.</a:t>
            </a:r>
            <a:endParaRPr/>
          </a:p>
          <a:p xmlns:a="http://schemas.openxmlformats.org/drawingml/2006/main">
            <a:r>
              <a:t>- 4.433 jornadas-legajo; 170 sin productividad Picking; 160 con otra operación medida.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2eff0395304eb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9db036875944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1b41e1fd6c4f64" /><Relationship Type="http://schemas.openxmlformats.org/officeDocument/2006/relationships/slideLayout" Target="/ppt/slideLayouts/slideLayout1.xml" Id="R7137904ee0f643e1" /><Relationship Type="http://schemas.openxmlformats.org/officeDocument/2006/relationships/slideLayout" Target="/ppt/slideLayouts/slideLayout2.xml" Id="R999b6b63297148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37904ee0f643e1"/>
    <p:sldLayoutId xmlns:r="http://schemas.openxmlformats.org/officeDocument/2006/relationships" id="2147483650" r:id="R999b6b63297148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509f485d064af6" /><Relationship Type="http://schemas.openxmlformats.org/officeDocument/2006/relationships/notesSlide" Target="/ppt/notesSlides/notesSlide1.xml" Id="R395b94faefb644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7f2e83a794733" /><Relationship Type="http://schemas.openxmlformats.org/officeDocument/2006/relationships/notesSlide" Target="/ppt/notesSlides/notesSlide2.xml" Id="R224ef86ff9df43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04026e2cb4299" /><Relationship Type="http://schemas.openxmlformats.org/officeDocument/2006/relationships/notesSlide" Target="/ppt/notesSlides/notesSlide3.xml" Id="R5419006a2c2742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">
            <a:extLst xmlns:a="http://schemas.openxmlformats.org/drawingml/2006/main">
              <a:ext uri="{FF2B5EF4-FFF2-40B4-BE49-F238E27FC236}">
                <a16:creationId xmlns:a16="http://schemas.microsoft.com/office/drawing/2014/main" id="{F8025F1B-A545-4276-8E57-648EB918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RESULTADO MEDIDO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D039F9A-22E6-40F3-8BBD-8A6FA0A8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66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Picking | El cálculo directo queda cercano al pago actual</a:t>
            </a:r>
            <a:endParaRPr sz="2400" b="1" i="1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BBAB0419-E40A-4EED-8569-572C0BF5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4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D198202B-9AD4-4B93-9014-310C3EB9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FD4B8C9C-3B3D-410F-8220-506417562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PAGO ACTUAL · JULIO</a:t>
            </a:r>
          </a:p>
        </p:txBody>
      </p:sp>
      <p:sp>
        <p:nvSpPr>
          <p:cNvPr id="6" name="card-body-0">
            <a:extLst xmlns:a="http://schemas.openxmlformats.org/drawingml/2006/main">
              <a:ext uri="{FF2B5EF4-FFF2-40B4-BE49-F238E27FC236}">
                <a16:creationId xmlns:a16="http://schemas.microsoft.com/office/drawing/2014/main" id="{FC9C7385-759A-4418-BFB4-7E32D96B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285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$48,42 M</a:t>
            </a: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r>
              <a:t>Referencia liquidada de julio.</a:t>
            </a:r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/>
            </a:r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Bultos reales</a:t>
            </a:r>
          </a:p>
          <a:p xmlns:a="http://schemas.openxmlformats.org/drawingml/2006/main">
            <a:r>
              <a:t>Hora reloj</a:t>
            </a:r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card-label-0">
            <a:extLst xmlns:a="http://schemas.openxmlformats.org/drawingml/2006/main">
              <a:ext uri="{FF2B5EF4-FFF2-40B4-BE49-F238E27FC236}">
                <a16:creationId xmlns:a16="http://schemas.microsoft.com/office/drawing/2014/main" id="{B1AEED4E-311A-4C31-B71D-EBEBCB58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Método vigente</a:t>
            </a:r>
          </a:p>
        </p:txBody>
      </p:sp>
      <p:sp>
        <p:nvSpPr>
          <p:cNvPr id="8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18643A6B-5EF7-4DD0-8F6C-CEDD06CD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240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0">
            <a:solidFill>
              <a:srgbClr val="FF0000"/>
            </a:solidFill>
            <a:prstDash val="solid"/>
          </a:ln>
        </p:spPr>
      </p:sp>
      <p:sp>
        <p:nvSpPr>
          <p:cNvPr id="9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64AEF3F3-AB86-4604-916E-E3113ECF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762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NUEVO DIRECTO</a:t>
            </a:r>
          </a:p>
        </p:txBody>
      </p:sp>
      <p:sp>
        <p:nvSpPr>
          <p:cNvPr id="10" name="card-body-1">
            <a:extLst xmlns:a="http://schemas.openxmlformats.org/drawingml/2006/main">
              <a:ext uri="{FF2B5EF4-FFF2-40B4-BE49-F238E27FC236}">
                <a16:creationId xmlns:a16="http://schemas.microsoft.com/office/drawing/2014/main" id="{2E3913B7-C088-4679-B06A-834BC670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90750"/>
            <a:ext cx="285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$49,01 M</a:t>
            </a: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r>
              <a:t>Cálculo por bultos reales,</a:t>
            </a:r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sin ajustes sectoriales.</a:t>
            </a: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r>
              <a:t>Misma base horaria</a:t>
            </a:r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card-label-1">
            <a:extLst xmlns:a="http://schemas.openxmlformats.org/drawingml/2006/main">
              <a:ext uri="{FF2B5EF4-FFF2-40B4-BE49-F238E27FC236}">
                <a16:creationId xmlns:a16="http://schemas.microsoft.com/office/drawing/2014/main" id="{B7DF2154-1B70-4115-8097-AE79293E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191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Sin calibración</a:t>
            </a:r>
          </a:p>
        </p:txBody>
      </p:sp>
      <p:sp>
        <p:nvSpPr>
          <p:cNvPr id="12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04C15002-5FE4-4FF7-ABD7-E654028C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24000"/>
            <a:ext cx="3333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FA436AE0-B7C2-4F11-98B9-6E7DC324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7621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DIFERENCIA GLOBAL</a:t>
            </a:r>
          </a:p>
        </p:txBody>
      </p:sp>
      <p:sp>
        <p:nvSpPr>
          <p:cNvPr id="14" name="card-body-2">
            <a:extLst xmlns:a="http://schemas.openxmlformats.org/drawingml/2006/main">
              <a:ext uri="{FF2B5EF4-FFF2-40B4-BE49-F238E27FC236}">
                <a16:creationId xmlns:a16="http://schemas.microsoft.com/office/drawing/2014/main" id="{2D274743-90D5-4C01-A641-AD2C7EBF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90750"/>
            <a:ext cx="285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+$0,58 M</a:t>
            </a: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r>
              <a:t>+1,2% sobre el pago actual.</a:t>
            </a:r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/>
            </a:r>
          </a:p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Resultado global similar</a:t>
            </a:r>
          </a:p>
          <a:p xmlns:a="http://schemas.openxmlformats.org/drawingml/2006/main">
            <a:r>
              <a:t>Impacto redistribuido internamente</a:t>
            </a:r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card-label-2">
            <a:extLst xmlns:a="http://schemas.openxmlformats.org/drawingml/2006/main">
              <a:ext uri="{FF2B5EF4-FFF2-40B4-BE49-F238E27FC236}">
                <a16:creationId xmlns:a16="http://schemas.microsoft.com/office/drawing/2014/main" id="{2DD1EE82-5918-4F13-9128-E49432F0E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910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Lectura gerencial</a:t>
            </a:r>
          </a:p>
        </p:txBody>
      </p:sp>
      <p:sp>
        <p:nvSpPr>
          <p:cNvPr id="16" name="footer-separator">
            <a:extLst xmlns:a="http://schemas.openxmlformats.org/drawingml/2006/main">
              <a:ext uri="{FF2B5EF4-FFF2-40B4-BE49-F238E27FC236}">
                <a16:creationId xmlns:a16="http://schemas.microsoft.com/office/drawing/2014/main" id="{05F6C2AD-8701-42E6-96CC-35E4526A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530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746A6829-9E3C-40AB-A96D-304345C4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73395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 nuevo método no cambia la unidad: paga bultos reales por hora reloj.</a:t>
            </a:r>
          </a:p>
        </p:txBody>
      </p:sp>
      <p:sp>
        <p:nvSpPr>
          <p:cNvPr id="18" name="footer2">
            <a:extLst xmlns:a="http://schemas.openxmlformats.org/drawingml/2006/main">
              <a:ext uri="{FF2B5EF4-FFF2-40B4-BE49-F238E27FC236}">
                <a16:creationId xmlns:a16="http://schemas.microsoft.com/office/drawing/2014/main" id="{114CF7A1-4B6D-4C8F-8DF7-62ACDA7E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5439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La diferencia global es acotada; la revisión necesaria está en la distribución por sector y legajo.</a:t>
            </a:r>
          </a:p>
        </p:txBody>
      </p:sp>
      <p:sp>
        <p:nvSpPr>
          <p:cNvPr id="20" name="footer2">
            <a:extLst xmlns:a="http://schemas.openxmlformats.org/drawingml/2006/main">
              <a:ext uri="{FF2B5EF4-FFF2-40B4-BE49-F238E27FC236}">
                <a16:creationId xmlns:a16="http://schemas.microsoft.com/office/drawing/2014/main" id="{13A533C3-B0B5-F7FA-5B8E-02388E7C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9112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374151"/>
                </a:solidFill>
                <a:latin typeface="Aptos"/>
                <a:ea typeface="Aptos"/>
                <a:cs typeface="Aptos"/>
              </a:rPr>
              <a:t>Base comparada: Picking · julio 2026</a:t>
            </a:r>
            <a:endParaRPr sz="1050" b="0">
              <a:solidFill>
                <a:srgbClr val="374151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034337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5B759442-4E6C-4659-AD8D-A2A8FFCF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RESULTADO MEDIDO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DCA2989-D30A-42BA-B364-61557BCB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Cinco sectores requieren una calibración específica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A29E5B7F-8153-4CCD-BF81-948BEC1C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4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2CE3807A-EC70-4995-BCB1-6B2688C5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1163300" cy="5295900"/>
          </a:xfrm>
          <a:prstGeom xmlns:a="http://schemas.openxmlformats.org/drawingml/2006/main" prst="roundRect">
            <a:avLst>
              <a:gd name="adj" fmla="val 2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s-title-0">
            <a:extLst xmlns:a="http://schemas.openxmlformats.org/drawingml/2006/main">
              <a:ext uri="{FF2B5EF4-FFF2-40B4-BE49-F238E27FC236}">
                <a16:creationId xmlns:a16="http://schemas.microsoft.com/office/drawing/2014/main" id="{525405D9-230D-4BB2-9273-EC2BC8CBF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716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SECTORES PROPUESTOS</a:t>
            </a:r>
          </a:p>
        </p:txBody>
      </p:sp>
      <p:sp>
        <p:nvSpPr>
          <p:cNvPr id="6" name="s-formula-0">
            <a:extLst xmlns:a="http://schemas.openxmlformats.org/drawingml/2006/main">
              <a:ext uri="{FF2B5EF4-FFF2-40B4-BE49-F238E27FC236}">
                <a16:creationId xmlns:a16="http://schemas.microsoft.com/office/drawing/2014/main" id="{FBB664F7-C56E-4FB3-BB94-9D678978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764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B1 · AM · PI · N1 · VA</a:t>
            </a:r>
          </a:p>
        </p:txBody>
      </p:sp>
      <p:sp>
        <p:nvSpPr>
          <p:cNvPr id="7" name="s-body-0">
            <a:extLst xmlns:a="http://schemas.openxmlformats.org/drawingml/2006/main">
              <a:ext uri="{FF2B5EF4-FFF2-40B4-BE49-F238E27FC236}">
                <a16:creationId xmlns:a16="http://schemas.microsoft.com/office/drawing/2014/main" id="{F626CDB0-08D0-4F00-8DDD-46F26BDB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38325"/>
            <a:ext cx="561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Incremento propuesto: +30% en la escala monetaria del sector. No modifica los bultos registrados ni crea equivalencias.</a:t>
            </a:r>
          </a:p>
        </p:txBody>
      </p:sp>
      <p:sp>
        <p:nvSpPr>
          <p:cNvPr id="8" name="s-title-1">
            <a:extLst xmlns:a="http://schemas.openxmlformats.org/drawingml/2006/main">
              <a:ext uri="{FF2B5EF4-FFF2-40B4-BE49-F238E27FC236}">
                <a16:creationId xmlns:a16="http://schemas.microsoft.com/office/drawing/2014/main" id="{24FBB201-54EE-47B1-9D7B-F84A8F10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860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EVIDENCIA OPERATIVA</a:t>
            </a:r>
          </a:p>
        </p:txBody>
      </p:sp>
      <p:sp>
        <p:nvSpPr>
          <p:cNvPr id="9" name="s-formula-1">
            <a:extLst xmlns:a="http://schemas.openxmlformats.org/drawingml/2006/main">
              <a:ext uri="{FF2B5EF4-FFF2-40B4-BE49-F238E27FC236}">
                <a16:creationId xmlns:a16="http://schemas.microsoft.com/office/drawing/2014/main" id="{0F4B6162-1E83-413B-9253-251CAC93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428,9 m por etapa</a:t>
            </a:r>
          </a:p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vs 215,9 m en el resto</a:t>
            </a:r>
          </a:p>
        </p:txBody>
      </p:sp>
      <p:sp>
        <p:nvSpPr>
          <p:cNvPr id="10" name="s-body-1">
            <a:extLst xmlns:a="http://schemas.openxmlformats.org/drawingml/2006/main">
              <a:ext uri="{FF2B5EF4-FFF2-40B4-BE49-F238E27FC236}">
                <a16:creationId xmlns:a16="http://schemas.microsoft.com/office/drawing/2014/main" id="{406FE951-F1DD-4A34-B9A7-B182FF60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52725"/>
            <a:ext cx="561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El recorrido medio por etapa es 98,6% superior. La operación exige más desplazamiento para producir una unidad efectiva.</a:t>
            </a:r>
          </a:p>
        </p:txBody>
      </p:sp>
      <p:sp>
        <p:nvSpPr>
          <p:cNvPr id="11" name="s-title-2">
            <a:extLst xmlns:a="http://schemas.openxmlformats.org/drawingml/2006/main">
              <a:ext uri="{FF2B5EF4-FFF2-40B4-BE49-F238E27FC236}">
                <a16:creationId xmlns:a16="http://schemas.microsoft.com/office/drawing/2014/main" id="{F4A2DB39-3487-43E3-885C-26E6E2E7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04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IMPACTO OBSERVADO</a:t>
            </a:r>
          </a:p>
        </p:txBody>
      </p:sp>
      <p:sp>
        <p:nvSpPr>
          <p:cNvPr id="12" name="s-formula-2">
            <a:extLst xmlns:a="http://schemas.openxmlformats.org/drawingml/2006/main">
              <a:ext uri="{FF2B5EF4-FFF2-40B4-BE49-F238E27FC236}">
                <a16:creationId xmlns:a16="http://schemas.microsoft.com/office/drawing/2014/main" id="{923903A9-A757-4B5A-8C1F-7A70B7CE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052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16,23 m por bulto</a:t>
            </a:r>
          </a:p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vs 14,35 m en el resto</a:t>
            </a:r>
          </a:p>
        </p:txBody>
      </p:sp>
      <p:sp>
        <p:nvSpPr>
          <p:cNvPr id="13" name="s-body-2">
            <a:extLst xmlns:a="http://schemas.openxmlformats.org/drawingml/2006/main">
              <a:ext uri="{FF2B5EF4-FFF2-40B4-BE49-F238E27FC236}">
                <a16:creationId xmlns:a16="http://schemas.microsoft.com/office/drawing/2014/main" id="{034DFD5C-C10C-4265-99A0-AD649F50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67125"/>
            <a:ext cx="561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La diferencia es 13,1% en metros por bulto. El ajuste calibra el valor monetario sin convertir metros en bultos.</a:t>
            </a:r>
          </a:p>
        </p:txBody>
      </p:sp>
      <p:sp>
        <p:nvSpPr>
          <p:cNvPr id="14" name="simple-box">
            <a:extLst xmlns:a="http://schemas.openxmlformats.org/drawingml/2006/main">
              <a:ext uri="{FF2B5EF4-FFF2-40B4-BE49-F238E27FC236}">
                <a16:creationId xmlns:a16="http://schemas.microsoft.com/office/drawing/2014/main" id="{E0A4B526-221E-4784-B1A4-AF6B4F5D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9906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simple">
            <a:extLst xmlns:a="http://schemas.openxmlformats.org/drawingml/2006/main">
              <a:ext uri="{FF2B5EF4-FFF2-40B4-BE49-F238E27FC236}">
                <a16:creationId xmlns:a16="http://schemas.microsoft.com/office/drawing/2014/main" id="{BFE7C99B-603F-471B-BD6D-F094DFE3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482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Propuesta: mantener bultos reales y hora reloj; ajustar la escala solo donde la evidencia muestra una exigencia de recorrido superior.</a:t>
            </a:r>
          </a:p>
        </p:txBody>
      </p:sp>
      <p:sp>
        <p:nvSpPr>
          <p:cNvPr id="16" name="refs-title">
            <a:extLst xmlns:a="http://schemas.openxmlformats.org/drawingml/2006/main">
              <a:ext uri="{FF2B5EF4-FFF2-40B4-BE49-F238E27FC236}">
                <a16:creationId xmlns:a16="http://schemas.microsoft.com/office/drawing/2014/main" id="{4765D811-12E2-449D-B9F4-710C50BC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BASE DE MEDICIÓN</a:t>
            </a:r>
          </a:p>
        </p:txBody>
      </p:sp>
      <p:sp>
        <p:nvSpPr>
          <p:cNvPr id="17" name="refs">
            <a:extLst xmlns:a="http://schemas.openxmlformats.org/drawingml/2006/main">
              <a:ext uri="{FF2B5EF4-FFF2-40B4-BE49-F238E27FC236}">
                <a16:creationId xmlns:a16="http://schemas.microsoft.com/office/drawing/2014/main" id="{E437DA44-58BD-44E1-B679-C15DA28A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007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Julio 2026 · PV_ETAPA_CAB.DISTANCIA_EN_METROS · Picking · 72.052 etapas en los cinco sectores / 131.807 en el resto</a:t>
            </a:r>
          </a:p>
        </p:txBody>
      </p:sp>
    </p:spTree>
    <p:extLst>
      <p:ext uri="{BB962C8B-B14F-4D97-AF65-F5344CB8AC3E}">
        <p14:creationId xmlns:p14="http://schemas.microsoft.com/office/powerpoint/2010/main" val="5393878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">
            <a:extLst xmlns:a="http://schemas.openxmlformats.org/drawingml/2006/main">
              <a:ext uri="{FF2B5EF4-FFF2-40B4-BE49-F238E27FC236}">
                <a16:creationId xmlns:a16="http://schemas.microsoft.com/office/drawing/2014/main" id="{CDA909B0-2B54-4C36-A5F2-34FE415E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CONDICIÓN DE IMPLEMENTACIÓN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42E9C58-F4BD-4A2A-8FC2-9B7417A4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El premio grupal requiere alinear nómina y actividad real</a:t>
            </a:r>
          </a:p>
        </p:txBody>
      </p:sp>
      <p:sp>
        <p:nvSpPr>
          <p:cNvPr id="3" name="accent-rule">
            <a:extLst xmlns:a="http://schemas.openxmlformats.org/drawingml/2006/main">
              <a:ext uri="{FF2B5EF4-FFF2-40B4-BE49-F238E27FC236}">
                <a16:creationId xmlns:a16="http://schemas.microsoft.com/office/drawing/2014/main" id="{5FCE0F20-5132-4AA6-B7A7-BA8F2427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9535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4" name="content-panel">
            <a:extLst xmlns:a="http://schemas.openxmlformats.org/drawingml/2006/main">
              <a:ext uri="{FF2B5EF4-FFF2-40B4-BE49-F238E27FC236}">
                <a16:creationId xmlns:a16="http://schemas.microsoft.com/office/drawing/2014/main" id="{A0C1A63C-333A-47B3-92C7-7767FB44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1163300" cy="5295900"/>
          </a:xfrm>
          <a:prstGeom xmlns:a="http://schemas.openxmlformats.org/drawingml/2006/main" prst="roundRect">
            <a:avLst>
              <a:gd name="adj" fmla="val 2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5" name="s-title-0">
            <a:extLst xmlns:a="http://schemas.openxmlformats.org/drawingml/2006/main">
              <a:ext uri="{FF2B5EF4-FFF2-40B4-BE49-F238E27FC236}">
                <a16:creationId xmlns:a16="http://schemas.microsoft.com/office/drawing/2014/main" id="{E329D114-CA9E-4411-A4B4-DC317F91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716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NÓMINA TEÓRICA</a:t>
            </a:r>
          </a:p>
        </p:txBody>
      </p:sp>
      <p:sp>
        <p:nvSpPr>
          <p:cNvPr id="6" name="s-formula-0">
            <a:extLst xmlns:a="http://schemas.openxmlformats.org/drawingml/2006/main">
              <a:ext uri="{FF2B5EF4-FFF2-40B4-BE49-F238E27FC236}">
                <a16:creationId xmlns:a16="http://schemas.microsoft.com/office/drawing/2014/main" id="{9531DFDD-5A4C-49F0-B7CA-5EE15022D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764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≈143 legajos / día</a:t>
            </a:r>
          </a:p>
        </p:txBody>
      </p:sp>
      <p:sp>
        <p:nvSpPr>
          <p:cNvPr id="7" name="s-body-0">
            <a:extLst xmlns:a="http://schemas.openxmlformats.org/drawingml/2006/main">
              <a:ext uri="{FF2B5EF4-FFF2-40B4-BE49-F238E27FC236}">
                <a16:creationId xmlns:a16="http://schemas.microsoft.com/office/drawing/2014/main" id="{3FFE02D5-6869-447F-B150-8FBDDE65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38325"/>
            <a:ext cx="561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Promedio de legajos-jornada asignados a Picking en julio. Esta nómina alimenta el denominador del objetivo grupal.</a:t>
            </a:r>
          </a:p>
        </p:txBody>
      </p:sp>
      <p:sp>
        <p:nvSpPr>
          <p:cNvPr id="8" name="s-title-1">
            <a:extLst xmlns:a="http://schemas.openxmlformats.org/drawingml/2006/main">
              <a:ext uri="{FF2B5EF4-FFF2-40B4-BE49-F238E27FC236}">
                <a16:creationId xmlns:a16="http://schemas.microsoft.com/office/drawing/2014/main" id="{53044816-8376-4C93-BC6C-084818BA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860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ACTIVIDAD REAL</a:t>
            </a:r>
          </a:p>
        </p:txBody>
      </p:sp>
      <p:sp>
        <p:nvSpPr>
          <p:cNvPr id="9" name="s-formula-1">
            <a:extLst xmlns:a="http://schemas.openxmlformats.org/drawingml/2006/main">
              <a:ext uri="{FF2B5EF4-FFF2-40B4-BE49-F238E27FC236}">
                <a16:creationId xmlns:a16="http://schemas.microsoft.com/office/drawing/2014/main" id="{08FD124F-5A71-483D-BCA5-15924A57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908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5–6 legajos / día sin bultos</a:t>
            </a:r>
          </a:p>
        </p:txBody>
      </p:sp>
      <p:sp>
        <p:nvSpPr>
          <p:cNvPr id="10" name="s-body-1">
            <a:extLst xmlns:a="http://schemas.openxmlformats.org/drawingml/2006/main">
              <a:ext uri="{FF2B5EF4-FFF2-40B4-BE49-F238E27FC236}">
                <a16:creationId xmlns:a16="http://schemas.microsoft.com/office/drawing/2014/main" id="{71EAF7E7-59E4-44DC-B4F0-3EA9BABD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52725"/>
            <a:ext cx="561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3,6% de las jornadas-legajo no registra bultos de Picking y sí registra otra actividad productiva medida.</a:t>
            </a:r>
          </a:p>
        </p:txBody>
      </p:sp>
      <p:sp>
        <p:nvSpPr>
          <p:cNvPr id="11" name="s-title-2">
            <a:extLst xmlns:a="http://schemas.openxmlformats.org/drawingml/2006/main">
              <a:ext uri="{FF2B5EF4-FFF2-40B4-BE49-F238E27FC236}">
                <a16:creationId xmlns:a16="http://schemas.microsoft.com/office/drawing/2014/main" id="{F859CC25-5AB7-4309-92A9-14F585FE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04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EFECTO SOBRE EL GRUPO</a:t>
            </a:r>
          </a:p>
        </p:txBody>
      </p:sp>
      <p:sp>
        <p:nvSpPr>
          <p:cNvPr id="12" name="s-formula-2">
            <a:extLst xmlns:a="http://schemas.openxmlformats.org/drawingml/2006/main">
              <a:ext uri="{FF2B5EF4-FFF2-40B4-BE49-F238E27FC236}">
                <a16:creationId xmlns:a16="http://schemas.microsoft.com/office/drawing/2014/main" id="{D04BDAB2-6494-4550-A655-F5AF7527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052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Denominador alto</a:t>
            </a:r>
          </a:p>
          <a:p xmlns:a="http://schemas.openxmlformats.org/drawingml/2006/main">
            <a:pPr>
              <a:buNone/>
              <a:defRPr sz="12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Numerador incompleto</a:t>
            </a:r>
          </a:p>
        </p:txBody>
      </p:sp>
      <p:sp>
        <p:nvSpPr>
          <p:cNvPr id="13" name="s-body-2">
            <a:extLst xmlns:a="http://schemas.openxmlformats.org/drawingml/2006/main">
              <a:ext uri="{FF2B5EF4-FFF2-40B4-BE49-F238E27FC236}">
                <a16:creationId xmlns:a16="http://schemas.microsoft.com/office/drawing/2014/main" id="{B5A019BC-1A80-44EB-A74E-CF6AB433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67125"/>
            <a:ext cx="561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La persona permanece en la nómina de Picking, pero no suma bultos allí. El cumplimiento grupal queda subestimado y el premio no se activa.</a:t>
            </a:r>
          </a:p>
        </p:txBody>
      </p:sp>
      <p:sp>
        <p:nvSpPr>
          <p:cNvPr id="14" name="simple-box">
            <a:extLst xmlns:a="http://schemas.openxmlformats.org/drawingml/2006/main">
              <a:ext uri="{FF2B5EF4-FFF2-40B4-BE49-F238E27FC236}">
                <a16:creationId xmlns:a16="http://schemas.microsoft.com/office/drawing/2014/main" id="{02018029-E1C0-42E1-A01D-B56F3701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33900"/>
            <a:ext cx="99060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simple">
            <a:extLst xmlns:a="http://schemas.openxmlformats.org/drawingml/2006/main">
              <a:ext uri="{FF2B5EF4-FFF2-40B4-BE49-F238E27FC236}">
                <a16:creationId xmlns:a16="http://schemas.microsoft.com/office/drawing/2014/main" id="{4106AE25-2B1B-4A60-9AEF-6730DA00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48200"/>
            <a:ext cx="952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Conclusión: el premio grupal es viable cuando la nómina activa refleje la tarea efectivamente realizada por cada legajo.</a:t>
            </a:r>
          </a:p>
        </p:txBody>
      </p:sp>
      <p:sp>
        <p:nvSpPr>
          <p:cNvPr id="16" name="refs-title">
            <a:extLst xmlns:a="http://schemas.openxmlformats.org/drawingml/2006/main">
              <a:ext uri="{FF2B5EF4-FFF2-40B4-BE49-F238E27FC236}">
                <a16:creationId xmlns:a16="http://schemas.microsoft.com/office/drawing/2014/main" id="{74228960-DF57-41F6-B8EA-01802529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EVIDENCIA DEL CACHÉ</a:t>
            </a:r>
          </a:p>
        </p:txBody>
      </p:sp>
      <p:sp>
        <p:nvSpPr>
          <p:cNvPr id="17" name="refs">
            <a:extLst xmlns:a="http://schemas.openxmlformats.org/drawingml/2006/main">
              <a:ext uri="{FF2B5EF4-FFF2-40B4-BE49-F238E27FC236}">
                <a16:creationId xmlns:a16="http://schemas.microsoft.com/office/drawing/2014/main" id="{3CF1BE14-95B9-4B1D-98B3-A95FAD4B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0070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37415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74151"/>
                </a:solidFill>
                <a:latin typeface="Aptos"/>
                <a:ea typeface="Aptos"/>
                <a:cs typeface="Aptos"/>
              </a:rPr>
              <a:t>Julio 2026 · 4.433 jornadas-legajo Picking · 170 sin productividad Picking · 160 con otra operación medida · 94,1% de los casos sin Picking tiene otra actividad</a:t>
            </a:r>
          </a:p>
        </p:txBody>
      </p:sp>
    </p:spTree>
    <p:extLst>
      <p:ext uri="{BB962C8B-B14F-4D97-AF65-F5344CB8AC3E}">
        <p14:creationId xmlns:p14="http://schemas.microsoft.com/office/powerpoint/2010/main" val="3337678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2026-08-18T18:29:44.8910000Z</dcterms:created>
  <dcterms:modified xsi:type="dcterms:W3CDTF">2026-08-18T18:29:44.8910000Z</dcterms:modified>
</coreProperties>
</file>