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044ad8ae94ddf" /><Relationship Type="http://schemas.openxmlformats.org/officeDocument/2006/relationships/extended-properties" Target="/docProps/app.xml" Id="R3450bbf6473746ee" /><Relationship Type="http://schemas.openxmlformats.org/officeDocument/2006/relationships/officeDocument" Target="/ppt/presentation.xml" Id="Rca2a1bd1149c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6fb76c9bd4a59"/>
  </p:sldMasterIdLst>
  <p:notesMasterIdLst>
    <p:notesMasterId xmlns:r="http://schemas.openxmlformats.org/officeDocument/2006/relationships" r:id="R7fc69356e0fd4d37"/>
  </p:notesMasterIdLst>
  <p:sldIdLst>
    <p:sldId xmlns:r="http://schemas.openxmlformats.org/officeDocument/2006/relationships" id="256" r:id="R4639bee0f01e4fa1"/>
    <p:sldId xmlns:r="http://schemas.openxmlformats.org/officeDocument/2006/relationships" id="257" r:id="R56613094a0fa4e76"/>
    <p:sldId xmlns:r="http://schemas.openxmlformats.org/officeDocument/2006/relationships" id="258" r:id="Rafe0375643974f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183e119a8d49a2" /><Relationship Type="http://schemas.openxmlformats.org/officeDocument/2006/relationships/slideMaster" Target="/ppt/slideMasters/slideMaster1.xml" Id="R3546fb76c9bd4a59" /><Relationship Type="http://schemas.openxmlformats.org/officeDocument/2006/relationships/notesMaster" Target="/ppt/notesMasters/notesMaster1.xml" Id="R7fc69356e0fd4d37" /><Relationship Type="http://schemas.openxmlformats.org/officeDocument/2006/relationships/presProps" Target="/ppt/presProps.xml" Id="R5d6c674c345a4ce1" /><Relationship Type="http://schemas.openxmlformats.org/officeDocument/2006/relationships/viewProps" Target="/ppt/viewProps.xml" Id="R3e95a3dbd8a7457b" /><Relationship Type="http://schemas.openxmlformats.org/officeDocument/2006/relationships/tableStyles" Target="/ppt/tableStyles.xml" Id="R7144f782ed7f42bf" /><Relationship Type="http://schemas.openxmlformats.org/officeDocument/2006/relationships/slide" Target="/ppt/slides/slide1.xml" Id="R4639bee0f01e4fa1" /><Relationship Type="http://schemas.openxmlformats.org/officeDocument/2006/relationships/slide" Target="/ppt/slides/slide2.xml" Id="R56613094a0fa4e76" /><Relationship Type="http://schemas.openxmlformats.org/officeDocument/2006/relationships/slide" Target="/ppt/slides/slide3.xml" Id="Rafe037564397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46c3f716849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dc6774e824a8c" /><Relationship Type="http://schemas.openxmlformats.org/officeDocument/2006/relationships/notesMaster" Target="/ppt/notesMasters/notesMaster1.xml" Id="R56332a703a7b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f9053fa21346e2" /><Relationship Type="http://schemas.openxmlformats.org/officeDocument/2006/relationships/notesMaster" Target="/ppt/notesMasters/notesMaster1.xml" Id="Ref928a5e38b6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b0162147034e51" /><Relationship Type="http://schemas.openxmlformats.org/officeDocument/2006/relationships/notesMaster" Target="/ppt/notesMasters/notesMaster1.xml" Id="R6d32d05612c5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2026; 4.442 jornadas-legajo.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179 jornadas-legajo sin bultos efectivos; 145 con bultos pero sin premio individual.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2026; 4.442 jornadas-legajo.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179 jornadas-legajo sin bultos efectivos; 145 con bultos pero sin premio individual.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2026; 4.442 jornadas-legajo.</a:t>
            </a:r>
            <a:endParaRPr/>
          </a:p>
          <a:p xmlns:a="http://schemas.openxmlformats.org/drawingml/2006/main">
            <a:r>
              <a:t>- Oracle Productiv: PV_ETAPA_CAB.DISTANCIA_EN_METROS, julio 2026.</a:t>
            </a:r>
            <a:endParaRPr/>
          </a:p>
          <a:p xmlns:a="http://schemas.openxmlformats.org/drawingml/2006/main">
            <a:r>
              <a:t>- Evidencia de nómina y actividad: 179 jornadas-legajo sin bultos efectivos; 145 con bultos pero sin premio individual.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69d39082545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c83fcb899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ceac4b9d8487f" /><Relationship Type="http://schemas.openxmlformats.org/officeDocument/2006/relationships/slideLayout" Target="/ppt/slideLayouts/slideLayout1.xml" Id="Rbed53c5641a34ee0" /><Relationship Type="http://schemas.openxmlformats.org/officeDocument/2006/relationships/slideLayout" Target="/ppt/slideLayouts/slideLayout2.xml" Id="R7b3a50dd82b0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53c5641a34ee0"/>
    <p:sldLayoutId xmlns:r="http://schemas.openxmlformats.org/officeDocument/2006/relationships" id="2147483650" r:id="R7b3a50dd82b0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19649551f4137" /><Relationship Type="http://schemas.openxmlformats.org/officeDocument/2006/relationships/notesSlide" Target="/ppt/notesSlides/notesSlide1.xml" Id="Rf132e16abcab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3eef2c7b441d7" /><Relationship Type="http://schemas.openxmlformats.org/officeDocument/2006/relationships/notesSlide" Target="/ppt/notesSlides/notesSlide2.xml" Id="R147ca8f71700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f9e14a6664ff2" /><Relationship Type="http://schemas.openxmlformats.org/officeDocument/2006/relationships/notesSlide" Target="/ppt/notesSlides/notesSlide3.xml" Id="R807418a610924e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8025F1B-A545-4276-8E57-648EB91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039F9A-22E6-40F3-8BBD-8A6FA0A8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Picking | El cálculo directo queda cercano al pago actual</a:t>
            </a:r>
            <a:endParaRPr sz="2400" b="1" i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BAB0419-E40A-4EED-8569-572C0BF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D198202B-9AD4-4B93-9014-310C3EB9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D4B8C9C-3B3D-410F-8220-5064175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PAGO ACTUAL · JULIO</a:t>
            </a:r>
          </a:p>
        </p:txBody>
      </p:sp>
      <p:sp>
        <p:nvSpPr>
          <p:cNvPr id="6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C9C7385-759A-4418-BFB4-7E32D96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$48,42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Referencia liquidada de julio.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Bultos reales</a:t>
            </a:r>
          </a:p>
          <a:p xmlns:a="http://schemas.openxmlformats.org/drawingml/2006/main">
            <a:r>
              <a:t>Hora reloj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rd-label-0">
            <a:extLst xmlns:a="http://schemas.openxmlformats.org/drawingml/2006/main">
              <a:ext uri="{FF2B5EF4-FFF2-40B4-BE49-F238E27FC236}">
                <a16:creationId xmlns:a16="http://schemas.microsoft.com/office/drawing/2014/main" id="{B1AEED4E-311A-4C31-B71D-EBEBCB5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Método vigente</a:t>
            </a:r>
          </a:p>
        </p:txBody>
      </p:sp>
      <p:sp>
        <p:nvSpPr>
          <p:cNvPr id="8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18643A6B-5EF7-4DD0-8F6C-CEDD06CD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0000"/>
            </a:solidFill>
            <a:prstDash val="solid"/>
          </a:ln>
        </p:spPr>
      </p:sp>
      <p:sp>
        <p:nvSpPr>
          <p:cNvPr id="9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4AEF3F3-AB86-4604-916E-E3113EC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NUEVO DIRECTO</a:t>
            </a:r>
          </a:p>
        </p:txBody>
      </p:sp>
      <p:sp>
        <p:nvSpPr>
          <p:cNvPr id="10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E3913B7-C088-4679-B06A-834BC67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$49,01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Cálculo por bultos reales,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sin ajustes sectoriales.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Misma base horaria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B7DF2154-1B70-4115-8097-AE7929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 calibración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04C15002-5FE4-4FF7-ABD7-E654028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A436AE0-B7C2-4F11-98B9-6E7DC32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DIFERENCIA GLOBAL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D274743-90D5-4C01-A641-AD2C7EB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+$0,58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+1,2% sobre el pago actual.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Resultado global similar</a:t>
            </a:r>
          </a:p>
          <a:p xmlns:a="http://schemas.openxmlformats.org/drawingml/2006/main">
            <a:r>
              <a:t>Impacto redistribuido internamente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2DD1EE82-5918-4F13-9128-E49432F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gerencial</a:t>
            </a:r>
          </a:p>
        </p:txBody>
      </p:sp>
      <p:sp>
        <p:nvSpPr>
          <p:cNvPr id="16" name="footer-separator">
            <a:extLst xmlns:a="http://schemas.openxmlformats.org/drawingml/2006/main">
              <a:ext uri="{FF2B5EF4-FFF2-40B4-BE49-F238E27FC236}">
                <a16:creationId xmlns:a16="http://schemas.microsoft.com/office/drawing/2014/main" id="{05F6C2AD-8701-42E6-96CC-35E4526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46A6829-9E3C-40AB-A96D-304345C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339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nuevo método no cambia la unidad: paga bultos reales por hora reloj.</a:t>
            </a:r>
          </a:p>
        </p:txBody>
      </p:sp>
      <p:sp>
        <p:nvSpPr>
          <p:cNvPr id="18" name="footer2">
            <a:extLst xmlns:a="http://schemas.openxmlformats.org/drawingml/2006/main">
              <a:ext uri="{FF2B5EF4-FFF2-40B4-BE49-F238E27FC236}">
                <a16:creationId xmlns:a16="http://schemas.microsoft.com/office/drawing/2014/main" id="{114CF7A1-4B6D-4C8F-8DF7-62ACDA7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439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global es acotada; la revisión necesaria está en la distribución por sector y legajo.</a:t>
            </a:r>
          </a:p>
        </p:txBody>
      </p:sp>
      <p:sp>
        <p:nvSpPr>
          <p:cNvPr id="20" name="footer2">
            <a:extLst xmlns:a="http://schemas.openxmlformats.org/drawingml/2006/main">
              <a:ext uri="{FF2B5EF4-FFF2-40B4-BE49-F238E27FC236}">
                <a16:creationId xmlns:a16="http://schemas.microsoft.com/office/drawing/2014/main" id="{13A533C3-B0B5-F7FA-5B8E-02388E7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74151"/>
                </a:solidFill>
                <a:latin typeface="Aptos"/>
                <a:ea typeface="Aptos"/>
                <a:cs typeface="Aptos"/>
              </a:rPr>
              <a:t>Base comparada: Picking · julio 2026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17DAC678-C27F-4956-A640-6859C41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30"/>
          </a:solidFill>
          <a:ln xmlns:a="http://schemas.openxmlformats.org/drawingml/2006/main" w="0">
            <a:solidFill>
              <a:srgbClr val="0B1630"/>
            </a:solidFill>
            <a:prstDash val="solid"/>
          </a:ln>
        </p:spPr>
      </p:sp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59DE2EAD-843C-4A77-9D5C-FC0FD081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ESCENARIO PICKING · JULIO 2026</a:t>
            </a:r>
          </a:p>
        </p:txBody>
      </p:sp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9B5AB173-5C88-4A25-BC65-4BF04C4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El nuevo individual queda 25,8% por debajo del actual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FF991-3211-4D64-A104-5C30752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btitle">
            <a:extLst xmlns:a="http://schemas.openxmlformats.org/drawingml/2006/main">
              <a:ext uri="{FF2B5EF4-FFF2-40B4-BE49-F238E27FC236}">
                <a16:creationId xmlns:a16="http://schemas.microsoft.com/office/drawing/2014/main" id="{CFA41DE4-9518-4B33-8F44-8AEF22B7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8DC"/>
                </a:solidFill>
              </a:defRPr>
            </a:pPr>
            <a:r>
              <a:rPr sz="1125" b="0">
                <a:solidFill>
                  <a:srgbClr val="B9C8DC"/>
                </a:solidFill>
              </a:rPr>
              <a:t>Bultos reales · hora reloj · sin premio grupal</a:t>
            </a:r>
          </a:p>
        </p:txBody>
      </p:sp>
      <p:sp>
        <p:nvSpPr>
          <p:cNvPr id="26" name="card-PAGO ACTUAL">
            <a:extLst xmlns:a="http://schemas.openxmlformats.org/drawingml/2006/main">
              <a:ext uri="{FF2B5EF4-FFF2-40B4-BE49-F238E27FC236}">
                <a16:creationId xmlns:a16="http://schemas.microsoft.com/office/drawing/2014/main" id="{C711C1B4-E769-4386-9F8E-D58F60F1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26044-65EA-49D7-868D-C2E9AE8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GO ACTUAL-label">
            <a:extLst xmlns:a="http://schemas.openxmlformats.org/drawingml/2006/main">
              <a:ext uri="{FF2B5EF4-FFF2-40B4-BE49-F238E27FC236}">
                <a16:creationId xmlns:a16="http://schemas.microsoft.com/office/drawing/2014/main" id="{A7B57EAD-6C8A-4ADF-B125-C3F16E2B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E"/>
                </a:solidFill>
              </a:defRPr>
            </a:pPr>
            <a:r>
              <a:rPr sz="900" b="1">
                <a:solidFill>
                  <a:srgbClr val="52657E"/>
                </a:solidFill>
              </a:rPr>
              <a:t>PAGO ACTUAL</a:t>
            </a:r>
          </a:p>
        </p:txBody>
      </p:sp>
      <p:sp>
        <p:nvSpPr>
          <p:cNvPr id="29" name="PAGO ACTUAL-value">
            <a:extLst xmlns:a="http://schemas.openxmlformats.org/drawingml/2006/main">
              <a:ext uri="{FF2B5EF4-FFF2-40B4-BE49-F238E27FC236}">
                <a16:creationId xmlns:a16="http://schemas.microsoft.com/office/drawing/2014/main" id="{B536AA51-A702-4808-B25F-AB7F7AF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33"/>
                </a:solidFill>
              </a:defRPr>
            </a:pPr>
            <a:r>
              <a:rPr sz="2400" b="1">
                <a:solidFill>
                  <a:srgbClr val="142033"/>
                </a:solidFill>
              </a:rPr>
              <a:t>$50,89 M</a:t>
            </a:r>
          </a:p>
        </p:txBody>
      </p:sp>
      <p:sp>
        <p:nvSpPr>
          <p:cNvPr id="30" name="PAGO ACTUAL-detail">
            <a:extLst xmlns:a="http://schemas.openxmlformats.org/drawingml/2006/main">
              <a:ext uri="{FF2B5EF4-FFF2-40B4-BE49-F238E27FC236}">
                <a16:creationId xmlns:a16="http://schemas.microsoft.com/office/drawing/2014/main" id="{7851DA1C-A5A4-47FF-B8D8-93A2DF02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Monto liquidado en julio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Base de comparación</a:t>
            </a:r>
          </a:p>
        </p:txBody>
      </p:sp>
      <p:sp>
        <p:nvSpPr>
          <p:cNvPr id="31" name="card-NUEVO DIRECTO">
            <a:extLst xmlns:a="http://schemas.openxmlformats.org/drawingml/2006/main">
              <a:ext uri="{FF2B5EF4-FFF2-40B4-BE49-F238E27FC236}">
                <a16:creationId xmlns:a16="http://schemas.microsoft.com/office/drawing/2014/main" id="{BC099DF9-92EB-42E8-A852-63D5D7C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53D72"/>
          </a:solidFill>
          <a:ln xmlns:a="http://schemas.openxmlformats.org/drawingml/2006/main" w="9525">
            <a:solidFill>
              <a:srgbClr val="153D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0FB38-A326-41BA-BDB4-F5D1227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UEVO DIRECTO-label">
            <a:extLst xmlns:a="http://schemas.openxmlformats.org/drawingml/2006/main">
              <a:ext uri="{FF2B5EF4-FFF2-40B4-BE49-F238E27FC236}">
                <a16:creationId xmlns:a16="http://schemas.microsoft.com/office/drawing/2014/main" id="{5E573503-E63C-43A7-8C97-533A7B7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D8EA"/>
                </a:solidFill>
              </a:defRPr>
            </a:pPr>
            <a:r>
              <a:rPr sz="900" b="1">
                <a:solidFill>
                  <a:srgbClr val="C9D8EA"/>
                </a:solidFill>
              </a:rPr>
              <a:t>NUEVO DIRECTO</a:t>
            </a:r>
          </a:p>
        </p:txBody>
      </p:sp>
      <p:sp>
        <p:nvSpPr>
          <p:cNvPr id="34" name="NUEVO DIRECTO-value">
            <a:extLst xmlns:a="http://schemas.openxmlformats.org/drawingml/2006/main">
              <a:ext uri="{FF2B5EF4-FFF2-40B4-BE49-F238E27FC236}">
                <a16:creationId xmlns:a16="http://schemas.microsoft.com/office/drawing/2014/main" id="{5D86E75B-72B8-4D8D-B44C-0508C69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$37,77 M</a:t>
            </a:r>
          </a:p>
        </p:txBody>
      </p:sp>
      <p:sp>
        <p:nvSpPr>
          <p:cNvPr id="35" name="NUEVO DIRECTO-detail">
            <a:extLst xmlns:a="http://schemas.openxmlformats.org/drawingml/2006/main">
              <a:ext uri="{FF2B5EF4-FFF2-40B4-BE49-F238E27FC236}">
                <a16:creationId xmlns:a16="http://schemas.microsoft.com/office/drawing/2014/main" id="{05C384F8-F8A5-440C-891B-3206B23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7F3"/>
                </a:solidFill>
              </a:defRPr>
            </a:pPr>
            <a:r>
              <a:rPr sz="1050" b="0">
                <a:solidFill>
                  <a:srgbClr val="DCE7F3"/>
                </a:solidFill>
              </a:rPr>
              <a:t>Cálculo directo por bultos</a:t>
            </a:r>
          </a:p>
          <a:p xmlns:a="http://schemas.openxmlformats.org/drawingml/2006/main">
            <a:pPr>
              <a:defRPr sz="1050" b="0">
                <a:solidFill>
                  <a:srgbClr val="DCE7F3"/>
                </a:solidFill>
              </a:defRPr>
            </a:pPr>
            <a:r>
              <a:rPr sz="1050" b="0">
                <a:solidFill>
                  <a:srgbClr val="DCE7F3"/>
                </a:solidFill>
              </a:rPr>
              <a:t>Sin calibración sectorial</a:t>
            </a:r>
          </a:p>
        </p:txBody>
      </p:sp>
      <p:sp>
        <p:nvSpPr>
          <p:cNvPr id="36" name="card-DIFERENCIA">
            <a:extLst xmlns:a="http://schemas.openxmlformats.org/drawingml/2006/main">
              <a:ext uri="{FF2B5EF4-FFF2-40B4-BE49-F238E27FC236}">
                <a16:creationId xmlns:a16="http://schemas.microsoft.com/office/drawing/2014/main" id="{8D422ECB-91D5-4E7A-BBDD-EA8E77A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7747BD-0534-418D-9819-492E9FC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IFERENCIA-label">
            <a:extLst xmlns:a="http://schemas.openxmlformats.org/drawingml/2006/main">
              <a:ext uri="{FF2B5EF4-FFF2-40B4-BE49-F238E27FC236}">
                <a16:creationId xmlns:a16="http://schemas.microsoft.com/office/drawing/2014/main" id="{AD91B939-DA6F-4A0E-9989-0998AA9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E"/>
                </a:solidFill>
              </a:defRPr>
            </a:pPr>
            <a:r>
              <a:rPr sz="900" b="1">
                <a:solidFill>
                  <a:srgbClr val="52657E"/>
                </a:solidFill>
              </a:rPr>
              <a:t>DIFERENCIA</a:t>
            </a:r>
          </a:p>
        </p:txBody>
      </p:sp>
      <p:sp>
        <p:nvSpPr>
          <p:cNvPr id="39" name="DIFERENCIA-value">
            <a:extLst xmlns:a="http://schemas.openxmlformats.org/drawingml/2006/main">
              <a:ext uri="{FF2B5EF4-FFF2-40B4-BE49-F238E27FC236}">
                <a16:creationId xmlns:a16="http://schemas.microsoft.com/office/drawing/2014/main" id="{C26AECCA-C4E9-46B9-8092-2E64546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33"/>
                </a:solidFill>
              </a:defRPr>
            </a:pPr>
            <a:r>
              <a:rPr sz="2400" b="1">
                <a:solidFill>
                  <a:srgbClr val="142033"/>
                </a:solidFill>
              </a:rPr>
              <a:t>-$13,12 M</a:t>
            </a:r>
          </a:p>
        </p:txBody>
      </p:sp>
      <p:sp>
        <p:nvSpPr>
          <p:cNvPr id="40" name="DIFERENCIA-detail">
            <a:extLst xmlns:a="http://schemas.openxmlformats.org/drawingml/2006/main">
              <a:ext uri="{FF2B5EF4-FFF2-40B4-BE49-F238E27FC236}">
                <a16:creationId xmlns:a16="http://schemas.microsoft.com/office/drawing/2014/main" id="{62176A9E-ACD3-4C9D-9CBF-79E3AD4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-25,8% frente al pago actual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Sin premio grupal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9D3D2F-0AC5-494E-85CE-D6AEF07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168771-FC42-44EC-9A82-D86DD44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LECTURA GERENCIAL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72E395-521E-4017-9731-31847AC6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 brecha individual es de $13,12 M antes de cualquier premio grupal.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776459-20DA-4A30-A83F-A4F99F3A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C"/>
                </a:solidFill>
              </a:defRPr>
            </a:pPr>
            <a:r>
              <a:rPr sz="1050" b="0">
                <a:solidFill>
                  <a:srgbClr val="B9C8DC"/>
                </a:solidFill>
              </a:rPr>
              <a:t>La unidad de pago se mantiene: producción efectiva registrada y horas reloj.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BFD829-7C04-4F42-A48C-CDDBFE93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34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DA3BE"/>
                </a:solidFill>
              </a:defRPr>
            </a:pPr>
            <a:r>
              <a:rPr sz="750" b="0">
                <a:solidFill>
                  <a:srgbClr val="8DA3BE"/>
                </a:solidFill>
              </a:rPr>
              <a:t>Fuente: caché de productividad · Picking · julio 2026</a:t>
            </a: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B759442-4E6C-4659-AD8D-A2A8FFC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CA2989-D30A-42BA-B364-61557B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Cinco sectores requieren una calibración específica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29E5B7F-8153-4CCD-BF81-948BEC1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2CE3807A-EC70-4995-BCB1-6B2688C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525405D9-230D-4BB2-9273-EC2BC8C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SECTORES PROPUESTOS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FBB664F7-C56E-4FB3-BB94-9D67897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B1 · AM · PI · N1 · VA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F626CDB0-08D0-4F00-8DDD-46F26BD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Incremento propuesto: +30% en la escala monetaria del sector. No modifica los bultos registrados ni crea equivalencias.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24FBB201-54EE-47B1-9D7B-F84A8F1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OPERATIVA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F4B6162-1E83-413B-9253-251CAC9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428,9 m por etapa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215,9 m en el resto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406FE951-F1DD-4A34-B9A7-B182FF6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recorrido medio por etapa es 98,6% superior. La operación exige más desplazamiento para producir una unidad efectiva.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4A2DB39-3487-43E3-885C-26E6E2E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IMPACTO OBSERVADO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923903A9-A757-4B5A-8C1F-7A70B7CE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16,23 m por bulto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14,35 m en el resto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034DFD5C-C10C-4265-99A0-AD649F5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es 13,1% en metros por bulto. El ajuste calibra el valor monetario sin convertir metros en bultos.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E0A4B526-221E-4784-B1A4-AF6B4F5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BFE7C99B-603F-471B-BD6D-F094DFE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Propuesta: mantener bultos reales y hora reloj; ajustar la escala solo donde la evidencia muestra una exigencia de recorrido superior.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4765D811-12E2-449D-B9F4-710C50B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DE MEDICIÓN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E437DA44-58BD-44E1-B679-C15DA28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PV_ETAPA_CAB.DISTANCIA_EN_METROS · Picking · 72.052 etapas en los cinco sectores / 131.807 en el resto</a:t>
            </a:r>
          </a:p>
        </p:txBody>
      </p:sp>
      <p:sp>
        <p:nvSpPr>
          <p:cNvPr id="19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DDD72AFC-49FC-48D2-93D5-83F9393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84911257-4014-4485-94E9-39B5873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CALIBRACIÓN PROPUESTA</a:t>
            </a:r>
          </a:p>
        </p:txBody>
      </p: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1E4CA4DC-A6B6-491B-B51A-84B76FD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033"/>
                </a:solidFill>
              </a:defRPr>
            </a:pPr>
            <a:r>
              <a:rPr sz="2325" b="1">
                <a:solidFill>
                  <a:srgbClr val="142033"/>
                </a:solidFill>
              </a:rPr>
              <a:t>El ajuste del 30% reduce la brecha, pero no la elimina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ED323-B43F-4DAB-92C2-4E761B86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btitle">
            <a:extLst xmlns:a="http://schemas.openxmlformats.org/drawingml/2006/main">
              <a:ext uri="{FF2B5EF4-FFF2-40B4-BE49-F238E27FC236}">
                <a16:creationId xmlns:a16="http://schemas.microsoft.com/office/drawing/2014/main" id="{A6271CC1-CD0F-4C23-A45D-4AB7950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7E"/>
                </a:solidFill>
              </a:defRPr>
            </a:pPr>
            <a:r>
              <a:rPr sz="1125" b="0">
                <a:solidFill>
                  <a:srgbClr val="52657E"/>
                </a:solidFill>
              </a:rPr>
              <a:t>La evidencia muestra mayor recorrido operativo por unidad real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83169-CE67-438F-A23D-250E462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153D72"/>
          </a:solidFill>
          <a:ln xmlns:a="http://schemas.openxmlformats.org/drawingml/2006/main" w="0">
            <a:solidFill>
              <a:srgbClr val="153D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E58B2-9C27-47AE-92B6-FA814120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C5E4"/>
                </a:solidFill>
              </a:defRPr>
            </a:pPr>
            <a:r>
              <a:rPr sz="900" b="1">
                <a:solidFill>
                  <a:srgbClr val="A9C5E4"/>
                </a:solidFill>
              </a:rPr>
              <a:t>SECTORES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E7921-AD56-45FF-B0D2-3F3E9DA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B1 · Bebidas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AM · Alimentos mascotas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 · Electrodomésticos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N1 · Insumo a sucursales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VA · Varios No Alimentos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5E6BC-43BE-41E4-B2DC-922E6BE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986AD-DB42-4A80-B6D5-86A63A01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+30% escala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8D2B6-239E-4806-B9EA-FAD718B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E6F3"/>
                </a:solidFill>
              </a:defRPr>
            </a:pPr>
            <a:r>
              <a:rPr sz="1125" b="0">
                <a:solidFill>
                  <a:srgbClr val="D8E6F3"/>
                </a:solidFill>
              </a:rPr>
              <a:t>Propuesta de calibración</a:t>
            </a:r>
          </a:p>
          <a:p xmlns:a="http://schemas.openxmlformats.org/drawingml/2006/main">
            <a:pPr>
              <a:defRPr sz="1125" b="0">
                <a:solidFill>
                  <a:srgbClr val="D8E6F3"/>
                </a:solidFill>
              </a:defRPr>
            </a:pPr>
            <a:r>
              <a:rPr sz="1125" b="0">
                <a:solidFill>
                  <a:srgbClr val="D8E6F3"/>
                </a:solidFill>
              </a:rPr>
              <a:t>sobre el valor monetario del premio.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BE58B-83A5-4600-9309-240BD19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2A33A"/>
                </a:solidFill>
              </a:defRPr>
            </a:pPr>
            <a:r>
              <a:rPr sz="900" b="1">
                <a:solidFill>
                  <a:srgbClr val="F2A33A"/>
                </a:solidFill>
              </a:rPr>
              <a:t>No convierte metros en bultos.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F8B16-E951-4F74-8277-88BFADF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72580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D6CB45-6D07-4FC2-8AB2-2692EA4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¿Qué se midió?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CD381-1C49-4654-9080-561D28C5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Promedio de recorrido por unidad efectiva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5AEB9-EE10-4528-A227-328136AC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Cinco sectores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33FF9D-163D-4DE3-91DF-26417C0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5F732-0A89-48DB-9285-2D6F863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A513C-A18E-4594-BF88-DBA1479E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428,9 m / etapa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A07CEB-094D-4D64-AB26-B86262D8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Resto de sectores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7A7FA4-EC6C-40A9-9C8A-48A6148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5FF86F-40C6-498E-9E56-5FBF6E0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1917881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B8C6CD-0875-4BBE-98A2-7520F51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8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215,9 m / etapa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6727E6-145D-4B08-9DE5-3F75F778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7EFDF2-9F27-4929-8D54-754EC81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37A"/>
                </a:solidFill>
              </a:defRPr>
            </a:pPr>
            <a:r>
              <a:rPr sz="1200" b="1">
                <a:solidFill>
                  <a:srgbClr val="00A37A"/>
                </a:solidFill>
              </a:rPr>
              <a:t>98,6% más metros por etapa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CCEAB-8C2B-4E03-BF7C-C589643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16,23 m/bulto vs 14,35 m/bulto en el resto (+13,1%)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CA0AAB-9625-41C0-9AE5-11EE4E0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0D5"/>
          </a:solidFill>
          <a:ln xmlns:a="http://schemas.openxmlformats.org/drawingml/2006/main" w="0">
            <a:solidFill>
              <a:srgbClr val="FFF0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541907-5103-494E-8E23-4E5067D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A33A"/>
                </a:solidFill>
              </a:defRPr>
            </a:pPr>
            <a:r>
              <a:rPr sz="975" b="1">
                <a:solidFill>
                  <a:srgbClr val="F2A33A"/>
                </a:solidFill>
              </a:rPr>
              <a:t>Criterio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6D44D7-B350-4A81-8EBB-A98134A3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033"/>
                </a:solidFill>
              </a:defRPr>
            </a:pPr>
            <a:r>
              <a:rPr sz="1125" b="1">
                <a:solidFill>
                  <a:srgbClr val="142033"/>
                </a:solidFill>
              </a:rPr>
              <a:t>Mantener bultos reales y hora reloj; calibrar el premio donde el recorrido operativo medido sea sistemáticamente superior.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B1E9A8-7ADE-4F13-AEE5-7CF2D49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Resultado: $37,77 M directo · $45,03 M con ajuste · $50,89 M actual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1A5217-5A05-476F-9497-38C0B0D1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0">
                <a:solidFill>
                  <a:srgbClr val="52657E"/>
                </a:solidFill>
              </a:defRPr>
            </a:pPr>
            <a:r>
              <a:rPr sz="713" b="0">
                <a:solidFill>
                  <a:srgbClr val="52657E"/>
                </a:solidFill>
              </a:rPr>
              <a:t>Fuente: PV_ETAPA_CAB.DISTANCIA_EN_METROS · julio 2026 · 72.052 etapas en los cinco sectores / 131.807 en el resto</a:t>
            </a: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DA909B0-2B54-4C36-A5F2-34FE415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CONDICIÓN DE IMPLEMENTACIÓN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2E9C58-F4BD-4A2A-8FC2-9B7417A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premio grupal requiere alinear nómina y actividad real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CE0F20-5132-4AA6-B7A7-BA8F242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A0C1A63C-333A-47B3-92C7-7767FB4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E329D114-CA9E-4411-A4B4-DC317F9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NÓMINA TEÓRICA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9531DFDD-5A4C-49F0-B7CA-5EE1502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≈143 legajos / día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3FFE02D5-6869-447F-B150-8FBDDE6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Promedio de legajos-jornada asignados a Picking en julio. Esta nómina alimenta el denominador del objetivo grupal.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53044816-8376-4C93-BC6C-084818B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ACTIVIDAD REAL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8FD124F-5A71-483D-BCA5-15924A5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5–6 legajos / día sin bultos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71EAF7E7-59E4-44DC-B4F0-3EA9BAB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3,6% de las jornadas-legajo no registra bultos de Picking y sí registra otra actividad productiva medida.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859CC25-5AB7-4309-92A9-14F585F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EFECTO SOBRE EL GRUPO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D04BDAB2-6494-4550-A655-F5AF752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Denominador alto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Numerador incompleto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B5A019BC-1A80-44EB-A74E-CF6AB43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persona permanece en la nómina de Picking, pero no suma bultos allí. El cumplimiento grupal queda subestimado y el premio no se activa.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02018029-E1C0-42E1-A01D-B56F3701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4106AE25-2B1B-4A60-9AEF-6730DA0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Conclusión: el premio grupal es viable cuando la nómina activa refleje la tarea efectivamente realizada por cada legajo.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74228960-DF57-41F6-B8EA-0180252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DEL CACHÉ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3CF1BE14-95B9-4B1D-98B3-A95FAD4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4.433 jornadas-legajo Picking · 170 sin productividad Picking · 160 con otra operación medida · 94,1% de los casos sin Picking tiene otra actividad</a:t>
            </a:r>
          </a:p>
        </p:txBody>
      </p:sp>
      <p:sp>
        <p:nvSpPr>
          <p:cNvPr id="19" name="visual-cover">
            <a:extLst xmlns:a="http://schemas.openxmlformats.org/drawingml/2006/main">
              <a:ext uri="{FF2B5EF4-FFF2-40B4-BE49-F238E27FC236}">
                <a16:creationId xmlns:a16="http://schemas.microsoft.com/office/drawing/2014/main" id="{90C276A3-F4AF-49B8-B505-FDB3DDB7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2E0ADD3F-CACE-4135-8DC1-787D38B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37A"/>
                </a:solidFill>
              </a:defRPr>
            </a:pPr>
            <a:r>
              <a:rPr sz="825" b="1">
                <a:solidFill>
                  <a:srgbClr val="00A37A"/>
                </a:solidFill>
              </a:rPr>
              <a:t>PREMIO GRUPAL</a:t>
            </a:r>
          </a:p>
        </p:txBody>
      </p: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D282AEC3-4DBE-481A-9AC4-7786041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033"/>
                </a:solidFill>
              </a:defRPr>
            </a:pPr>
            <a:r>
              <a:rPr sz="2325" b="1">
                <a:solidFill>
                  <a:srgbClr val="142033"/>
                </a:solidFill>
              </a:rPr>
              <a:t>El premio se pierde por dos causas distintas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83FCE-F665-47A2-BAEF-23E7CEFB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btitle">
            <a:extLst xmlns:a="http://schemas.openxmlformats.org/drawingml/2006/main">
              <a:ext uri="{FF2B5EF4-FFF2-40B4-BE49-F238E27FC236}">
                <a16:creationId xmlns:a16="http://schemas.microsoft.com/office/drawing/2014/main" id="{5ACC3B40-C779-406F-844F-8244F289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7E"/>
                </a:solidFill>
              </a:defRPr>
            </a:pPr>
            <a:r>
              <a:rPr sz="1125" b="0">
                <a:solidFill>
                  <a:srgbClr val="52657E"/>
                </a:solidFill>
              </a:rPr>
              <a:t>La nómina teórica no coincide con la actividad que alcanza premio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C1D47-452D-4B1D-BBC2-5D998CC7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AD34C-5C79-4402-BCCC-E05ECEE2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BEB16-9446-4F5D-B88C-5FDC8E9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532E8-0908-4AFE-AB66-196045B1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NÓMINA TEÓRICA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285C6-A859-447D-A397-4F9F215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033"/>
                </a:solidFill>
              </a:defRPr>
            </a:pPr>
            <a:r>
              <a:rPr sz="2025" b="1">
                <a:solidFill>
                  <a:srgbClr val="142033"/>
                </a:solidFill>
              </a:rPr>
              <a:t>≈143 / día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52DF5-1799-43BA-874D-AAF14481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Legajos asignados a Picking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que alimentan el denominador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del objetivo grupal.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05D9D-8B08-4C43-ACCE-F349F33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07C25-D212-48C1-9DE6-B11B03DB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AC681-9AED-4FF5-8199-B64ABE5C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00B6E-2009-4826-B7C5-1C735FD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SIN BULTOS EFECTIVOS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C39858-E805-4A4B-9AD8-99E64389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033"/>
                </a:solidFill>
              </a:defRPr>
            </a:pPr>
            <a:r>
              <a:rPr sz="2025" b="1">
                <a:solidFill>
                  <a:srgbClr val="142033"/>
                </a:solidFill>
              </a:rPr>
              <a:t>5–6 / día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ABC86-FF72-4048-B70A-44881AC6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179 jornadas-legajo · 4,0%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No aportan bultos de Picking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al numerador.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62DF1-2E70-4975-8325-D88583B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FFF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EF84A-9ECF-46ED-A27F-DD14D6A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F61C4F-3348-4696-A436-4A0E65FF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90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A117CF-9A07-422B-9CF5-7D4EA95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57E"/>
                </a:solidFill>
              </a:defRPr>
            </a:pPr>
            <a:r>
              <a:rPr sz="975" b="1">
                <a:solidFill>
                  <a:srgbClr val="52657E"/>
                </a:solidFill>
              </a:rPr>
              <a:t>BULTOS SIN PREMIO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119497-AA63-4DDC-9007-344AADA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444E"/>
                </a:solidFill>
              </a:defRPr>
            </a:pPr>
            <a:r>
              <a:rPr sz="2025" b="1">
                <a:solidFill>
                  <a:srgbClr val="C9444E"/>
                </a:solidFill>
              </a:rPr>
              <a:t>4–5 / día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B341D3-3AB6-4337-B9FD-65EBB088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145 jornadas-legajo · 3,3%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Sí tienen bultos, pero no</a:t>
            </a:r>
          </a:p>
          <a:p xmlns:a="http://schemas.openxmlformats.org/drawingml/2006/main">
            <a:pPr>
              <a:defRPr sz="1050" b="0">
                <a:solidFill>
                  <a:srgbClr val="52657E"/>
                </a:solidFill>
              </a:defRPr>
            </a:pPr>
            <a:r>
              <a:rPr sz="1050" b="0">
                <a:solidFill>
                  <a:srgbClr val="52657E"/>
                </a:solidFill>
              </a:rPr>
              <a:t>alcanzan el mínimo individual.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EDED0C-852F-45EF-9EEC-1C6BA93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37A"/>
                </a:solidFill>
              </a:defRPr>
            </a:pPr>
            <a:r>
              <a:rPr sz="2250" b="1">
                <a:solidFill>
                  <a:srgbClr val="00A37A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BE30DA-2F7E-4E81-99DB-80A9AF00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37A"/>
                </a:solidFill>
              </a:defRPr>
            </a:pPr>
            <a:r>
              <a:rPr sz="2250" b="1">
                <a:solidFill>
                  <a:srgbClr val="00A37A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24D046-0E27-45FD-B4C3-E397610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0">
            <a:solidFill>
              <a:srgbClr val="0B163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DE890-3198-4251-88B5-23E8DE2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EVIDENCIA JULIO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30E70B-E185-4628-ABCF-739FEFA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9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7,3%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8A1D77-3067-47A9-BE36-33949F6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959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7F3"/>
                </a:solidFill>
              </a:defRPr>
            </a:pPr>
            <a:r>
              <a:rPr sz="1125" b="0">
                <a:solidFill>
                  <a:srgbClr val="DCE7F3"/>
                </a:solidFill>
              </a:rPr>
              <a:t>de las jornadas-legajo no obtiene premio individual (≈10–11 por día)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0D8780-554F-4259-BB19-2E3EBA1A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37A"/>
                </a:solidFill>
              </a:defRPr>
            </a:pPr>
            <a:r>
              <a:rPr sz="900" b="1">
                <a:solidFill>
                  <a:srgbClr val="00A37A"/>
                </a:solidFill>
              </a:rPr>
              <a:t>Conclusión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DD7A79-6E0E-408D-8CE0-5BC05D19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484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033"/>
                </a:solidFill>
              </a:defRPr>
            </a:pPr>
            <a:r>
              <a:rPr sz="1125" b="1">
                <a:solidFill>
                  <a:srgbClr val="142033"/>
                </a:solidFill>
              </a:rPr>
              <a:t>El umbral exige 90% de cumplidores: si una división/día supera 10% sin premio, el adicional no se habilita.</a:t>
            </a: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2026-08-19T12:55:32.6740000Z</dcterms:created>
  <dcterms:modified xsi:type="dcterms:W3CDTF">2026-08-19T12:55:32.6740000Z</dcterms:modified>
</coreProperties>
</file>