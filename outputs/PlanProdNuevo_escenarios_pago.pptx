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495A7-E556-4725-A5D0-2626AEF59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12EF8-57DD-4D6C-AD0F-3E109A178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FD1CB-0103-4FB6-BFD7-E36FC9C9E4D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7F36B1-C137-4377-8B01-32298E3B379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392A95-21BD-463A-A210-C52F704CBF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9902E-291C-4F14-AD5B-113A2137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2C537-1DCC-4025-A2BD-000B7192E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6BB0BE-5BC4-47B3-A52E-696D8719F47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5CD51B-977A-41E5-930F-0FC547A88CD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30D395-CF2C-4020-BDCB-6189BA4344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514BC-14BF-4547-85E0-01399695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92E15F-C226-49E6-A121-3828E9A3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947FE4-690E-4676-9858-E050E539302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CF6BB9-B9E2-4E1D-8097-C7088DD9983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0D1F2C-3874-45D1-AEE3-7E6B68ACF3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0F459-49DC-4D5F-ADE1-21782EEC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1272E7-10CC-48D7-BEEB-5A7B8C50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FBAA5A-753F-4C17-9585-D4037F80421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1CA826-54D0-4897-B0E3-E930B33E067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4093B6-CFAC-4363-BF56-65FF425335C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8E529A-3A0A-4276-9CCF-0FE8E2D039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2C2EC-75C8-4AF8-813F-8631B51E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19C456-A615-4B1C-9A19-D0F2881C9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914D25-6D6A-4292-A397-BB4E85C4DAD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D5A284-5515-4364-AF9E-92047298046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36750-D52E-4FE5-81D6-6BBD66DC943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C1C488-CB38-40FD-BE56-B133BD54B65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97D4915-41A7-4877-AD6C-9460334FBE6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9A9CE1-F32D-400B-A17D-756270A410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47E2C-7C2E-4E27-9FC8-1EB9302B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2194C0-2D46-485E-AE7D-2CC1DEF8C45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301491-0E38-412E-9DA7-B3AF26B05E6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B5C7BD-7F9B-4522-99D5-F39F00FDDE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681A6E-F58E-45DD-9E91-5A98038E1CC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B11772-51E3-437F-B23E-6E6F99D746F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5B79A2-E397-45A9-89EF-0BB01007A4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FCA04-D57E-4D80-BBE2-46606CD3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D4D9E-9D0F-49E4-923E-5752876E0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F25D06-1A13-40E6-8A2C-025CD2062F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2A7DCE-7FDC-4F63-8773-99B305AA0D6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3E8790-1E9D-434C-A80A-37697FA5E97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2D8013-10D1-4558-8586-8E2436C62D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DA916-A303-4DAC-93F0-CE8F5D02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28C13F-A38E-4398-AC6C-E0C7D99F3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C681D5-FEAC-44A2-A3C7-B162873F2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3BDD32-C3A0-4AD2-BD53-9327ABBC453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8CF8EB-B8A1-4B97-866F-B84DD83E561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F346BE-F152-4B71-A901-8127532A3B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4881B-28B6-479D-A04A-DB400166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7F40FC-7FDB-4517-9D8A-500D06072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2BA2A-50B5-4D4B-BB8F-810C24B5EFD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A8022-AD3C-418D-976E-BEB3E4772A0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27073-3C44-496C-929B-2DE91FB329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4BAD80-9C01-4C96-A851-F81ABD3F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5A3EBF-3EC9-4DB1-B8C5-F3380790B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Editar los estilos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4B1393-0858-4051-8D83-BCFB361A7B8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780F35-FA06-41C3-B30C-99DD71822D63}" type="datetimeFigureOut">
              <a:t>3/7/2026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CFF055-C819-4529-A72F-6BA1CE6C64E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DF7A7E-0AAF-4CEA-A245-69F18C4A75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7B80B-5828-418A-A1BE-4CCFAC1B5D6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1"/>
          <p:cNvPicPr>
            <a:picLocks noChangeAspect="1"/>
          </p:cNvPicPr>
          <p:nvPr/>
        </p:nvPicPr>
        <p:blipFill rotWithShape="1">
          <a:blip r:embed="rId3"/>
          <a:srcRect t="23891" b="7449"/>
          <a:stretch/>
        </p:blipFill>
        <p:spPr>
          <a:xfrm>
            <a:off x="220814" y="181835"/>
            <a:ext cx="11750371" cy="449421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541432E-B70C-4EBF-91A1-98537EBAC84A}"/>
              </a:ext>
            </a:extLst>
          </p:cNvPr>
          <p:cNvSpPr>
            <a:spLocks noGrp="1"/>
          </p:cNvSpPr>
          <p:nvPr/>
        </p:nvSpPr>
        <p:spPr>
          <a:xfrm>
            <a:off x="99158" y="4044462"/>
            <a:ext cx="12092842" cy="631584"/>
          </a:xfrm>
          <a:prstGeom prst="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2EF5860-AE36-47DE-850E-38C45FF4078F}"/>
              </a:ext>
            </a:extLst>
          </p:cNvPr>
          <p:cNvSpPr>
            <a:spLocks noGrp="1"/>
          </p:cNvSpPr>
          <p:nvPr/>
        </p:nvSpPr>
        <p:spPr>
          <a:xfrm>
            <a:off x="445476" y="8792308"/>
            <a:ext cx="4149971" cy="1244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D09393-8BD9-4501-BA91-C88C74B28064}"/>
              </a:ext>
            </a:extLst>
          </p:cNvPr>
          <p:cNvSpPr>
            <a:spLocks noGrp="1"/>
          </p:cNvSpPr>
          <p:nvPr/>
        </p:nvSpPr>
        <p:spPr>
          <a:xfrm>
            <a:off x="527536" y="5236459"/>
            <a:ext cx="7729773" cy="92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None/>
            </a:pPr>
            <a:r>
              <a:rPr sz="3200">
                <a:solidFill>
                  <a:srgbClr val="004F9F"/>
                </a:solidFill>
              </a:rPr>
              <a:t>Pago por horas y componente grupal como herramientas de gestión del CD</a:t>
            </a:r>
          </a:p>
        </p:txBody>
      </p:sp>
      <p:pic>
        <p:nvPicPr>
          <p:cNvPr id="20" name="Imagen 2"/>
          <p:cNvPicPr>
            <a:picLocks noChangeAspect="1"/>
          </p:cNvPicPr>
          <p:nvPr/>
        </p:nvPicPr>
        <p:blipFill rotWithShape="1">
          <a:blip r:embed="rId4"/>
          <a:srcRect l="16027" t="24695" r="15395" b="29386"/>
          <a:stretch/>
        </p:blipFill>
        <p:spPr>
          <a:xfrm>
            <a:off x="10067635" y="5754550"/>
            <a:ext cx="1810329" cy="55708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24D277C-1688-414F-AC57-D75C5B5FFB3C}"/>
              </a:ext>
            </a:extLst>
          </p:cNvPr>
          <p:cNvSpPr>
            <a:spLocks noGrp="1"/>
          </p:cNvSpPr>
          <p:nvPr/>
        </p:nvSpPr>
        <p:spPr>
          <a:xfrm>
            <a:off x="220814" y="3653143"/>
            <a:ext cx="166255" cy="738276"/>
          </a:xfrm>
          <a:prstGeom prst="rect">
            <a:avLst/>
          </a:prstGeom>
          <a:solidFill>
            <a:srgbClr val="52A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E262E7-4E5C-4A4B-986E-6A9B55AB1711}"/>
              </a:ext>
            </a:extLst>
          </p:cNvPr>
          <p:cNvSpPr>
            <a:spLocks noGrp="1"/>
          </p:cNvSpPr>
          <p:nvPr/>
        </p:nvSpPr>
        <p:spPr>
          <a:xfrm>
            <a:off x="323819" y="3653143"/>
            <a:ext cx="8705881" cy="738276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E591001-1FCA-46BE-BC20-AF3806056760}"/>
              </a:ext>
            </a:extLst>
          </p:cNvPr>
          <p:cNvSpPr>
            <a:spLocks noGrp="1"/>
          </p:cNvSpPr>
          <p:nvPr/>
        </p:nvSpPr>
        <p:spPr>
          <a:xfrm>
            <a:off x="445476" y="3783749"/>
            <a:ext cx="9073025" cy="52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Escenarios de premio de productividad</a:t>
            </a:r>
          </a:p>
        </p:txBody>
      </p:sp>
    </p:spTree>
    <p:extLst>
      <p:ext uri="{BB962C8B-B14F-4D97-AF65-F5344CB8AC3E}">
        <p14:creationId xmlns:p14="http://schemas.microsoft.com/office/powerpoint/2010/main" val="2008341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áfico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10" y="700646"/>
            <a:ext cx="11984854" cy="80796"/>
          </a:xfrm>
          <a:prstGeom prst="rect">
            <a:avLst/>
          </a:prstGeom>
        </p:spPr>
      </p:pic>
      <p:pic>
        <p:nvPicPr>
          <p:cNvPr id="35" name="Gráfico 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10" y="76874"/>
            <a:ext cx="11984854" cy="621438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noGrp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noGrp="1"/>
          </p:cNvSpPr>
          <p:nvPr/>
        </p:nvSpPr>
        <p:spPr>
          <a:xfrm>
            <a:off x="115410" y="176887"/>
            <a:ext cx="9073025" cy="52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por horas: medición precisa de productividad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noGrp="1"/>
          </p:cNvSpPr>
          <p:nvPr/>
        </p:nvSpPr>
        <p:spPr>
          <a:xfrm>
            <a:off x="115410" y="779867"/>
            <a:ext cx="11961180" cy="875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endParaRPr/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7"/>
          <a:srcRect t="5718" b="5718"/>
          <a:stretch>
            <a:fillRect/>
          </a:stretch>
        </p:blipFill>
        <p:spPr>
          <a:xfrm>
            <a:off x="0" y="781050"/>
            <a:ext cx="12192000" cy="6076950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18BED3F2-8C33-4D2C-B57D-0D74F47E339D}"/>
              </a:ext>
            </a:extLst>
          </p:cNvPr>
          <p:cNvSpPr>
            <a:spLocks noGrp="1"/>
          </p:cNvSpPr>
          <p:nvPr/>
        </p:nvSpPr>
        <p:spPr>
          <a:xfrm>
            <a:off x="209550" y="933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781ED5F-6ACE-4987-8367-EFA4906365B7}"/>
              </a:ext>
            </a:extLst>
          </p:cNvPr>
          <p:cNvSpPr>
            <a:spLocks noGrp="1"/>
          </p:cNvSpPr>
          <p:nvPr/>
        </p:nvSpPr>
        <p:spPr>
          <a:xfrm>
            <a:off x="209550" y="1352550"/>
            <a:ext cx="9906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Evalúa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contra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tiempo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mérito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más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sostenida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mejor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reconocimiento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comparar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sectores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común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trazabilidad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auditar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detectar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desvíos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Beneficio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CD: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convierte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gestionar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eficiencia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estándares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ritmo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811896B-A2F8-4841-B415-CBEDC04E7D78}"/>
              </a:ext>
            </a:extLst>
          </p:cNvPr>
          <p:cNvSpPr>
            <a:spLocks noGrp="1"/>
          </p:cNvSpPr>
          <p:nvPr/>
        </p:nvSpPr>
        <p:spPr>
          <a:xfrm>
            <a:off x="381000" y="6096000"/>
            <a:ext cx="7239000" cy="38100"/>
          </a:xfrm>
          <a:prstGeom prst="rect">
            <a:avLst/>
          </a:prstGeom>
          <a:solidFill>
            <a:srgbClr val="70AD47"/>
          </a:solidFill>
          <a:ln w="0">
            <a:noFill/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7C989E0-4147-47A8-8BAC-F14E58912473}"/>
              </a:ext>
            </a:extLst>
          </p:cNvPr>
          <p:cNvSpPr>
            <a:spLocks noGrp="1"/>
          </p:cNvSpPr>
          <p:nvPr/>
        </p:nvSpPr>
        <p:spPr>
          <a:xfrm>
            <a:off x="381000" y="61912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medir por horas permite gestionar productividad real con mayor precisión y trazabilidad.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áfico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10" y="700646"/>
            <a:ext cx="11984854" cy="80796"/>
          </a:xfrm>
          <a:prstGeom prst="rect">
            <a:avLst/>
          </a:prstGeom>
        </p:spPr>
      </p:pic>
      <p:pic>
        <p:nvPicPr>
          <p:cNvPr id="35" name="Gráfico 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10" y="76874"/>
            <a:ext cx="11984854" cy="621438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noGrp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noGrp="1"/>
          </p:cNvSpPr>
          <p:nvPr/>
        </p:nvSpPr>
        <p:spPr>
          <a:xfrm>
            <a:off x="115410" y="176887"/>
            <a:ext cx="9073025" cy="52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concepto y beneficio para el CD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noGrp="1"/>
          </p:cNvSpPr>
          <p:nvPr/>
        </p:nvSpPr>
        <p:spPr>
          <a:xfrm>
            <a:off x="115410" y="779867"/>
            <a:ext cx="11961180" cy="875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endParaRPr/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7"/>
          <a:srcRect t="5718" b="5718"/>
          <a:stretch>
            <a:fillRect/>
          </a:stretch>
        </p:blipFill>
        <p:spPr>
          <a:xfrm>
            <a:off x="0" y="781050"/>
            <a:ext cx="12192000" cy="6076950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2968E58A-7417-4B18-88E5-69AAB01598C6}"/>
              </a:ext>
            </a:extLst>
          </p:cNvPr>
          <p:cNvSpPr>
            <a:spLocks noGrp="1"/>
          </p:cNvSpPr>
          <p:nvPr/>
        </p:nvSpPr>
        <p:spPr>
          <a:xfrm>
            <a:off x="209550" y="933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0B61EFA-89AC-4432-939A-C636802FB7E8}"/>
              </a:ext>
            </a:extLst>
          </p:cNvPr>
          <p:cNvSpPr>
            <a:spLocks noGrp="1"/>
          </p:cNvSpPr>
          <p:nvPr/>
        </p:nvSpPr>
        <p:spPr>
          <a:xfrm>
            <a:off x="209550" y="1352550"/>
            <a:ext cx="9906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Incorpora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señal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colectiva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incentivo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asociada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cumplimiento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sector.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Orienta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equipo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hacia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compartidos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CD.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Mantiene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regla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vinculada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Reduce la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mirada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aislada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coordinación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Ayuda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transformar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gestión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no solo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liquidación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7AD84B9-623C-4DE5-B620-4A5FEA7F37AD}"/>
              </a:ext>
            </a:extLst>
          </p:cNvPr>
          <p:cNvSpPr>
            <a:spLocks noGrp="1"/>
          </p:cNvSpPr>
          <p:nvPr/>
        </p:nvSpPr>
        <p:spPr>
          <a:xfrm>
            <a:off x="381000" y="6096000"/>
            <a:ext cx="7239000" cy="38100"/>
          </a:xfrm>
          <a:prstGeom prst="rect">
            <a:avLst/>
          </a:prstGeom>
          <a:solidFill>
            <a:srgbClr val="70AD47"/>
          </a:solidFill>
          <a:ln w="0">
            <a:noFill/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9590B37-5966-40B5-8926-E948C5710C2A}"/>
              </a:ext>
            </a:extLst>
          </p:cNvPr>
          <p:cNvSpPr>
            <a:spLocks noGrp="1"/>
          </p:cNvSpPr>
          <p:nvPr/>
        </p:nvSpPr>
        <p:spPr>
          <a:xfrm>
            <a:off x="381000" y="61912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el componente grupal alinea el incentivo individual con el resultado operativo del sector.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áfico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10" y="700646"/>
            <a:ext cx="11984854" cy="80796"/>
          </a:xfrm>
          <a:prstGeom prst="rect">
            <a:avLst/>
          </a:prstGeom>
        </p:spPr>
      </p:pic>
      <p:pic>
        <p:nvPicPr>
          <p:cNvPr id="35" name="Gráfico 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10" y="76874"/>
            <a:ext cx="11984854" cy="621438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noGrp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noGrp="1"/>
          </p:cNvSpPr>
          <p:nvPr/>
        </p:nvSpPr>
        <p:spPr>
          <a:xfrm>
            <a:off x="115410" y="176887"/>
            <a:ext cx="9073025" cy="52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cómo se construye la meta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noGrp="1"/>
          </p:cNvSpPr>
          <p:nvPr/>
        </p:nvSpPr>
        <p:spPr>
          <a:xfrm>
            <a:off x="115410" y="779867"/>
            <a:ext cx="11961180" cy="875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endParaRPr/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7"/>
          <a:srcRect t="5718" b="5718"/>
          <a:stretch>
            <a:fillRect/>
          </a:stretch>
        </p:blipFill>
        <p:spPr>
          <a:xfrm>
            <a:off x="0" y="781050"/>
            <a:ext cx="12192000" cy="6076950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FA500AF1-88F3-4664-A8E6-D52489EC3363}"/>
              </a:ext>
            </a:extLst>
          </p:cNvPr>
          <p:cNvSpPr>
            <a:spLocks noGrp="1"/>
          </p:cNvSpPr>
          <p:nvPr/>
        </p:nvSpPr>
        <p:spPr>
          <a:xfrm>
            <a:off x="209550" y="933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03D36FB-D0BF-4FCF-A226-8B284DD2FA56}"/>
              </a:ext>
            </a:extLst>
          </p:cNvPr>
          <p:cNvSpPr>
            <a:spLocks noGrp="1"/>
          </p:cNvSpPr>
          <p:nvPr/>
        </p:nvSpPr>
        <p:spPr>
          <a:xfrm>
            <a:off x="209550" y="1352550"/>
            <a:ext cx="9906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toma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base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bultos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mínimos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preparar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ponderan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participantes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otorga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margen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sobre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para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definir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meta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diaria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El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realiza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para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reflejar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operación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Si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meta, se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habilita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grupal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250000"/>
              </a:lnSpc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La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conserva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según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medido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A3DFD80-7B5C-4CA6-84A2-A22716831867}"/>
              </a:ext>
            </a:extLst>
          </p:cNvPr>
          <p:cNvSpPr>
            <a:spLocks noGrp="1"/>
          </p:cNvSpPr>
          <p:nvPr/>
        </p:nvSpPr>
        <p:spPr>
          <a:xfrm>
            <a:off x="381000" y="6096000"/>
            <a:ext cx="7239000" cy="38100"/>
          </a:xfrm>
          <a:prstGeom prst="rect">
            <a:avLst/>
          </a:prstGeom>
          <a:solidFill>
            <a:srgbClr val="70AD47"/>
          </a:solidFill>
          <a:ln w="0">
            <a:noFill/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3BAF5E0-60F4-4D13-88E3-F242260932D4}"/>
              </a:ext>
            </a:extLst>
          </p:cNvPr>
          <p:cNvSpPr>
            <a:spLocks noGrp="1"/>
          </p:cNvSpPr>
          <p:nvPr/>
        </p:nvSpPr>
        <p:spPr>
          <a:xfrm>
            <a:off x="381000" y="61912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la meta grupal nace de una base operativa concreta y se evalúa por jornada y turno.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DocSecurity>0</DocSecurity>
  <PresentationFormat>Panorámica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093 Ingenieria - Cucci Adrian Augusto</cp:lastModifiedBy>
  <cp:revision>1</cp:revision>
  <dcterms:created xsi:type="dcterms:W3CDTF">2026-07-03T11:27:17Z</dcterms:created>
  <dcterms:modified xsi:type="dcterms:W3CDTF">2026-07-03T18:23:31Z</dcterms:modified>
</cp:coreProperties>
</file>