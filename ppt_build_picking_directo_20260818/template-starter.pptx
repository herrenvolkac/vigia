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5b284f80154b0d" /><Relationship Type="http://schemas.openxmlformats.org/officeDocument/2006/relationships/extended-properties" Target="/docProps/app.xml" Id="R9419492eb32e49f0" /><Relationship Type="http://schemas.openxmlformats.org/officeDocument/2006/relationships/officeDocument" Target="/ppt/presentation.xml" Id="R06cc28111e524d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23d02c41c140f3"/>
  </p:sldMasterIdLst>
  <p:notesMasterIdLst>
    <p:notesMasterId xmlns:r="http://schemas.openxmlformats.org/officeDocument/2006/relationships" r:id="R2826dcc9d002450a"/>
  </p:notesMasterIdLst>
  <p:sldIdLst>
    <p:sldId xmlns:r="http://schemas.openxmlformats.org/officeDocument/2006/relationships" id="256" r:id="Re37126d622d24d16"/>
    <p:sldId xmlns:r="http://schemas.openxmlformats.org/officeDocument/2006/relationships" id="257" r:id="Ra272c73f623441b0"/>
    <p:sldId xmlns:r="http://schemas.openxmlformats.org/officeDocument/2006/relationships" id="258" r:id="Rd3832faa3fb847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19d907946e4b1a" /><Relationship Type="http://schemas.openxmlformats.org/officeDocument/2006/relationships/slideMaster" Target="/ppt/slideMasters/slideMaster1.xml" Id="R1723d02c41c140f3" /><Relationship Type="http://schemas.openxmlformats.org/officeDocument/2006/relationships/notesMaster" Target="/ppt/notesMasters/notesMaster1.xml" Id="R2826dcc9d002450a" /><Relationship Type="http://schemas.openxmlformats.org/officeDocument/2006/relationships/presProps" Target="/ppt/presProps.xml" Id="R0423f4d4121249e6" /><Relationship Type="http://schemas.openxmlformats.org/officeDocument/2006/relationships/viewProps" Target="/ppt/viewProps.xml" Id="Ra2801b8ade9a4a37" /><Relationship Type="http://schemas.openxmlformats.org/officeDocument/2006/relationships/tableStyles" Target="/ppt/tableStyles.xml" Id="Reb4e9923e2b24283" /><Relationship Type="http://schemas.openxmlformats.org/officeDocument/2006/relationships/slide" Target="/ppt/slides/slide1.xml" Id="Re37126d622d24d16" /><Relationship Type="http://schemas.openxmlformats.org/officeDocument/2006/relationships/slide" Target="/ppt/slides/slide2.xml" Id="Ra272c73f623441b0" /><Relationship Type="http://schemas.openxmlformats.org/officeDocument/2006/relationships/slide" Target="/ppt/slides/slide3.xml" Id="Rd3832faa3fb847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f6fa49ed9347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60d28621da46ad" /><Relationship Type="http://schemas.openxmlformats.org/officeDocument/2006/relationships/notesMaster" Target="/ppt/notesMasters/notesMaster1.xml" Id="Rbc3c1be1199644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ea8bc70bbc4916" /><Relationship Type="http://schemas.openxmlformats.org/officeDocument/2006/relationships/notesMaster" Target="/ppt/notesMasters/notesMaster1.xml" Id="R76b9236584084d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9a98cff1984f97" /><Relationship Type="http://schemas.openxmlformats.org/officeDocument/2006/relationships/notesMaster" Target="/ppt/notesMasters/notesMaster1.xml" Id="Rb8b8c142e1544c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16331e5b04f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52846f42d4e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e4085d2de24f43" /><Relationship Type="http://schemas.openxmlformats.org/officeDocument/2006/relationships/slideLayout" Target="/ppt/slideLayouts/slideLayout1.xml" Id="R2005f066862140ec" /><Relationship Type="http://schemas.openxmlformats.org/officeDocument/2006/relationships/slideLayout" Target="/ppt/slideLayouts/slideLayout2.xml" Id="R7e7733af2e4d42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05f066862140ec"/>
    <p:sldLayoutId xmlns:r="http://schemas.openxmlformats.org/officeDocument/2006/relationships" id="2147483650" r:id="R7e7733af2e4d42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45a1cf9834b7d" /><Relationship Type="http://schemas.openxmlformats.org/officeDocument/2006/relationships/notesSlide" Target="/ppt/notesSlides/notesSlide1.xml" Id="Rae297b9ef31841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079957cdf47a5" /><Relationship Type="http://schemas.openxmlformats.org/officeDocument/2006/relationships/notesSlide" Target="/ppt/notesSlides/notesSlide2.xml" Id="Rfaf7d2a68cd946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4360e05a942f8" /><Relationship Type="http://schemas.openxmlformats.org/officeDocument/2006/relationships/notesSlide" Target="/ppt/notesSlides/notesSlide3.xml" Id="R59124c4f467a4b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8025F1B-A545-4276-8E57-648EB918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039F9A-22E6-40F3-8BBD-8A6FA0A8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66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Alternativas</a:t>
            </a: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para </a:t>
            </a: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Premio </a:t>
            </a:r>
            <a:r>
              <a:rPr sz="2400" b="1" i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endParaRPr sz="2400" b="1" i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BAB0419-E40A-4EED-8569-572C0BF5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D198202B-9AD4-4B93-9014-310C3EB9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FD4B8C9C-3B3D-410F-8220-50641756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Producción</a:t>
            </a:r>
          </a:p>
        </p:txBody>
      </p:sp>
      <p:sp>
        <p:nvSpPr>
          <p:cNvPr id="6" name="card-body-0">
            <a:extLst xmlns:a="http://schemas.openxmlformats.org/drawingml/2006/main">
              <a:ext uri="{FF2B5EF4-FFF2-40B4-BE49-F238E27FC236}">
                <a16:creationId xmlns:a16="http://schemas.microsoft.com/office/drawing/2014/main" id="{FC9C7385-759A-4418-BFB4-7E32D96B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Mira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participación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productiva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del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colaborador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.</a:t>
            </a:r>
          </a:p>
          <a:p xmlns:a="http://schemas.openxmlformats.org/drawingml/2006/main"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paga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si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turno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alcanza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mínimo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requerido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colectivo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.</a:t>
            </a:r>
          </a:p>
          <a:p xmlns:a="http://schemas.openxmlformats.org/drawingml/2006/main"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reparte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Según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la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participación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en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la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producción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del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grupo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card-label-0">
            <a:extLst xmlns:a="http://schemas.openxmlformats.org/drawingml/2006/main">
              <a:ext uri="{FF2B5EF4-FFF2-40B4-BE49-F238E27FC236}">
                <a16:creationId xmlns:a16="http://schemas.microsoft.com/office/drawing/2014/main" id="{B1AEED4E-311A-4C31-B71D-EBEBCB58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Opción A</a:t>
            </a:r>
          </a:p>
        </p:txBody>
      </p:sp>
      <p:sp>
        <p:nvSpPr>
          <p:cNvPr id="8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18643A6B-5EF7-4DD0-8F6C-CEDD06CD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FF0000"/>
            </a:solidFill>
            <a:prstDash val="solid"/>
          </a:ln>
        </p:spPr>
      </p:sp>
      <p:sp>
        <p:nvSpPr>
          <p:cNvPr id="9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64AEF3F3-AB86-4604-916E-E3113ECF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62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Cumplimiento</a:t>
            </a:r>
          </a:p>
        </p:txBody>
      </p:sp>
      <p:sp>
        <p:nvSpPr>
          <p:cNvPr id="10" name="card-body-1">
            <a:extLst xmlns:a="http://schemas.openxmlformats.org/drawingml/2006/main">
              <a:ext uri="{FF2B5EF4-FFF2-40B4-BE49-F238E27FC236}">
                <a16:creationId xmlns:a16="http://schemas.microsoft.com/office/drawing/2014/main" id="{2E3913B7-C088-4679-B06A-834BC670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Mira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Cuántos colaboradores generan Premio Individual.</a:t>
            </a:r>
          </a:p>
          <a:p xmlns:a="http://schemas.openxmlformats.org/drawingml/2006/main"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 paga si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grupo alcanza el porcentaje requerido.</a:t>
            </a:r>
          </a:p>
          <a:p xmlns:a="http://schemas.openxmlformats.org/drawingml/2006/main"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 reparte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Según las horas trabajadas.</a:t>
            </a:r>
          </a:p>
        </p:txBody>
      </p:sp>
      <p:sp>
        <p:nvSpPr>
          <p:cNvPr id="11" name="card-label-1">
            <a:extLst xmlns:a="http://schemas.openxmlformats.org/drawingml/2006/main">
              <a:ext uri="{FF2B5EF4-FFF2-40B4-BE49-F238E27FC236}">
                <a16:creationId xmlns:a16="http://schemas.microsoft.com/office/drawing/2014/main" id="{B7DF2154-1B70-4115-8097-AE79293E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191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Opción B</a:t>
            </a:r>
          </a:p>
        </p:txBody>
      </p:sp>
      <p:sp>
        <p:nvSpPr>
          <p:cNvPr id="12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04C15002-5FE4-4FF7-ABD7-E654028C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FA436AE0-B7C2-4F11-98B9-6E7DC324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62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Planificación</a:t>
            </a:r>
          </a:p>
        </p:txBody>
      </p:sp>
      <p:sp>
        <p:nvSpPr>
          <p:cNvPr id="14" name="card-body-2">
            <a:extLst xmlns:a="http://schemas.openxmlformats.org/drawingml/2006/main">
              <a:ext uri="{FF2B5EF4-FFF2-40B4-BE49-F238E27FC236}">
                <a16:creationId xmlns:a16="http://schemas.microsoft.com/office/drawing/2014/main" id="{2D274743-90D5-4C01-A641-AD2C7EBF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907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Mira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cumplimiento del plan del turno.</a:t>
            </a:r>
          </a:p>
          <a:p xmlns:a="http://schemas.openxmlformats.org/drawingml/2006/main"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 paga si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flujo aplicable cumple la planificación esperada.</a:t>
            </a:r>
          </a:p>
          <a:p xmlns:a="http://schemas.openxmlformats.org/drawingml/2006/main"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 reparte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Según las horas trabajadas.</a:t>
            </a:r>
          </a:p>
        </p:txBody>
      </p:sp>
      <p:sp>
        <p:nvSpPr>
          <p:cNvPr id="15" name="card-label-2">
            <a:extLst xmlns:a="http://schemas.openxmlformats.org/drawingml/2006/main">
              <a:ext uri="{FF2B5EF4-FFF2-40B4-BE49-F238E27FC236}">
                <a16:creationId xmlns:a16="http://schemas.microsoft.com/office/drawing/2014/main" id="{2DD1EE82-5918-4F13-9128-E49432F0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Opción C</a:t>
            </a:r>
          </a:p>
        </p:txBody>
      </p:sp>
      <p:sp>
        <p:nvSpPr>
          <p:cNvPr id="16" name="footer-separator">
            <a:extLst xmlns:a="http://schemas.openxmlformats.org/drawingml/2006/main">
              <a:ext uri="{FF2B5EF4-FFF2-40B4-BE49-F238E27FC236}">
                <a16:creationId xmlns:a16="http://schemas.microsoft.com/office/drawing/2014/main" id="{05F6C2AD-8701-42E6-96CC-35E4526A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746A6829-9E3C-40AB-A96D-304345C4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7339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Las 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tres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opciones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usan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mismo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Premio 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Grupal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. 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Cambian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la 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condición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activación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y 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criterio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distribución</a:t>
            </a: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8" name="footer2">
            <a:extLst xmlns:a="http://schemas.openxmlformats.org/drawingml/2006/main">
              <a:ext uri="{FF2B5EF4-FFF2-40B4-BE49-F238E27FC236}">
                <a16:creationId xmlns:a16="http://schemas.microsoft.com/office/drawing/2014/main" id="{114CF7A1-4B6D-4C8F-8DF7-62ACDA7E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5439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Premio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Grupal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se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calcula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por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operación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/sector/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turno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y luego se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distribuye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según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la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alternativa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seleccionada</a:t>
            </a: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0" name="footer2">
            <a:extLst xmlns:a="http://schemas.openxmlformats.org/drawingml/2006/main">
              <a:ext uri="{FF2B5EF4-FFF2-40B4-BE49-F238E27FC236}">
                <a16:creationId xmlns:a16="http://schemas.microsoft.com/office/drawing/2014/main" id="{13A533C3-B0B5-F7FA-5B8E-02388E7C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91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método de calculo de pago se puede realizar por: A: Participación productiva. B: Participación en horas. C: Si alcanzó en target en base a las horas trabajadas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03433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5B759442-4E6C-4659-AD8D-A2A8FFC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DCA2989-D30A-42BA-B364-61557BCB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 Grupal — Opción A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29E5B7F-8153-4CCD-BF81-948BEC1C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2CE3807A-EC70-4995-BCB1-6B2688C5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163300" cy="529590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s-title-0">
            <a:extLst xmlns:a="http://schemas.openxmlformats.org/drawingml/2006/main">
              <a:ext uri="{FF2B5EF4-FFF2-40B4-BE49-F238E27FC236}">
                <a16:creationId xmlns:a16="http://schemas.microsoft.com/office/drawing/2014/main" id="{525405D9-230D-4BB2-9273-EC2BC8CB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716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Premio Grupal</a:t>
            </a:r>
          </a:p>
        </p:txBody>
      </p:sp>
      <p:sp>
        <p:nvSpPr>
          <p:cNvPr id="6" name="s-formula-0">
            <a:extLst xmlns:a="http://schemas.openxmlformats.org/drawingml/2006/main">
              <a:ext uri="{FF2B5EF4-FFF2-40B4-BE49-F238E27FC236}">
                <a16:creationId xmlns:a16="http://schemas.microsoft.com/office/drawing/2014/main" id="{FBB664F7-C56E-4FB3-BB94-9D678978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UG = UBT × LP</a:t>
            </a:r>
          </a:p>
        </p:txBody>
      </p:sp>
      <p:sp>
        <p:nvSpPr>
          <p:cNvPr id="7" name="s-body-0">
            <a:extLst xmlns:a="http://schemas.openxmlformats.org/drawingml/2006/main">
              <a:ext uri="{FF2B5EF4-FFF2-40B4-BE49-F238E27FC236}">
                <a16:creationId xmlns:a16="http://schemas.microsoft.com/office/drawing/2014/main" id="{F626CDB0-08D0-4F00-8DDD-46F26BDB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383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Umbral Grupal se calcula con el Umbral Base Turno de la operación y los legajos participantes.</a:t>
            </a:r>
          </a:p>
        </p:txBody>
      </p:sp>
      <p:sp>
        <p:nvSpPr>
          <p:cNvPr id="8" name="s-title-1">
            <a:extLst xmlns:a="http://schemas.openxmlformats.org/drawingml/2006/main">
              <a:ext uri="{FF2B5EF4-FFF2-40B4-BE49-F238E27FC236}">
                <a16:creationId xmlns:a16="http://schemas.microsoft.com/office/drawing/2014/main" id="{24FBB201-54EE-47B1-9D7B-F84A8F10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60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Producción Final Grupal</a:t>
            </a:r>
          </a:p>
        </p:txBody>
      </p:sp>
      <p:sp>
        <p:nvSpPr>
          <p:cNvPr id="9" name="s-formula-1">
            <a:extLst xmlns:a="http://schemas.openxmlformats.org/drawingml/2006/main">
              <a:ext uri="{FF2B5EF4-FFF2-40B4-BE49-F238E27FC236}">
                <a16:creationId xmlns:a16="http://schemas.microsoft.com/office/drawing/2014/main" id="{0F4B6162-1E83-413B-9253-251CAC93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PFG = Σ Ph</a:t>
            </a:r>
          </a:p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 PFG &gt; UG se habilita el pago grupal</a:t>
            </a:r>
          </a:p>
        </p:txBody>
      </p:sp>
      <p:sp>
        <p:nvSpPr>
          <p:cNvPr id="10" name="s-body-1">
            <a:extLst xmlns:a="http://schemas.openxmlformats.org/drawingml/2006/main">
              <a:ext uri="{FF2B5EF4-FFF2-40B4-BE49-F238E27FC236}">
                <a16:creationId xmlns:a16="http://schemas.microsoft.com/office/drawing/2014/main" id="{406FE951-F1DD-4A34-B9A7-B182FF60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527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Es la suma de la producción horaria de todos los colaboradores que participaron en el turno.</a:t>
            </a:r>
          </a:p>
        </p:txBody>
      </p:sp>
      <p:sp>
        <p:nvSpPr>
          <p:cNvPr id="11" name="s-title-2">
            <a:extLst xmlns:a="http://schemas.openxmlformats.org/drawingml/2006/main">
              <a:ext uri="{FF2B5EF4-FFF2-40B4-BE49-F238E27FC236}">
                <a16:creationId xmlns:a16="http://schemas.microsoft.com/office/drawing/2014/main" id="{F4A2DB39-3487-43E3-885C-26E6E2E7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Distribución Individual</a:t>
            </a:r>
          </a:p>
        </p:txBody>
      </p:sp>
      <p:sp>
        <p:nvSpPr>
          <p:cNvPr id="12" name="s-formula-2">
            <a:extLst xmlns:a="http://schemas.openxmlformats.org/drawingml/2006/main">
              <a:ext uri="{FF2B5EF4-FFF2-40B4-BE49-F238E27FC236}">
                <a16:creationId xmlns:a16="http://schemas.microsoft.com/office/drawing/2014/main" id="{923903A9-A757-4B5A-8C1F-7A70B7CE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PIA = UG × (Ph individual / PFG)</a:t>
            </a:r>
          </a:p>
        </p:txBody>
      </p:sp>
      <p:sp>
        <p:nvSpPr>
          <p:cNvPr id="13" name="s-body-2">
            <a:extLst xmlns:a="http://schemas.openxmlformats.org/drawingml/2006/main">
              <a:ext uri="{FF2B5EF4-FFF2-40B4-BE49-F238E27FC236}">
                <a16:creationId xmlns:a16="http://schemas.microsoft.com/office/drawing/2014/main" id="{034DFD5C-C10C-4265-99A0-AD649F50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671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Premio Grupal se distribuye según la participación productiva individual.</a:t>
            </a:r>
          </a:p>
        </p:txBody>
      </p:sp>
      <p:sp>
        <p:nvSpPr>
          <p:cNvPr id="14" name="simple-box">
            <a:extLst xmlns:a="http://schemas.openxmlformats.org/drawingml/2006/main">
              <a:ext uri="{FF2B5EF4-FFF2-40B4-BE49-F238E27FC236}">
                <a16:creationId xmlns:a16="http://schemas.microsoft.com/office/drawing/2014/main" id="{E0A4B526-221E-4784-B1A4-AF6B4F5D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9906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simple">
            <a:extLst xmlns:a="http://schemas.openxmlformats.org/drawingml/2006/main">
              <a:ext uri="{FF2B5EF4-FFF2-40B4-BE49-F238E27FC236}">
                <a16:creationId xmlns:a16="http://schemas.microsoft.com/office/drawing/2014/main" id="{BFE7C99B-603F-471B-BD6D-F094DFE3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En simple: se habilita el Premio Grupal si la producción total del turno alcanza el mínimo requerido. Luego, cada operario recibe un proporcional de acuerdo a su aporte</a:t>
            </a:r>
          </a:p>
        </p:txBody>
      </p:sp>
      <p:sp>
        <p:nvSpPr>
          <p:cNvPr id="16" name="refs-title">
            <a:extLst xmlns:a="http://schemas.openxmlformats.org/drawingml/2006/main">
              <a:ext uri="{FF2B5EF4-FFF2-40B4-BE49-F238E27FC236}">
                <a16:creationId xmlns:a16="http://schemas.microsoft.com/office/drawing/2014/main" id="{4765D811-12E2-449D-B9F4-710C50BC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Referencias</a:t>
            </a:r>
          </a:p>
        </p:txBody>
      </p:sp>
      <p:sp>
        <p:nvSpPr>
          <p:cNvPr id="17" name="refs">
            <a:extLst xmlns:a="http://schemas.openxmlformats.org/drawingml/2006/main">
              <a:ext uri="{FF2B5EF4-FFF2-40B4-BE49-F238E27FC236}">
                <a16:creationId xmlns:a16="http://schemas.microsoft.com/office/drawing/2014/main" id="{E437DA44-58BD-44E1-B679-C15DA28A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UG → </a:t>
            </a:r>
            <a:r>
              <a:rPr sz="900">
                <a:solidFill>
                  <a:srgbClr val="374151"/>
                </a:solidFill>
                <a:latin typeface="Aptos"/>
                <a:ea typeface="Aptos"/>
                <a:cs typeface="Aptos"/>
              </a:rPr>
              <a:t>Umbral</a:t>
            </a: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Grupal    UBT → Umbral Base Turno    LP → Legajos participantes    PFG → Producción Final Grupal    PIA → Premio Individual Adicional</a:t>
            </a:r>
          </a:p>
        </p:txBody>
      </p:sp>
    </p:spTree>
    <p:extLst>
      <p:ext uri="{BB962C8B-B14F-4D97-AF65-F5344CB8AC3E}">
        <p14:creationId xmlns:p14="http://schemas.microsoft.com/office/powerpoint/2010/main" val="539387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CDA909B0-2B54-4C36-A5F2-34FE415E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2E9C58-F4BD-4A2A-8FC2-9B7417A4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 Grupal — Opción B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FCE0F20-5132-4AA6-B7A7-BA8F2427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A0C1A63C-333A-47B3-92C7-7767FB44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163300" cy="529590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s-title-0">
            <a:extLst xmlns:a="http://schemas.openxmlformats.org/drawingml/2006/main">
              <a:ext uri="{FF2B5EF4-FFF2-40B4-BE49-F238E27FC236}">
                <a16:creationId xmlns:a16="http://schemas.microsoft.com/office/drawing/2014/main" id="{E329D114-CA9E-4411-A4B4-DC317F91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716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Cumplimiento Individual</a:t>
            </a:r>
          </a:p>
        </p:txBody>
      </p:sp>
      <p:sp>
        <p:nvSpPr>
          <p:cNvPr id="6" name="s-formula-0">
            <a:extLst xmlns:a="http://schemas.openxmlformats.org/drawingml/2006/main">
              <a:ext uri="{FF2B5EF4-FFF2-40B4-BE49-F238E27FC236}">
                <a16:creationId xmlns:a16="http://schemas.microsoft.com/office/drawing/2014/main" id="{9531DFDD-5A4C-49F0-B7CA-5EE15022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CI = 1 si PID turno &gt; 0</a:t>
            </a:r>
          </a:p>
        </p:txBody>
      </p:sp>
      <p:sp>
        <p:nvSpPr>
          <p:cNvPr id="7" name="s-body-0">
            <a:extLst xmlns:a="http://schemas.openxmlformats.org/drawingml/2006/main">
              <a:ext uri="{FF2B5EF4-FFF2-40B4-BE49-F238E27FC236}">
                <a16:creationId xmlns:a16="http://schemas.microsoft.com/office/drawing/2014/main" id="{3FFE02D5-6869-447F-B150-8FBDDE65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383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Cuenta como cumplidor todo colaborador elegible cuyo Premio Individual del turno sea mayor a cero.</a:t>
            </a:r>
          </a:p>
        </p:txBody>
      </p:sp>
      <p:sp>
        <p:nvSpPr>
          <p:cNvPr id="8" name="s-title-1">
            <a:extLst xmlns:a="http://schemas.openxmlformats.org/drawingml/2006/main">
              <a:ext uri="{FF2B5EF4-FFF2-40B4-BE49-F238E27FC236}">
                <a16:creationId xmlns:a16="http://schemas.microsoft.com/office/drawing/2014/main" id="{53044816-8376-4C93-BC6C-084818BA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60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Cumplimiento Grupal</a:t>
            </a:r>
          </a:p>
        </p:txBody>
      </p:sp>
      <p:sp>
        <p:nvSpPr>
          <p:cNvPr id="9" name="s-formula-1">
            <a:extLst xmlns:a="http://schemas.openxmlformats.org/drawingml/2006/main">
              <a:ext uri="{FF2B5EF4-FFF2-40B4-BE49-F238E27FC236}">
                <a16:creationId xmlns:a16="http://schemas.microsoft.com/office/drawing/2014/main" id="{08FD124F-5A71-483D-BCA5-15924A57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CG = Σ CI / NCE ≥ 90%</a:t>
            </a:r>
          </a:p>
        </p:txBody>
      </p:sp>
      <p:sp>
        <p:nvSpPr>
          <p:cNvPr id="10" name="s-body-1">
            <a:extLst xmlns:a="http://schemas.openxmlformats.org/drawingml/2006/main">
              <a:ext uri="{FF2B5EF4-FFF2-40B4-BE49-F238E27FC236}">
                <a16:creationId xmlns:a16="http://schemas.microsoft.com/office/drawing/2014/main" id="{71EAF7E7-59E4-44DC-B4F0-3EA9BABD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527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grupo cumple cuando alcanza el porcentaje requerido. El porcentaje es parametrizable.</a:t>
            </a:r>
          </a:p>
        </p:txBody>
      </p:sp>
      <p:sp>
        <p:nvSpPr>
          <p:cNvPr id="11" name="s-title-2">
            <a:extLst xmlns:a="http://schemas.openxmlformats.org/drawingml/2006/main">
              <a:ext uri="{FF2B5EF4-FFF2-40B4-BE49-F238E27FC236}">
                <a16:creationId xmlns:a16="http://schemas.microsoft.com/office/drawing/2014/main" id="{F859CC25-5AB7-4309-92A9-14F585FE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Distribución por Horas</a:t>
            </a:r>
          </a:p>
        </p:txBody>
      </p:sp>
      <p:sp>
        <p:nvSpPr>
          <p:cNvPr id="12" name="s-formula-2">
            <a:extLst xmlns:a="http://schemas.openxmlformats.org/drawingml/2006/main">
              <a:ext uri="{FF2B5EF4-FFF2-40B4-BE49-F238E27FC236}">
                <a16:creationId xmlns:a16="http://schemas.microsoft.com/office/drawing/2014/main" id="{D04BDAB2-6494-4550-A655-F5AF7527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PIA = PG × (HPI / HPG)</a:t>
            </a:r>
          </a:p>
        </p:txBody>
      </p:sp>
      <p:sp>
        <p:nvSpPr>
          <p:cNvPr id="13" name="s-body-2">
            <a:extLst xmlns:a="http://schemas.openxmlformats.org/drawingml/2006/main">
              <a:ext uri="{FF2B5EF4-FFF2-40B4-BE49-F238E27FC236}">
                <a16:creationId xmlns:a16="http://schemas.microsoft.com/office/drawing/2014/main" id="{B5A019BC-1A80-44EB-A74E-CF6AB433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671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Premio Grupal se distribuye según las horas efectivamente trabajadas.</a:t>
            </a:r>
          </a:p>
        </p:txBody>
      </p:sp>
      <p:sp>
        <p:nvSpPr>
          <p:cNvPr id="14" name="simple-box">
            <a:extLst xmlns:a="http://schemas.openxmlformats.org/drawingml/2006/main">
              <a:ext uri="{FF2B5EF4-FFF2-40B4-BE49-F238E27FC236}">
                <a16:creationId xmlns:a16="http://schemas.microsoft.com/office/drawing/2014/main" id="{02018029-E1C0-42E1-A01D-B56F3701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9906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simple">
            <a:extLst xmlns:a="http://schemas.openxmlformats.org/drawingml/2006/main">
              <a:ext uri="{FF2B5EF4-FFF2-40B4-BE49-F238E27FC236}">
                <a16:creationId xmlns:a16="http://schemas.microsoft.com/office/drawing/2014/main" id="{4106AE25-2B1B-4A60-9AEF-6730DA00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En simple: se habilita el Premio Grupal si el grupo alcanza el porcentaje requerido de colaboradores con Premio Individual.</a:t>
            </a:r>
          </a:p>
        </p:txBody>
      </p:sp>
      <p:sp>
        <p:nvSpPr>
          <p:cNvPr id="16" name="refs-title">
            <a:extLst xmlns:a="http://schemas.openxmlformats.org/drawingml/2006/main">
              <a:ext uri="{FF2B5EF4-FFF2-40B4-BE49-F238E27FC236}">
                <a16:creationId xmlns:a16="http://schemas.microsoft.com/office/drawing/2014/main" id="{74228960-DF57-41F6-B8EA-01802529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Referencias</a:t>
            </a:r>
          </a:p>
        </p:txBody>
      </p:sp>
      <p:sp>
        <p:nvSpPr>
          <p:cNvPr id="17" name="refs">
            <a:extLst xmlns:a="http://schemas.openxmlformats.org/drawingml/2006/main">
              <a:ext uri="{FF2B5EF4-FFF2-40B4-BE49-F238E27FC236}">
                <a16:creationId xmlns:a16="http://schemas.microsoft.com/office/drawing/2014/main" id="{3CF1BE14-95B9-4B1D-98B3-A95FAD4B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CI → Cumplimiento Individual    CG → Cumplimiento Grupal    NCE → Colaboradores elegibles    PG → Premio Grupal    HPG → Horas del grupo    HPI → Horas individuales   PID-&gt; Premio Individual</a:t>
            </a:r>
          </a:p>
        </p:txBody>
      </p:sp>
    </p:spTree>
    <p:extLst>
      <p:ext uri="{BB962C8B-B14F-4D97-AF65-F5344CB8AC3E}">
        <p14:creationId xmlns:p14="http://schemas.microsoft.com/office/powerpoint/2010/main" val="333767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2026-08-18T18:25:25.2120000Z</dcterms:created>
  <dcterms:modified xsi:type="dcterms:W3CDTF">2026-08-18T18:25:25.2120000Z</dcterms:modified>
</coreProperties>
</file>