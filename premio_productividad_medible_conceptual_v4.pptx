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50A21ED-D480-4E98-BF27-7AC05BCE2B69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La propuesta cambia la granularidad de medición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1C43365-BF50-4C13-908B-664790CFBAD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91850" cy="528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Finalidad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propuesta</a:t>
            </a:r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las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operaciones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productivas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para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reconocer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mejor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lo que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ocurre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dentro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 jornada.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cambio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propuesto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no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busca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discutir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nueva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curva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económica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esta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instancia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Busca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cambiar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granularidad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medición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de jornada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tramos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términos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prácticos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se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evalúa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contra la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escala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que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corresponde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 la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al sector</a:t>
            </a:r>
            <a:r>
              <a:rPr lang="es-ES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estas escalas deben ser dadas por cad</a:t>
            </a:r>
            <a:r>
              <a:rPr lang="es-ES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sector.</a:t>
            </a:r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surge de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sumar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horarios</a:t>
            </a:r>
            <a:r>
              <a:rPr lang="es-ES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vs la escala.</a:t>
            </a:r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lang="es-ES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 considera la jornada neta, descontados los 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TNC y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errores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aplican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sobre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día;</a:t>
            </a:r>
            <a:endParaRPr lang="es-ES"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</a:t>
            </a:r>
            <a:r>
              <a:rPr lang="es-AR" sz="15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los excesos de TNC no impactan en el premio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los errores de preparación si descuentan</a:t>
            </a:r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sólo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alcanza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definido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  <a:endParaRPr lang="es-ES"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un grupo es una Unidad operativa, ejemplo Secos 1, Refrigerados, Noa. Asociados a una función, armadores, cargadores, etc. Diferenciados por turno.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</a:t>
            </a:r>
            <a:r>
              <a:rPr lang="es-AR" sz="15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Turnos, detallar.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Los premios en hora extra, se suman al turno en el cual se efectúa la hora extra. </a:t>
            </a:r>
            <a:r>
              <a:rPr lang="es-AR" sz="150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Ej</a:t>
            </a:r>
            <a:r>
              <a:rPr lang="es-AR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si una persona mañana se queda tarde, las horas de la tarde aplican al grupal de la tarde (la mañana a la mañana, la tarde a la tarde)</a:t>
            </a:r>
            <a:endParaRPr sz="150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discusión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esperada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esta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etapa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es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validar</a:t>
            </a:r>
            <a:r>
              <a:rPr lang="es-ES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Método….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las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unidades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medidas</a:t>
            </a:r>
            <a:r>
              <a:rPr lang="es-ES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bultos/movimientos físicos realizados, no distancia ni esfuerzo.</a:t>
            </a:r>
          </a:p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	validación de </a:t>
            </a:r>
            <a:r>
              <a:rPr lang="es-ES"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los niveles de pago de premio (tablas)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propuestas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sector.</a:t>
            </a:r>
          </a:p>
        </p:txBody>
      </p:sp>
    </p:spTree>
    <p:extLst>
      <p:ext uri="{BB962C8B-B14F-4D97-AF65-F5344CB8AC3E}">
        <p14:creationId xmlns:p14="http://schemas.microsoft.com/office/powerpoint/2010/main" val="187019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0A21BD5-C1C6-4467-A6BE-1A0A7A25658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Cada operación se mide con su propia unidad operativa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F997F56-E3EB-4D6D-91EC-D87279EC322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91850" cy="528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Qué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cada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</a:t>
            </a:r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Cada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medible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se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evalúa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según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su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operativa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propia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       | Unidad de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medición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propuesta</a:t>
            </a:r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                |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bultos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preparados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         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trasladados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         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</a:t>
            </a:r>
            <a:r>
              <a:rPr sz="1200" b="1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CHP + CBF       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|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huecos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Manual          |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huecos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 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recibidos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/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revisados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Secos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recibidos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/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revisados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   | pallets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consolidados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por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</a:t>
            </a: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Criterio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importante</a:t>
            </a:r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La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no se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incluye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implícitamente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dentro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de Picking, Carga o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Picking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preparación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Carga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carga.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traslado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</a:p>
          <a:p>
            <a:endParaRPr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Si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persona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realiza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más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de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durante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el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día,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cada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hora se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mide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contra la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efectivamente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realizada</a:t>
            </a:r>
            <a:r>
              <a:rPr sz="12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.</a:t>
            </a:r>
            <a:endParaRPr lang="es-ES" sz="12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endParaRPr lang="es-AR" sz="120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s-AR" sz="1200" b="1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Analizar, 1/6 del target de picking hora</a:t>
            </a:r>
            <a:endParaRPr sz="1200" b="1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62964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DEC8469-82BA-4E50-A6C2-58541FBEE26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Las fórmulas se resumen en conceptos de pago</a:t>
            </a:r>
          </a:p>
        </p:txBody>
      </p:sp>
      <p:sp>
        <p:nvSpPr>
          <p:cNvPr id="2" name="left">
            <a:extLst>
              <a:ext uri="{FF2B5EF4-FFF2-40B4-BE49-F238E27FC236}">
                <a16:creationId xmlns:a16="http://schemas.microsoft.com/office/drawing/2014/main" id="{1EFE03E9-158E-4321-BAD5-7B9986D593D3}"/>
              </a:ext>
            </a:extLst>
          </p:cNvPr>
          <p:cNvSpPr>
            <a:spLocks noGrp="1"/>
          </p:cNvSpPr>
          <p:nvPr/>
        </p:nvSpPr>
        <p:spPr>
          <a:xfrm>
            <a:off x="609600" y="1123951"/>
            <a:ext cx="5257800" cy="35943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Σ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unidades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logísticas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procesadas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hora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logística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depende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bultos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pallets,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huecos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u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otra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definida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Cuando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más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sector o TNC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calcula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proporcional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 hora.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parcial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minutos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/ 60</a:t>
            </a:r>
            <a:endParaRPr lang="es-ES"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275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 = Σ premios horarios - TNC - errores</a:t>
            </a:r>
          </a:p>
          <a:p>
            <a:endParaRPr lang="es-ES"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Concepto: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hora genera, o no, un premio según la producción real de esa hora y la tabla aplicable.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ight">
            <a:extLst>
              <a:ext uri="{FF2B5EF4-FFF2-40B4-BE49-F238E27FC236}">
                <a16:creationId xmlns:a16="http://schemas.microsoft.com/office/drawing/2014/main" id="{25927711-1CB1-4C71-96AD-63BA96A2AFAD}"/>
              </a:ext>
            </a:extLst>
          </p:cNvPr>
          <p:cNvSpPr>
            <a:spLocks noGrp="1"/>
          </p:cNvSpPr>
          <p:nvPr/>
        </p:nvSpPr>
        <p:spPr>
          <a:xfrm>
            <a:off x="6400800" y="1123950"/>
            <a:ext cx="5143500" cy="3879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×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supera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 </a:t>
            </a:r>
            <a:r>
              <a:rPr lang="es-ES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 Esa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reparte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según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contribución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persona</a:t>
            </a:r>
            <a:r>
              <a:rPr lang="es-ES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proporcional a las horas y a los bultos, o plano a todos</a:t>
            </a:r>
            <a:endParaRPr sz="12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mínimo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×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cantidad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operarios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× factor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colchón</a:t>
            </a:r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calcula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mínima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un factor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resguardo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no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todos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individuales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total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+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97FCFB-64D5-AB28-7E43-CC4B1BE6DC13}"/>
              </a:ext>
            </a:extLst>
          </p:cNvPr>
          <p:cNvSpPr txBox="1"/>
          <p:nvPr/>
        </p:nvSpPr>
        <p:spPr>
          <a:xfrm>
            <a:off x="2233803" y="5252310"/>
            <a:ext cx="7267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8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total diario = pago individual diario + pago grupal individual</a:t>
            </a:r>
          </a:p>
        </p:txBody>
      </p:sp>
    </p:spTree>
    <p:extLst>
      <p:ext uri="{BB962C8B-B14F-4D97-AF65-F5344CB8AC3E}">
        <p14:creationId xmlns:p14="http://schemas.microsoft.com/office/powerpoint/2010/main" val="68628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DD14A3A-1277-4D2E-BE16-9447362A85C2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El premio grupal usa equivalencias sólo para medir el turno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318B086-4440-404D-B555-444F4E09AB2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91850" cy="528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Definimos la cantidad de bultos/palet objetivos por función/división, ese es el mínimo a cumplir. Cruzar contra plan de TMS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425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 alternativa si el 90% de las horas planificadas y la población cumple, se cumple el grupal. </a:t>
            </a:r>
            <a:endParaRPr lang="es-ES"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realiza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sector,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evalúa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sumar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sectores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distintos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dentro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mismo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común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comparación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Σ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 ×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equivalencia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mantiene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física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para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individual.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convierte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usando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actual de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equivalencias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Aplicación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equivalencia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sólo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para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cumplimiento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modifica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 cambia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sectorial de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Permite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comparar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sectores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distinta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complejidad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dentro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misma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≥ target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distribuye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según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68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FAB8525-BA68-4256-AFA2-CEE769093BB4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Picking se abre por sector explícito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732043C-9363-4B01-A897-39A8FFA9200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91850" cy="528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 para las tablas por sector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Picking, la tabla se abre por sector explícito: AL, MU, B1, PI, etc.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sector conserva su equivalencia operativa cargada en PV_TIEMPOS_DE_PICKING.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Esa equivalencia ajusta la cantidad física de bultos/hora requerida para cada tramo.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de una tabla sectorial: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Desde/h y Hasta/h indican bultos físicos por hora para ese sector.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Premio/h indica el pago horario aplicable si la producción cae en ese tramo.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Cuando el sector no tiene tiempo normal histórico, se muestra igualmente la tabla si existe equivalencia.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Esto evita tratar a todos los sectores como si tuvieran la misma dificultad operativa.</a:t>
            </a:r>
          </a:p>
        </p:txBody>
      </p:sp>
    </p:spTree>
    <p:extLst>
      <p:ext uri="{BB962C8B-B14F-4D97-AF65-F5344CB8AC3E}">
        <p14:creationId xmlns:p14="http://schemas.microsoft.com/office/powerpoint/2010/main" val="1347071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-title">
            <a:extLst>
              <a:ext uri="{FF2B5EF4-FFF2-40B4-BE49-F238E27FC236}">
                <a16:creationId xmlns:a16="http://schemas.microsoft.com/office/drawing/2014/main" id="{B7CB1206-72AD-4AAC-9143-14DEAE4BCC6C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047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Anexos</a:t>
            </a:r>
          </a:p>
        </p:txBody>
      </p:sp>
      <p:sp>
        <p:nvSpPr>
          <p:cNvPr id="2" name="section-subtitle">
            <a:extLst>
              <a:ext uri="{FF2B5EF4-FFF2-40B4-BE49-F238E27FC236}">
                <a16:creationId xmlns:a16="http://schemas.microsoft.com/office/drawing/2014/main" id="{A24B85B9-7B5F-4254-B5AE-8F79944A3F64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Tablas de escalas propuestas y fórmulas de referencia</a:t>
            </a:r>
          </a:p>
        </p:txBody>
      </p:sp>
    </p:spTree>
    <p:extLst>
      <p:ext uri="{BB962C8B-B14F-4D97-AF65-F5344CB8AC3E}">
        <p14:creationId xmlns:p14="http://schemas.microsoft.com/office/powerpoint/2010/main" val="159374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D9926C0-9794-4C33-84BC-2B7A713B8D33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 de referencia</a:t>
            </a:r>
          </a:p>
        </p:txBody>
      </p:sp>
      <p:sp>
        <p:nvSpPr>
          <p:cNvPr id="2" name="left">
            <a:extLst>
              <a:ext uri="{FF2B5EF4-FFF2-40B4-BE49-F238E27FC236}">
                <a16:creationId xmlns:a16="http://schemas.microsoft.com/office/drawing/2014/main" id="{5D8E7169-2CAA-4534-A033-6207F08048C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257800" cy="495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 = Σ premios horarios - TNC - errores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 horaria = Σ unidades logísticas procesadas en la hora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 parcial = minutos del segmento / 60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proporcional del segmento = target horario × segmento parcial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proporcional del segmento = premio horario × segmento parcial</a:t>
            </a:r>
          </a:p>
        </p:txBody>
      </p:sp>
      <p:sp>
        <p:nvSpPr>
          <p:cNvPr id="3" name="right">
            <a:extLst>
              <a:ext uri="{FF2B5EF4-FFF2-40B4-BE49-F238E27FC236}">
                <a16:creationId xmlns:a16="http://schemas.microsoft.com/office/drawing/2014/main" id="{7526F388-0EF5-4806-8D84-FBCB82959AA9}"/>
              </a:ext>
            </a:extLst>
          </p:cNvPr>
          <p:cNvSpPr>
            <a:spLocks noGrp="1"/>
          </p:cNvSpPr>
          <p:nvPr/>
        </p:nvSpPr>
        <p:spPr>
          <a:xfrm>
            <a:off x="6400800" y="1200150"/>
            <a:ext cx="5143500" cy="495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grupal = bolsa grupal × participación individual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grupal = premio mínimo horario × cantidad de operarios × factor colchón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total diario = pago individual diario + pago grupal individual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 equivalente grupal = Σ producción sector × equivalencia sector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 grupal: producción equivalente grupal ≥ target equivalente del turno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Participación individual grupal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 equivalente individual / producción equivalente grupal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Distribución grupal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grupal × participación individual grupal</a:t>
            </a:r>
          </a:p>
        </p:txBody>
      </p:sp>
    </p:spTree>
    <p:extLst>
      <p:ext uri="{BB962C8B-B14F-4D97-AF65-F5344CB8AC3E}">
        <p14:creationId xmlns:p14="http://schemas.microsoft.com/office/powerpoint/2010/main" val="65472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8A64D694-40F9-44AC-92E3-305D404A5DFA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Picking — tablas sectoriales explícitas</a:t>
            </a:r>
          </a:p>
        </p:txBody>
      </p:sp>
      <p:sp>
        <p:nvSpPr>
          <p:cNvPr id="2" name="Sector AL-title">
            <a:extLst>
              <a:ext uri="{FF2B5EF4-FFF2-40B4-BE49-F238E27FC236}">
                <a16:creationId xmlns:a16="http://schemas.microsoft.com/office/drawing/2014/main" id="{FDA58FD6-2B28-4A1B-A0BB-5465DC53635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AL</a:t>
            </a:r>
          </a:p>
        </p:txBody>
      </p:sp>
      <p:sp>
        <p:nvSpPr>
          <p:cNvPr id="3" name="Sector AL-subtitle">
            <a:extLst>
              <a:ext uri="{FF2B5EF4-FFF2-40B4-BE49-F238E27FC236}">
                <a16:creationId xmlns:a16="http://schemas.microsoft.com/office/drawing/2014/main" id="{048FA189-E379-4F56-9D10-C2B8972F64B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A2-title">
            <a:extLst>
              <a:ext uri="{FF2B5EF4-FFF2-40B4-BE49-F238E27FC236}">
                <a16:creationId xmlns:a16="http://schemas.microsoft.com/office/drawing/2014/main" id="{F92217AD-5870-4AC2-B965-DE6AA6D9271B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A2</a:t>
            </a:r>
          </a:p>
        </p:txBody>
      </p:sp>
      <p:sp>
        <p:nvSpPr>
          <p:cNvPr id="6" name="Sector A2-subtitle">
            <a:extLst>
              <a:ext uri="{FF2B5EF4-FFF2-40B4-BE49-F238E27FC236}">
                <a16:creationId xmlns:a16="http://schemas.microsoft.com/office/drawing/2014/main" id="{08079F3D-1FDF-486D-9C9F-2AFC275F36BF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A3-title">
            <a:extLst>
              <a:ext uri="{FF2B5EF4-FFF2-40B4-BE49-F238E27FC236}">
                <a16:creationId xmlns:a16="http://schemas.microsoft.com/office/drawing/2014/main" id="{67C29FA7-26D0-43CE-8ECC-AC21859E0577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A3</a:t>
            </a:r>
          </a:p>
        </p:txBody>
      </p:sp>
      <p:sp>
        <p:nvSpPr>
          <p:cNvPr id="9" name="Sector A3-subtitle">
            <a:extLst>
              <a:ext uri="{FF2B5EF4-FFF2-40B4-BE49-F238E27FC236}">
                <a16:creationId xmlns:a16="http://schemas.microsoft.com/office/drawing/2014/main" id="{366C70DA-0161-48F4-B924-60413BCD0FAF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0,93 | TN 18,5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80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189506BE-E966-4790-BA62-B35968CE0F44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Picking — tablas sectoriales explícitas</a:t>
            </a:r>
          </a:p>
        </p:txBody>
      </p:sp>
      <p:sp>
        <p:nvSpPr>
          <p:cNvPr id="2" name="Sector A4-title">
            <a:extLst>
              <a:ext uri="{FF2B5EF4-FFF2-40B4-BE49-F238E27FC236}">
                <a16:creationId xmlns:a16="http://schemas.microsoft.com/office/drawing/2014/main" id="{32E1BA0C-72F6-44F9-A1E3-531E430EA5C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A4</a:t>
            </a:r>
          </a:p>
        </p:txBody>
      </p:sp>
      <p:sp>
        <p:nvSpPr>
          <p:cNvPr id="3" name="Sector A4-subtitle">
            <a:extLst>
              <a:ext uri="{FF2B5EF4-FFF2-40B4-BE49-F238E27FC236}">
                <a16:creationId xmlns:a16="http://schemas.microsoft.com/office/drawing/2014/main" id="{26AE3588-06EA-4FBD-AD14-8458F563280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0,81 | TN 16,1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AS-title">
            <a:extLst>
              <a:ext uri="{FF2B5EF4-FFF2-40B4-BE49-F238E27FC236}">
                <a16:creationId xmlns:a16="http://schemas.microsoft.com/office/drawing/2014/main" id="{2AE38813-7B0D-4CA6-A9C9-8CF348820068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AS</a:t>
            </a:r>
          </a:p>
        </p:txBody>
      </p:sp>
      <p:sp>
        <p:nvSpPr>
          <p:cNvPr id="6" name="Sector AS-subtitle">
            <a:extLst>
              <a:ext uri="{FF2B5EF4-FFF2-40B4-BE49-F238E27FC236}">
                <a16:creationId xmlns:a16="http://schemas.microsoft.com/office/drawing/2014/main" id="{91543614-9DE4-4E2F-9C02-342F03D1FDB1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B1-title">
            <a:extLst>
              <a:ext uri="{FF2B5EF4-FFF2-40B4-BE49-F238E27FC236}">
                <a16:creationId xmlns:a16="http://schemas.microsoft.com/office/drawing/2014/main" id="{65EB3293-46B1-4EF4-940C-82DC73718D24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B1</a:t>
            </a:r>
          </a:p>
        </p:txBody>
      </p:sp>
      <p:sp>
        <p:nvSpPr>
          <p:cNvPr id="9" name="Sector B1-subtitle">
            <a:extLst>
              <a:ext uri="{FF2B5EF4-FFF2-40B4-BE49-F238E27FC236}">
                <a16:creationId xmlns:a16="http://schemas.microsoft.com/office/drawing/2014/main" id="{00C4780B-F257-46C8-A836-766C6D7C70D3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7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8699F3FC-AC87-4562-B366-0D4824225C4B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Picking — tablas sectoriales explícitas</a:t>
            </a:r>
          </a:p>
        </p:txBody>
      </p:sp>
      <p:sp>
        <p:nvSpPr>
          <p:cNvPr id="2" name="Sector B2-title">
            <a:extLst>
              <a:ext uri="{FF2B5EF4-FFF2-40B4-BE49-F238E27FC236}">
                <a16:creationId xmlns:a16="http://schemas.microsoft.com/office/drawing/2014/main" id="{820DFBE2-F7B7-4602-BFF1-656A9E9DBA7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B2</a:t>
            </a:r>
          </a:p>
        </p:txBody>
      </p:sp>
      <p:sp>
        <p:nvSpPr>
          <p:cNvPr id="3" name="Sector B2-subtitle">
            <a:extLst>
              <a:ext uri="{FF2B5EF4-FFF2-40B4-BE49-F238E27FC236}">
                <a16:creationId xmlns:a16="http://schemas.microsoft.com/office/drawing/2014/main" id="{B67663BB-4C8B-4365-A6A2-594716758C8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0,84 | TN 16,7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B3-title">
            <a:extLst>
              <a:ext uri="{FF2B5EF4-FFF2-40B4-BE49-F238E27FC236}">
                <a16:creationId xmlns:a16="http://schemas.microsoft.com/office/drawing/2014/main" id="{25808908-93DB-4C96-AD5C-6B93661B79CE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B3</a:t>
            </a:r>
          </a:p>
        </p:txBody>
      </p:sp>
      <p:sp>
        <p:nvSpPr>
          <p:cNvPr id="6" name="Sector B3-subtitle">
            <a:extLst>
              <a:ext uri="{FF2B5EF4-FFF2-40B4-BE49-F238E27FC236}">
                <a16:creationId xmlns:a16="http://schemas.microsoft.com/office/drawing/2014/main" id="{F04D85D3-BA4D-41C5-8428-452445ED7D49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0,85 | TN 16,9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BE-title">
            <a:extLst>
              <a:ext uri="{FF2B5EF4-FFF2-40B4-BE49-F238E27FC236}">
                <a16:creationId xmlns:a16="http://schemas.microsoft.com/office/drawing/2014/main" id="{080D8BBF-79C8-42E1-BC91-E78BE394CDA6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BE</a:t>
            </a:r>
          </a:p>
        </p:txBody>
      </p:sp>
      <p:sp>
        <p:nvSpPr>
          <p:cNvPr id="9" name="Sector BE-subtitle">
            <a:extLst>
              <a:ext uri="{FF2B5EF4-FFF2-40B4-BE49-F238E27FC236}">
                <a16:creationId xmlns:a16="http://schemas.microsoft.com/office/drawing/2014/main" id="{A97D1AC4-189D-4A27-BDEC-9BD5A2F4EFC5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22,6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88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2B66E71A-23AA-4879-ABB8-AF9F3CCE25E6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Picking — tablas sectoriales explícitas</a:t>
            </a:r>
          </a:p>
        </p:txBody>
      </p:sp>
      <p:sp>
        <p:nvSpPr>
          <p:cNvPr id="2" name="Sector CA-title">
            <a:extLst>
              <a:ext uri="{FF2B5EF4-FFF2-40B4-BE49-F238E27FC236}">
                <a16:creationId xmlns:a16="http://schemas.microsoft.com/office/drawing/2014/main" id="{997229B8-25C1-46F1-B8D0-53483978478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CA</a:t>
            </a:r>
          </a:p>
        </p:txBody>
      </p:sp>
      <p:sp>
        <p:nvSpPr>
          <p:cNvPr id="3" name="Sector CA-subtitle">
            <a:extLst>
              <a:ext uri="{FF2B5EF4-FFF2-40B4-BE49-F238E27FC236}">
                <a16:creationId xmlns:a16="http://schemas.microsoft.com/office/drawing/2014/main" id="{CCC72538-6EC3-46F7-83E6-02AD8CB1A2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0,86 | TN 17,0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CH-title">
            <a:extLst>
              <a:ext uri="{FF2B5EF4-FFF2-40B4-BE49-F238E27FC236}">
                <a16:creationId xmlns:a16="http://schemas.microsoft.com/office/drawing/2014/main" id="{B72E26C3-E0AD-4CF9-9C53-9AF23E94559B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CH</a:t>
            </a:r>
          </a:p>
        </p:txBody>
      </p:sp>
      <p:sp>
        <p:nvSpPr>
          <p:cNvPr id="6" name="Sector CH-subtitle">
            <a:extLst>
              <a:ext uri="{FF2B5EF4-FFF2-40B4-BE49-F238E27FC236}">
                <a16:creationId xmlns:a16="http://schemas.microsoft.com/office/drawing/2014/main" id="{BCE82C37-19AA-44C7-B8D9-AB81AF15DE73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CP-title">
            <a:extLst>
              <a:ext uri="{FF2B5EF4-FFF2-40B4-BE49-F238E27FC236}">
                <a16:creationId xmlns:a16="http://schemas.microsoft.com/office/drawing/2014/main" id="{8AAE135B-862D-4E50-A9F5-892E40075EA2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CP</a:t>
            </a:r>
          </a:p>
        </p:txBody>
      </p:sp>
      <p:sp>
        <p:nvSpPr>
          <p:cNvPr id="9" name="Sector CP-subtitle">
            <a:extLst>
              <a:ext uri="{FF2B5EF4-FFF2-40B4-BE49-F238E27FC236}">
                <a16:creationId xmlns:a16="http://schemas.microsoft.com/office/drawing/2014/main" id="{F8134F96-495C-4196-82FD-93893CB3684A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1,15 | sin TN histórico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33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AB7154A9-FF90-45B3-BDF3-4C4AD89D3857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12. Picking — tablas sectoriales explícitas</a:t>
            </a:r>
          </a:p>
        </p:txBody>
      </p:sp>
      <p:sp>
        <p:nvSpPr>
          <p:cNvPr id="2" name="Sector HA-title">
            <a:extLst>
              <a:ext uri="{FF2B5EF4-FFF2-40B4-BE49-F238E27FC236}">
                <a16:creationId xmlns:a16="http://schemas.microsoft.com/office/drawing/2014/main" id="{C8129479-61D2-46AC-8B94-25DF29D28EB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HA</a:t>
            </a:r>
          </a:p>
        </p:txBody>
      </p:sp>
      <p:sp>
        <p:nvSpPr>
          <p:cNvPr id="3" name="Sector HA-subtitle">
            <a:extLst>
              <a:ext uri="{FF2B5EF4-FFF2-40B4-BE49-F238E27FC236}">
                <a16:creationId xmlns:a16="http://schemas.microsoft.com/office/drawing/2014/main" id="{1395BBBB-F9E4-4E57-A65B-4FB2D0F349D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1,01 | sin TN histórico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IN-title">
            <a:extLst>
              <a:ext uri="{FF2B5EF4-FFF2-40B4-BE49-F238E27FC236}">
                <a16:creationId xmlns:a16="http://schemas.microsoft.com/office/drawing/2014/main" id="{4EEE1437-5DB1-4A09-A424-7F53A38AE20E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IN</a:t>
            </a:r>
          </a:p>
        </p:txBody>
      </p:sp>
      <p:sp>
        <p:nvSpPr>
          <p:cNvPr id="6" name="Sector IN-subtitle">
            <a:extLst>
              <a:ext uri="{FF2B5EF4-FFF2-40B4-BE49-F238E27FC236}">
                <a16:creationId xmlns:a16="http://schemas.microsoft.com/office/drawing/2014/main" id="{A5DDF9AE-8141-48D4-813D-29C78072FE00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22,4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KC-title">
            <a:extLst>
              <a:ext uri="{FF2B5EF4-FFF2-40B4-BE49-F238E27FC236}">
                <a16:creationId xmlns:a16="http://schemas.microsoft.com/office/drawing/2014/main" id="{FECCC749-7B48-48D1-9D63-062ABFA53245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KC</a:t>
            </a:r>
          </a:p>
        </p:txBody>
      </p:sp>
      <p:sp>
        <p:nvSpPr>
          <p:cNvPr id="9" name="Sector KC-subtitle">
            <a:extLst>
              <a:ext uri="{FF2B5EF4-FFF2-40B4-BE49-F238E27FC236}">
                <a16:creationId xmlns:a16="http://schemas.microsoft.com/office/drawing/2014/main" id="{BA24652B-1F19-42A1-ABBC-EEEC904E4A35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9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E5E75864-0D9B-4094-B878-6361339480C9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13. Picking — tablas sectoriales explícitas</a:t>
            </a:r>
          </a:p>
        </p:txBody>
      </p:sp>
      <p:sp>
        <p:nvSpPr>
          <p:cNvPr id="2" name="Sector KN-title">
            <a:extLst>
              <a:ext uri="{FF2B5EF4-FFF2-40B4-BE49-F238E27FC236}">
                <a16:creationId xmlns:a16="http://schemas.microsoft.com/office/drawing/2014/main" id="{D68A5DFB-8084-42FE-BC9E-F23CB1DD27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KN</a:t>
            </a:r>
          </a:p>
        </p:txBody>
      </p:sp>
      <p:sp>
        <p:nvSpPr>
          <p:cNvPr id="3" name="Sector KN-subtitle">
            <a:extLst>
              <a:ext uri="{FF2B5EF4-FFF2-40B4-BE49-F238E27FC236}">
                <a16:creationId xmlns:a16="http://schemas.microsoft.com/office/drawing/2014/main" id="{04B9D4D3-06CB-4352-963C-537B8B0BE06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19,9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KT-title">
            <a:extLst>
              <a:ext uri="{FF2B5EF4-FFF2-40B4-BE49-F238E27FC236}">
                <a16:creationId xmlns:a16="http://schemas.microsoft.com/office/drawing/2014/main" id="{A4F7CD9A-7D48-4060-B394-F6B1AC1A7DBA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KT</a:t>
            </a:r>
          </a:p>
        </p:txBody>
      </p:sp>
      <p:sp>
        <p:nvSpPr>
          <p:cNvPr id="6" name="Sector KT-subtitle">
            <a:extLst>
              <a:ext uri="{FF2B5EF4-FFF2-40B4-BE49-F238E27FC236}">
                <a16:creationId xmlns:a16="http://schemas.microsoft.com/office/drawing/2014/main" id="{A263C2E7-B7D5-4A24-9A58-94EC5A48FF27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1,19 | sin TN histórico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NA-title">
            <a:extLst>
              <a:ext uri="{FF2B5EF4-FFF2-40B4-BE49-F238E27FC236}">
                <a16:creationId xmlns:a16="http://schemas.microsoft.com/office/drawing/2014/main" id="{812BD5C9-301E-4256-825A-3AA806EDA2D0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NA</a:t>
            </a:r>
          </a:p>
        </p:txBody>
      </p:sp>
      <p:sp>
        <p:nvSpPr>
          <p:cNvPr id="9" name="Sector NA-subtitle">
            <a:extLst>
              <a:ext uri="{FF2B5EF4-FFF2-40B4-BE49-F238E27FC236}">
                <a16:creationId xmlns:a16="http://schemas.microsoft.com/office/drawing/2014/main" id="{F14C8ADA-28EC-448C-A88E-14E020D02AE2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18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BBB3A98-ACA3-4822-8CEE-E467A5ED298E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14. Picking — tablas sectoriales explícitas</a:t>
            </a:r>
          </a:p>
        </p:txBody>
      </p:sp>
      <p:sp>
        <p:nvSpPr>
          <p:cNvPr id="2" name="Sector NP-title">
            <a:extLst>
              <a:ext uri="{FF2B5EF4-FFF2-40B4-BE49-F238E27FC236}">
                <a16:creationId xmlns:a16="http://schemas.microsoft.com/office/drawing/2014/main" id="{2545A32E-E407-4ABF-82E6-E77A87CB9419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NP</a:t>
            </a:r>
          </a:p>
        </p:txBody>
      </p:sp>
      <p:sp>
        <p:nvSpPr>
          <p:cNvPr id="3" name="Sector NP-subtitle">
            <a:extLst>
              <a:ext uri="{FF2B5EF4-FFF2-40B4-BE49-F238E27FC236}">
                <a16:creationId xmlns:a16="http://schemas.microsoft.com/office/drawing/2014/main" id="{2475DDAD-DF42-49A8-95B3-FB8D64AF09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0,71 | TN 14,1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OF-title">
            <a:extLst>
              <a:ext uri="{FF2B5EF4-FFF2-40B4-BE49-F238E27FC236}">
                <a16:creationId xmlns:a16="http://schemas.microsoft.com/office/drawing/2014/main" id="{C0AD1381-FEA2-482B-8B7D-5329C4158407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OF</a:t>
            </a:r>
          </a:p>
        </p:txBody>
      </p:sp>
      <p:sp>
        <p:nvSpPr>
          <p:cNvPr id="6" name="Sector OF-subtitle">
            <a:extLst>
              <a:ext uri="{FF2B5EF4-FFF2-40B4-BE49-F238E27FC236}">
                <a16:creationId xmlns:a16="http://schemas.microsoft.com/office/drawing/2014/main" id="{31853678-DF0B-43A3-8434-DDE89CEC3D16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0,96 | TN 19,1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P1-title">
            <a:extLst>
              <a:ext uri="{FF2B5EF4-FFF2-40B4-BE49-F238E27FC236}">
                <a16:creationId xmlns:a16="http://schemas.microsoft.com/office/drawing/2014/main" id="{1E797A7B-6491-4EE1-A62A-C11DD928D724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P1</a:t>
            </a:r>
          </a:p>
        </p:txBody>
      </p:sp>
      <p:sp>
        <p:nvSpPr>
          <p:cNvPr id="9" name="Sector P1-subtitle">
            <a:extLst>
              <a:ext uri="{FF2B5EF4-FFF2-40B4-BE49-F238E27FC236}">
                <a16:creationId xmlns:a16="http://schemas.microsoft.com/office/drawing/2014/main" id="{9F5655D9-F0D1-4DD4-9CE3-590648ADFE30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1,12 | TN 22,3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32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FD3DCA24-2505-4BF7-B2F0-C5EE919B71AA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15. Picking — tablas sectoriales explícitas</a:t>
            </a:r>
          </a:p>
        </p:txBody>
      </p:sp>
      <p:sp>
        <p:nvSpPr>
          <p:cNvPr id="2" name="Sector P3-title">
            <a:extLst>
              <a:ext uri="{FF2B5EF4-FFF2-40B4-BE49-F238E27FC236}">
                <a16:creationId xmlns:a16="http://schemas.microsoft.com/office/drawing/2014/main" id="{13E2230C-1E8B-430A-A392-49C70249BC9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P3</a:t>
            </a:r>
          </a:p>
        </p:txBody>
      </p:sp>
      <p:sp>
        <p:nvSpPr>
          <p:cNvPr id="3" name="Sector P3-subtitle">
            <a:extLst>
              <a:ext uri="{FF2B5EF4-FFF2-40B4-BE49-F238E27FC236}">
                <a16:creationId xmlns:a16="http://schemas.microsoft.com/office/drawing/2014/main" id="{C8B2F6DE-D8A4-4E98-91D9-DCFF44E696A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0,68 | TN 13,6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PE-title">
            <a:extLst>
              <a:ext uri="{FF2B5EF4-FFF2-40B4-BE49-F238E27FC236}">
                <a16:creationId xmlns:a16="http://schemas.microsoft.com/office/drawing/2014/main" id="{A4C3D5B3-D273-4647-B968-2FD969501881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PE</a:t>
            </a:r>
          </a:p>
        </p:txBody>
      </p:sp>
      <p:sp>
        <p:nvSpPr>
          <p:cNvPr id="6" name="Sector PE-subtitle">
            <a:extLst>
              <a:ext uri="{FF2B5EF4-FFF2-40B4-BE49-F238E27FC236}">
                <a16:creationId xmlns:a16="http://schemas.microsoft.com/office/drawing/2014/main" id="{E6972354-865A-4910-B47F-2205D17E3692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22,5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SF-title">
            <a:extLst>
              <a:ext uri="{FF2B5EF4-FFF2-40B4-BE49-F238E27FC236}">
                <a16:creationId xmlns:a16="http://schemas.microsoft.com/office/drawing/2014/main" id="{16148F3C-560E-420B-BA43-B393F136A1A2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SF</a:t>
            </a:r>
          </a:p>
        </p:txBody>
      </p:sp>
      <p:sp>
        <p:nvSpPr>
          <p:cNvPr id="9" name="Sector SF-subtitle">
            <a:extLst>
              <a:ext uri="{FF2B5EF4-FFF2-40B4-BE49-F238E27FC236}">
                <a16:creationId xmlns:a16="http://schemas.microsoft.com/office/drawing/2014/main" id="{E2F016A5-EA6C-447B-8D87-F66144869C00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0,99 | TN 19,6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173,9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31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F6F845C-EE94-4A8A-A310-4481A2EBC74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16. Picking — tablas sectoriales explícitas</a:t>
            </a:r>
          </a:p>
        </p:txBody>
      </p:sp>
      <p:sp>
        <p:nvSpPr>
          <p:cNvPr id="2" name="Sector AM-title">
            <a:extLst>
              <a:ext uri="{FF2B5EF4-FFF2-40B4-BE49-F238E27FC236}">
                <a16:creationId xmlns:a16="http://schemas.microsoft.com/office/drawing/2014/main" id="{5B8A7A93-2311-4131-9556-59B013A2E66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AM</a:t>
            </a:r>
          </a:p>
        </p:txBody>
      </p:sp>
      <p:sp>
        <p:nvSpPr>
          <p:cNvPr id="3" name="Sector AM-subtitle">
            <a:extLst>
              <a:ext uri="{FF2B5EF4-FFF2-40B4-BE49-F238E27FC236}">
                <a16:creationId xmlns:a16="http://schemas.microsoft.com/office/drawing/2014/main" id="{692ABE5B-A2BA-4EB9-85E3-068AFE3DA09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21,9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B5-title">
            <a:extLst>
              <a:ext uri="{FF2B5EF4-FFF2-40B4-BE49-F238E27FC236}">
                <a16:creationId xmlns:a16="http://schemas.microsoft.com/office/drawing/2014/main" id="{0EDAB71C-C435-4895-93D9-975EB6E824AF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B5</a:t>
            </a:r>
          </a:p>
        </p:txBody>
      </p:sp>
      <p:sp>
        <p:nvSpPr>
          <p:cNvPr id="6" name="Sector B5-subtitle">
            <a:extLst>
              <a:ext uri="{FF2B5EF4-FFF2-40B4-BE49-F238E27FC236}">
                <a16:creationId xmlns:a16="http://schemas.microsoft.com/office/drawing/2014/main" id="{AE3C4A39-0E7E-48DF-B17C-7503E58D623D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CU-title">
            <a:extLst>
              <a:ext uri="{FF2B5EF4-FFF2-40B4-BE49-F238E27FC236}">
                <a16:creationId xmlns:a16="http://schemas.microsoft.com/office/drawing/2014/main" id="{C0B5307D-96A1-4B35-B2F5-30A23087591F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CU</a:t>
            </a:r>
          </a:p>
        </p:txBody>
      </p:sp>
      <p:sp>
        <p:nvSpPr>
          <p:cNvPr id="9" name="Sector CU-subtitle">
            <a:extLst>
              <a:ext uri="{FF2B5EF4-FFF2-40B4-BE49-F238E27FC236}">
                <a16:creationId xmlns:a16="http://schemas.microsoft.com/office/drawing/2014/main" id="{A8798482-1E1C-4D81-B185-6AE6E3DFBEBF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61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2E7A3DE2-1E5C-4EE2-AE94-2B6DF5C9094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17. Picking — tablas sectoriales explícitas</a:t>
            </a:r>
          </a:p>
        </p:txBody>
      </p:sp>
      <p:sp>
        <p:nvSpPr>
          <p:cNvPr id="2" name="Sector EC-title">
            <a:extLst>
              <a:ext uri="{FF2B5EF4-FFF2-40B4-BE49-F238E27FC236}">
                <a16:creationId xmlns:a16="http://schemas.microsoft.com/office/drawing/2014/main" id="{899ED782-1D21-441A-9231-7FBC4E1F26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EC</a:t>
            </a:r>
          </a:p>
        </p:txBody>
      </p:sp>
      <p:sp>
        <p:nvSpPr>
          <p:cNvPr id="3" name="Sector EC-subtitle">
            <a:extLst>
              <a:ext uri="{FF2B5EF4-FFF2-40B4-BE49-F238E27FC236}">
                <a16:creationId xmlns:a16="http://schemas.microsoft.com/office/drawing/2014/main" id="{BF9C7645-011F-4C47-8728-51C674B9999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1,02 | TN 19,2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EP-title">
            <a:extLst>
              <a:ext uri="{FF2B5EF4-FFF2-40B4-BE49-F238E27FC236}">
                <a16:creationId xmlns:a16="http://schemas.microsoft.com/office/drawing/2014/main" id="{10761937-5F91-4D5A-AF41-CC12325FD9F8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EP</a:t>
            </a:r>
          </a:p>
        </p:txBody>
      </p:sp>
      <p:sp>
        <p:nvSpPr>
          <p:cNvPr id="6" name="Sector EP-subtitle">
            <a:extLst>
              <a:ext uri="{FF2B5EF4-FFF2-40B4-BE49-F238E27FC236}">
                <a16:creationId xmlns:a16="http://schemas.microsoft.com/office/drawing/2014/main" id="{2C161335-32D9-484C-B647-D22ECD700057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0,90 | TN 18,0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JC-title">
            <a:extLst>
              <a:ext uri="{FF2B5EF4-FFF2-40B4-BE49-F238E27FC236}">
                <a16:creationId xmlns:a16="http://schemas.microsoft.com/office/drawing/2014/main" id="{B3AE37C0-F69F-4A50-91DA-7FE8D995402C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JC</a:t>
            </a:r>
          </a:p>
        </p:txBody>
      </p:sp>
      <p:sp>
        <p:nvSpPr>
          <p:cNvPr id="9" name="Sector JC-subtitle">
            <a:extLst>
              <a:ext uri="{FF2B5EF4-FFF2-40B4-BE49-F238E27FC236}">
                <a16:creationId xmlns:a16="http://schemas.microsoft.com/office/drawing/2014/main" id="{EDB1BAB4-BDA7-4562-83A8-1E339C8BB2A8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0,79 | TN 15,7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366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A51146E2-6B34-42AB-9644-D6013FEC5429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18. Picking — tablas sectoriales explícitas</a:t>
            </a:r>
          </a:p>
        </p:txBody>
      </p:sp>
      <p:sp>
        <p:nvSpPr>
          <p:cNvPr id="2" name="Sector LB-title">
            <a:extLst>
              <a:ext uri="{FF2B5EF4-FFF2-40B4-BE49-F238E27FC236}">
                <a16:creationId xmlns:a16="http://schemas.microsoft.com/office/drawing/2014/main" id="{22085FE6-A229-4E51-92C6-7BBE9CDAB9A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LB</a:t>
            </a:r>
          </a:p>
        </p:txBody>
      </p:sp>
      <p:sp>
        <p:nvSpPr>
          <p:cNvPr id="3" name="Sector LB-subtitle">
            <a:extLst>
              <a:ext uri="{FF2B5EF4-FFF2-40B4-BE49-F238E27FC236}">
                <a16:creationId xmlns:a16="http://schemas.microsoft.com/office/drawing/2014/main" id="{AA08D06C-7E2A-446F-8DCA-4EF13A332B4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MU-title">
            <a:extLst>
              <a:ext uri="{FF2B5EF4-FFF2-40B4-BE49-F238E27FC236}">
                <a16:creationId xmlns:a16="http://schemas.microsoft.com/office/drawing/2014/main" id="{486C3C47-8B0A-4600-A08A-889E8160FE56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MU</a:t>
            </a:r>
          </a:p>
        </p:txBody>
      </p:sp>
      <p:sp>
        <p:nvSpPr>
          <p:cNvPr id="6" name="Sector MU-subtitle">
            <a:extLst>
              <a:ext uri="{FF2B5EF4-FFF2-40B4-BE49-F238E27FC236}">
                <a16:creationId xmlns:a16="http://schemas.microsoft.com/office/drawing/2014/main" id="{E6E7B580-2561-4CE2-8BD1-8CE79961A220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1,88 | TN 37,4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N1-title">
            <a:extLst>
              <a:ext uri="{FF2B5EF4-FFF2-40B4-BE49-F238E27FC236}">
                <a16:creationId xmlns:a16="http://schemas.microsoft.com/office/drawing/2014/main" id="{F755EDD1-FAA8-4FFB-B0D0-0FEFFC7249C0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N1</a:t>
            </a:r>
          </a:p>
        </p:txBody>
      </p:sp>
      <p:sp>
        <p:nvSpPr>
          <p:cNvPr id="9" name="Sector N1-subtitle">
            <a:extLst>
              <a:ext uri="{FF2B5EF4-FFF2-40B4-BE49-F238E27FC236}">
                <a16:creationId xmlns:a16="http://schemas.microsoft.com/office/drawing/2014/main" id="{4BB0DB65-0C5A-4951-9B75-3E3420F62769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0,33 | TN 6,6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25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4946C429-F4BB-4DB7-929C-327275480737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19. Picking — tablas sectoriales explícitas</a:t>
            </a:r>
          </a:p>
        </p:txBody>
      </p:sp>
      <p:sp>
        <p:nvSpPr>
          <p:cNvPr id="2" name="Sector N2-title">
            <a:extLst>
              <a:ext uri="{FF2B5EF4-FFF2-40B4-BE49-F238E27FC236}">
                <a16:creationId xmlns:a16="http://schemas.microsoft.com/office/drawing/2014/main" id="{853C3B42-E1BD-444B-84F6-1FF404E55E9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N2</a:t>
            </a:r>
          </a:p>
        </p:txBody>
      </p:sp>
      <p:sp>
        <p:nvSpPr>
          <p:cNvPr id="3" name="Sector N2-subtitle">
            <a:extLst>
              <a:ext uri="{FF2B5EF4-FFF2-40B4-BE49-F238E27FC236}">
                <a16:creationId xmlns:a16="http://schemas.microsoft.com/office/drawing/2014/main" id="{DE91E693-95DA-423E-95F1-A2CC1AA10DB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0,46 | TN 9,1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NS-title">
            <a:extLst>
              <a:ext uri="{FF2B5EF4-FFF2-40B4-BE49-F238E27FC236}">
                <a16:creationId xmlns:a16="http://schemas.microsoft.com/office/drawing/2014/main" id="{3BC00B71-6304-4C8F-B491-31A2A7161EC0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NS</a:t>
            </a:r>
          </a:p>
        </p:txBody>
      </p:sp>
      <p:sp>
        <p:nvSpPr>
          <p:cNvPr id="6" name="Sector NS-subtitle">
            <a:extLst>
              <a:ext uri="{FF2B5EF4-FFF2-40B4-BE49-F238E27FC236}">
                <a16:creationId xmlns:a16="http://schemas.microsoft.com/office/drawing/2014/main" id="{EA383C79-2075-42A3-8326-3DF1BE4CBBA6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NT-title">
            <a:extLst>
              <a:ext uri="{FF2B5EF4-FFF2-40B4-BE49-F238E27FC236}">
                <a16:creationId xmlns:a16="http://schemas.microsoft.com/office/drawing/2014/main" id="{A5598735-E962-4454-9C71-E738E1573FEA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NT</a:t>
            </a:r>
          </a:p>
        </p:txBody>
      </p:sp>
      <p:sp>
        <p:nvSpPr>
          <p:cNvPr id="9" name="Sector NT-subtitle">
            <a:extLst>
              <a:ext uri="{FF2B5EF4-FFF2-40B4-BE49-F238E27FC236}">
                <a16:creationId xmlns:a16="http://schemas.microsoft.com/office/drawing/2014/main" id="{EB61084F-5571-41F4-8DBA-73ADF0F9854F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1,60 | TN 31,1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292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E3D23C6-DF0B-4B62-9323-6BC7FEC96FFE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20. Picking — tablas sectoriales explícitas</a:t>
            </a:r>
          </a:p>
        </p:txBody>
      </p:sp>
      <p:sp>
        <p:nvSpPr>
          <p:cNvPr id="2" name="Sector PI-title">
            <a:extLst>
              <a:ext uri="{FF2B5EF4-FFF2-40B4-BE49-F238E27FC236}">
                <a16:creationId xmlns:a16="http://schemas.microsoft.com/office/drawing/2014/main" id="{FEF0FDDF-7ECA-480C-BD8A-B2DE9990CAA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PI</a:t>
            </a:r>
          </a:p>
        </p:txBody>
      </p:sp>
      <p:sp>
        <p:nvSpPr>
          <p:cNvPr id="3" name="Sector PI-subtitle">
            <a:extLst>
              <a:ext uri="{FF2B5EF4-FFF2-40B4-BE49-F238E27FC236}">
                <a16:creationId xmlns:a16="http://schemas.microsoft.com/office/drawing/2014/main" id="{57A35149-16B6-4C72-9A13-96559B007DC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1,64 | TN 32,6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PT-title">
            <a:extLst>
              <a:ext uri="{FF2B5EF4-FFF2-40B4-BE49-F238E27FC236}">
                <a16:creationId xmlns:a16="http://schemas.microsoft.com/office/drawing/2014/main" id="{13B3AA48-A81F-46CC-9978-95A30150037F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PT</a:t>
            </a:r>
          </a:p>
        </p:txBody>
      </p:sp>
      <p:sp>
        <p:nvSpPr>
          <p:cNvPr id="6" name="Sector PT-subtitle">
            <a:extLst>
              <a:ext uri="{FF2B5EF4-FFF2-40B4-BE49-F238E27FC236}">
                <a16:creationId xmlns:a16="http://schemas.microsoft.com/office/drawing/2014/main" id="{2FE539EB-DF23-4B1A-B588-8FF45B965043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0,30 | TN 5,9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TV-title">
            <a:extLst>
              <a:ext uri="{FF2B5EF4-FFF2-40B4-BE49-F238E27FC236}">
                <a16:creationId xmlns:a16="http://schemas.microsoft.com/office/drawing/2014/main" id="{912FF612-1C25-41AA-8EC2-26242CE03F51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TV</a:t>
            </a:r>
          </a:p>
        </p:txBody>
      </p:sp>
      <p:sp>
        <p:nvSpPr>
          <p:cNvPr id="9" name="Sector TV-subtitle">
            <a:extLst>
              <a:ext uri="{FF2B5EF4-FFF2-40B4-BE49-F238E27FC236}">
                <a16:creationId xmlns:a16="http://schemas.microsoft.com/office/drawing/2014/main" id="{F51F3685-AD70-4576-871A-81F983B5DD2E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60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D3316964-7E77-4FFB-AF44-01DBC40FD922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21. Picking — tablas sectoriales explícitas</a:t>
            </a:r>
          </a:p>
        </p:txBody>
      </p:sp>
      <p:sp>
        <p:nvSpPr>
          <p:cNvPr id="2" name="Sector VA-title">
            <a:extLst>
              <a:ext uri="{FF2B5EF4-FFF2-40B4-BE49-F238E27FC236}">
                <a16:creationId xmlns:a16="http://schemas.microsoft.com/office/drawing/2014/main" id="{C858AC49-D9BE-435C-BB66-1132B78115B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VA</a:t>
            </a:r>
          </a:p>
        </p:txBody>
      </p:sp>
      <p:sp>
        <p:nvSpPr>
          <p:cNvPr id="3" name="Sector VA-subtitle">
            <a:extLst>
              <a:ext uri="{FF2B5EF4-FFF2-40B4-BE49-F238E27FC236}">
                <a16:creationId xmlns:a16="http://schemas.microsoft.com/office/drawing/2014/main" id="{4482C292-9094-4006-9648-B965CB5D2B2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ector VN-title">
            <a:extLst>
              <a:ext uri="{FF2B5EF4-FFF2-40B4-BE49-F238E27FC236}">
                <a16:creationId xmlns:a16="http://schemas.microsoft.com/office/drawing/2014/main" id="{E7AE888B-A34B-4700-AA67-F34A21F2DF24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VN</a:t>
            </a:r>
          </a:p>
        </p:txBody>
      </p:sp>
      <p:sp>
        <p:nvSpPr>
          <p:cNvPr id="6" name="Sector VN-subtitle">
            <a:extLst>
              <a:ext uri="{FF2B5EF4-FFF2-40B4-BE49-F238E27FC236}">
                <a16:creationId xmlns:a16="http://schemas.microsoft.com/office/drawing/2014/main" id="{4F21357B-629A-4C63-9A52-787DCB5AB4D0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0,91 | sin TN histórico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ector VT-title">
            <a:extLst>
              <a:ext uri="{FF2B5EF4-FFF2-40B4-BE49-F238E27FC236}">
                <a16:creationId xmlns:a16="http://schemas.microsoft.com/office/drawing/2014/main" id="{42D583CB-6F78-4896-A2FC-C141B79787A1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VT</a:t>
            </a:r>
          </a:p>
        </p:txBody>
      </p:sp>
      <p:sp>
        <p:nvSpPr>
          <p:cNvPr id="9" name="Sector VT-subtitle">
            <a:extLst>
              <a:ext uri="{FF2B5EF4-FFF2-40B4-BE49-F238E27FC236}">
                <a16:creationId xmlns:a16="http://schemas.microsoft.com/office/drawing/2014/main" id="{7CBC3F83-95B2-4E47-87E4-70E155D29A5F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1,38 | TN 27,3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497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49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E372C16-06B2-4468-B8F0-00D263E2E43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22. Picking — tablas sectoriales explícitas</a:t>
            </a:r>
          </a:p>
        </p:txBody>
      </p:sp>
      <p:sp>
        <p:nvSpPr>
          <p:cNvPr id="2" name="Sector FB-title">
            <a:extLst>
              <a:ext uri="{FF2B5EF4-FFF2-40B4-BE49-F238E27FC236}">
                <a16:creationId xmlns:a16="http://schemas.microsoft.com/office/drawing/2014/main" id="{887A5965-D8C6-4F9B-B8A1-44FA58AB82B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FB</a:t>
            </a:r>
          </a:p>
        </p:txBody>
      </p:sp>
      <p:sp>
        <p:nvSpPr>
          <p:cNvPr id="3" name="Sector FB-subtitle">
            <a:extLst>
              <a:ext uri="{FF2B5EF4-FFF2-40B4-BE49-F238E27FC236}">
                <a16:creationId xmlns:a16="http://schemas.microsoft.com/office/drawing/2014/main" id="{08DF335D-490D-4344-B3A2-7D5B98AC284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15,9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tor BA-title">
            <a:extLst>
              <a:ext uri="{FF2B5EF4-FFF2-40B4-BE49-F238E27FC236}">
                <a16:creationId xmlns:a16="http://schemas.microsoft.com/office/drawing/2014/main" id="{960ADB3F-F05D-4802-8CBA-C3542E8DE7CC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BA</a:t>
            </a:r>
          </a:p>
        </p:txBody>
      </p:sp>
      <p:sp>
        <p:nvSpPr>
          <p:cNvPr id="6" name="Sector BA-subtitle">
            <a:extLst>
              <a:ext uri="{FF2B5EF4-FFF2-40B4-BE49-F238E27FC236}">
                <a16:creationId xmlns:a16="http://schemas.microsoft.com/office/drawing/2014/main" id="{87F8CEC0-8EEB-4927-8C3C-A40F354B7C54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or F1-title">
            <a:extLst>
              <a:ext uri="{FF2B5EF4-FFF2-40B4-BE49-F238E27FC236}">
                <a16:creationId xmlns:a16="http://schemas.microsoft.com/office/drawing/2014/main" id="{73EADB53-4E33-48AF-B66C-448A8319BC7A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F1</a:t>
            </a:r>
          </a:p>
        </p:txBody>
      </p:sp>
      <p:sp>
        <p:nvSpPr>
          <p:cNvPr id="9" name="Sector F1-subtitle">
            <a:extLst>
              <a:ext uri="{FF2B5EF4-FFF2-40B4-BE49-F238E27FC236}">
                <a16:creationId xmlns:a16="http://schemas.microsoft.com/office/drawing/2014/main" id="{496F4AED-3347-460F-B894-35D43E165415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19,6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45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131A38B-B45D-448B-BAB7-3B211BB526D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23. Picking — tablas sectoriales explícitas</a:t>
            </a:r>
          </a:p>
        </p:txBody>
      </p:sp>
      <p:sp>
        <p:nvSpPr>
          <p:cNvPr id="2" name="Sector F2-title">
            <a:extLst>
              <a:ext uri="{FF2B5EF4-FFF2-40B4-BE49-F238E27FC236}">
                <a16:creationId xmlns:a16="http://schemas.microsoft.com/office/drawing/2014/main" id="{4DA2C04A-3358-4526-866D-C7CE9AD2749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F2</a:t>
            </a:r>
          </a:p>
        </p:txBody>
      </p:sp>
      <p:sp>
        <p:nvSpPr>
          <p:cNvPr id="3" name="Sector F2-subtitle">
            <a:extLst>
              <a:ext uri="{FF2B5EF4-FFF2-40B4-BE49-F238E27FC236}">
                <a16:creationId xmlns:a16="http://schemas.microsoft.com/office/drawing/2014/main" id="{5C4C44BA-7D63-4495-B7E4-98C36C5E5EE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15,3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tor FC-title">
            <a:extLst>
              <a:ext uri="{FF2B5EF4-FFF2-40B4-BE49-F238E27FC236}">
                <a16:creationId xmlns:a16="http://schemas.microsoft.com/office/drawing/2014/main" id="{BB6098C4-83F9-4CEE-955C-CE2D6A5378A4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FC</a:t>
            </a:r>
          </a:p>
        </p:txBody>
      </p:sp>
      <p:sp>
        <p:nvSpPr>
          <p:cNvPr id="6" name="Sector FC-subtitle">
            <a:extLst>
              <a:ext uri="{FF2B5EF4-FFF2-40B4-BE49-F238E27FC236}">
                <a16:creationId xmlns:a16="http://schemas.microsoft.com/office/drawing/2014/main" id="{562D4E31-9946-4C7E-868C-8B453ED2F576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19,3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or VE-title">
            <a:extLst>
              <a:ext uri="{FF2B5EF4-FFF2-40B4-BE49-F238E27FC236}">
                <a16:creationId xmlns:a16="http://schemas.microsoft.com/office/drawing/2014/main" id="{8CC866EB-CA7D-43DE-8B17-92F0D0F55075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VE</a:t>
            </a:r>
          </a:p>
        </p:txBody>
      </p:sp>
      <p:sp>
        <p:nvSpPr>
          <p:cNvPr id="9" name="Sector VE-subtitle">
            <a:extLst>
              <a:ext uri="{FF2B5EF4-FFF2-40B4-BE49-F238E27FC236}">
                <a16:creationId xmlns:a16="http://schemas.microsoft.com/office/drawing/2014/main" id="{08FB67A8-92EB-4576-98E2-9399800C5F93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480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73F86F1-6163-43A8-AEE2-8A467F0A815F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24. Picking — tablas sectoriales explícitas</a:t>
            </a:r>
          </a:p>
        </p:txBody>
      </p:sp>
      <p:sp>
        <p:nvSpPr>
          <p:cNvPr id="2" name="Sector CF-title">
            <a:extLst>
              <a:ext uri="{FF2B5EF4-FFF2-40B4-BE49-F238E27FC236}">
                <a16:creationId xmlns:a16="http://schemas.microsoft.com/office/drawing/2014/main" id="{A2487D7D-9B84-441B-AE9D-9E04EA1607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CF</a:t>
            </a:r>
          </a:p>
        </p:txBody>
      </p:sp>
      <p:sp>
        <p:nvSpPr>
          <p:cNvPr id="3" name="Sector CF-subtitle">
            <a:extLst>
              <a:ext uri="{FF2B5EF4-FFF2-40B4-BE49-F238E27FC236}">
                <a16:creationId xmlns:a16="http://schemas.microsoft.com/office/drawing/2014/main" id="{9ABCFED8-B1B7-4949-9F91-4204F76B2B8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26,9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tor CO-title">
            <a:extLst>
              <a:ext uri="{FF2B5EF4-FFF2-40B4-BE49-F238E27FC236}">
                <a16:creationId xmlns:a16="http://schemas.microsoft.com/office/drawing/2014/main" id="{D811994B-56EF-45B1-A1C8-6097D70315D2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CO</a:t>
            </a:r>
          </a:p>
        </p:txBody>
      </p:sp>
      <p:sp>
        <p:nvSpPr>
          <p:cNvPr id="6" name="Sector CO-subtitle">
            <a:extLst>
              <a:ext uri="{FF2B5EF4-FFF2-40B4-BE49-F238E27FC236}">
                <a16:creationId xmlns:a16="http://schemas.microsoft.com/office/drawing/2014/main" id="{2031C121-47C0-457E-A5D3-9CE57E076E40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18,7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or F4-title">
            <a:extLst>
              <a:ext uri="{FF2B5EF4-FFF2-40B4-BE49-F238E27FC236}">
                <a16:creationId xmlns:a16="http://schemas.microsoft.com/office/drawing/2014/main" id="{F5883BC5-86EC-4E9A-B892-CD142617601B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F4</a:t>
            </a:r>
          </a:p>
        </p:txBody>
      </p:sp>
      <p:sp>
        <p:nvSpPr>
          <p:cNvPr id="9" name="Sector F4-subtitle">
            <a:extLst>
              <a:ext uri="{FF2B5EF4-FFF2-40B4-BE49-F238E27FC236}">
                <a16:creationId xmlns:a16="http://schemas.microsoft.com/office/drawing/2014/main" id="{25D9ACB0-07D6-4738-A50C-C450A65F7299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14,1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990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35ED2B78-B0CE-4777-9CD6-786CDED0D22A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25. Picking — tablas sectoriales explícitas</a:t>
            </a:r>
          </a:p>
        </p:txBody>
      </p:sp>
      <p:sp>
        <p:nvSpPr>
          <p:cNvPr id="2" name="Sector FQ-title">
            <a:extLst>
              <a:ext uri="{FF2B5EF4-FFF2-40B4-BE49-F238E27FC236}">
                <a16:creationId xmlns:a16="http://schemas.microsoft.com/office/drawing/2014/main" id="{F5C07E8C-18E3-4C02-8F44-37A4AFF7EC9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FQ</a:t>
            </a:r>
          </a:p>
        </p:txBody>
      </p:sp>
      <p:sp>
        <p:nvSpPr>
          <p:cNvPr id="3" name="Sector FQ-subtitle">
            <a:extLst>
              <a:ext uri="{FF2B5EF4-FFF2-40B4-BE49-F238E27FC236}">
                <a16:creationId xmlns:a16="http://schemas.microsoft.com/office/drawing/2014/main" id="{7A0AFA29-167E-4FB7-AD0D-BC1108EF840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19,2 seg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tor HE-title">
            <a:extLst>
              <a:ext uri="{FF2B5EF4-FFF2-40B4-BE49-F238E27FC236}">
                <a16:creationId xmlns:a16="http://schemas.microsoft.com/office/drawing/2014/main" id="{350F7435-A318-401C-B20E-C47A175B6470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HE</a:t>
            </a:r>
          </a:p>
        </p:txBody>
      </p:sp>
      <p:sp>
        <p:nvSpPr>
          <p:cNvPr id="6" name="Sector HE-subtitle">
            <a:extLst>
              <a:ext uri="{FF2B5EF4-FFF2-40B4-BE49-F238E27FC236}">
                <a16:creationId xmlns:a16="http://schemas.microsoft.com/office/drawing/2014/main" id="{3785BB4F-F53F-4375-A29A-F064917296DA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10,6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or HU-title">
            <a:extLst>
              <a:ext uri="{FF2B5EF4-FFF2-40B4-BE49-F238E27FC236}">
                <a16:creationId xmlns:a16="http://schemas.microsoft.com/office/drawing/2014/main" id="{7ED21356-DEAF-43E4-BA9C-D11003CD33F4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HU</a:t>
            </a:r>
          </a:p>
        </p:txBody>
      </p:sp>
      <p:sp>
        <p:nvSpPr>
          <p:cNvPr id="9" name="Sector HU-subtitle">
            <a:extLst>
              <a:ext uri="{FF2B5EF4-FFF2-40B4-BE49-F238E27FC236}">
                <a16:creationId xmlns:a16="http://schemas.microsoft.com/office/drawing/2014/main" id="{39772788-88D2-43CA-8E40-7618FAA944F8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17,3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24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1AA8D271-7ADE-41B8-9736-05240FA0B22A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26. Picking — tablas sectoriales explícitas</a:t>
            </a:r>
          </a:p>
        </p:txBody>
      </p:sp>
      <p:sp>
        <p:nvSpPr>
          <p:cNvPr id="2" name="Sector KR-title">
            <a:extLst>
              <a:ext uri="{FF2B5EF4-FFF2-40B4-BE49-F238E27FC236}">
                <a16:creationId xmlns:a16="http://schemas.microsoft.com/office/drawing/2014/main" id="{3BC5F31B-8724-42B2-B049-8728080FD85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KR</a:t>
            </a:r>
          </a:p>
        </p:txBody>
      </p:sp>
      <p:sp>
        <p:nvSpPr>
          <p:cNvPr id="3" name="Sector KR-subtitle">
            <a:extLst>
              <a:ext uri="{FF2B5EF4-FFF2-40B4-BE49-F238E27FC236}">
                <a16:creationId xmlns:a16="http://schemas.microsoft.com/office/drawing/2014/main" id="{4129D13B-6570-4BAD-A4D0-6F721E87CB4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sin TN histórico</a:t>
            </a:r>
          </a:p>
        </p:txBody>
      </p:sp>
      <p:graphicFrame>
        <p:nvGraphicFramePr>
          <p:cNvPr id="14" name="Tabla 13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tor MO-title">
            <a:extLst>
              <a:ext uri="{FF2B5EF4-FFF2-40B4-BE49-F238E27FC236}">
                <a16:creationId xmlns:a16="http://schemas.microsoft.com/office/drawing/2014/main" id="{F1E484DF-898B-41C9-9E0D-116DF18BD248}"/>
              </a:ext>
            </a:extLst>
          </p:cNvPr>
          <p:cNvSpPr>
            <a:spLocks noGrp="1"/>
          </p:cNvSpPr>
          <p:nvPr/>
        </p:nvSpPr>
        <p:spPr>
          <a:xfrm>
            <a:off x="428625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MO</a:t>
            </a:r>
          </a:p>
        </p:txBody>
      </p:sp>
      <p:sp>
        <p:nvSpPr>
          <p:cNvPr id="6" name="Sector MO-subtitle">
            <a:extLst>
              <a:ext uri="{FF2B5EF4-FFF2-40B4-BE49-F238E27FC236}">
                <a16:creationId xmlns:a16="http://schemas.microsoft.com/office/drawing/2014/main" id="{55DB1239-D650-4F36-B09E-9BFB2D5FA45E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0,4 seg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428625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or P4-title">
            <a:extLst>
              <a:ext uri="{FF2B5EF4-FFF2-40B4-BE49-F238E27FC236}">
                <a16:creationId xmlns:a16="http://schemas.microsoft.com/office/drawing/2014/main" id="{A0801E35-716B-46D1-8BD5-D3EE98E1C0E8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P4</a:t>
            </a:r>
          </a:p>
        </p:txBody>
      </p:sp>
      <p:sp>
        <p:nvSpPr>
          <p:cNvPr id="9" name="Sector P4-subtitle">
            <a:extLst>
              <a:ext uri="{FF2B5EF4-FFF2-40B4-BE49-F238E27FC236}">
                <a16:creationId xmlns:a16="http://schemas.microsoft.com/office/drawing/2014/main" id="{8D77ECBE-F065-4551-8AA5-32999C8EA3F2}"/>
              </a:ext>
            </a:extLst>
          </p:cNvPr>
          <p:cNvSpPr>
            <a:spLocks noGrp="1"/>
          </p:cNvSpPr>
          <p:nvPr/>
        </p:nvSpPr>
        <p:spPr>
          <a:xfrm>
            <a:off x="79629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25,0 seg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79629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611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F860BC5-CFF1-4A9E-8F98-E0831260F3A7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27. Picking — tablas sectoriales explícitas</a:t>
            </a:r>
          </a:p>
        </p:txBody>
      </p:sp>
      <p:sp>
        <p:nvSpPr>
          <p:cNvPr id="2" name="Sector PA-title">
            <a:extLst>
              <a:ext uri="{FF2B5EF4-FFF2-40B4-BE49-F238E27FC236}">
                <a16:creationId xmlns:a16="http://schemas.microsoft.com/office/drawing/2014/main" id="{12DC117A-76E2-4959-9151-117E353FB40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PA</a:t>
            </a:r>
          </a:p>
        </p:txBody>
      </p:sp>
      <p:sp>
        <p:nvSpPr>
          <p:cNvPr id="3" name="Sector PA-subtitle">
            <a:extLst>
              <a:ext uri="{FF2B5EF4-FFF2-40B4-BE49-F238E27FC236}">
                <a16:creationId xmlns:a16="http://schemas.microsoft.com/office/drawing/2014/main" id="{5E510A33-6D05-4B68-B859-59987DF051F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13,4 seg</a:t>
            </a:r>
          </a:p>
        </p:txBody>
      </p:sp>
      <p:graphicFrame>
        <p:nvGraphicFramePr>
          <p:cNvPr id="8" name="Tabla 7"/>
          <p:cNvGraphicFramePr/>
          <p:nvPr/>
        </p:nvGraphicFramePr>
        <p:xfrm>
          <a:off x="609600" y="1619250"/>
          <a:ext cx="3295650" cy="3238501"/>
        </p:xfrm>
        <a:graphic>
          <a:graphicData uri="http://schemas.openxmlformats.org/drawingml/2006/table">
            <a:tbl>
              <a:tblPr firstRow="1" bandRow="1"/>
              <a:tblGrid>
                <a:gridCol w="6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392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6C4E3FD5-923A-49A1-8447-289415219C9D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28. Tablas de escalas y premios — operaciones no Picking</a:t>
            </a:r>
          </a:p>
        </p:txBody>
      </p:sp>
      <p:sp>
        <p:nvSpPr>
          <p:cNvPr id="2" name="Carga — Secos/No Alimentarios-title">
            <a:extLst>
              <a:ext uri="{FF2B5EF4-FFF2-40B4-BE49-F238E27FC236}">
                <a16:creationId xmlns:a16="http://schemas.microsoft.com/office/drawing/2014/main" id="{3475C3BF-4360-4EAD-85FD-F46878BEB09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Carga — Secos/No Alimentarios</a:t>
            </a:r>
          </a:p>
        </p:txBody>
      </p:sp>
      <p:graphicFrame>
        <p:nvGraphicFramePr>
          <p:cNvPr id="17" name="Tabla 16"/>
          <p:cNvGraphicFramePr/>
          <p:nvPr/>
        </p:nvGraphicFramePr>
        <p:xfrm>
          <a:off x="609600" y="1390650"/>
          <a:ext cx="3257551" cy="1619248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$3.278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$4.424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$7.009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$11.068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arreteo — General-title">
            <a:extLst>
              <a:ext uri="{FF2B5EF4-FFF2-40B4-BE49-F238E27FC236}">
                <a16:creationId xmlns:a16="http://schemas.microsoft.com/office/drawing/2014/main" id="{17D23997-5BD2-4507-8EFC-3928AB0E892C}"/>
              </a:ext>
            </a:extLst>
          </p:cNvPr>
          <p:cNvSpPr>
            <a:spLocks noGrp="1"/>
          </p:cNvSpPr>
          <p:nvPr/>
        </p:nvSpPr>
        <p:spPr>
          <a:xfrm>
            <a:off x="4438650" y="110490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Carreteo — General</a:t>
            </a:r>
          </a:p>
        </p:txBody>
      </p:sp>
      <p:graphicFrame>
        <p:nvGraphicFramePr>
          <p:cNvPr id="19" name="Tabla 18"/>
          <p:cNvGraphicFramePr/>
          <p:nvPr/>
        </p:nvGraphicFramePr>
        <p:xfrm>
          <a:off x="4438650" y="1390650"/>
          <a:ext cx="3257551" cy="1619248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$3.195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$5.062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$7.942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lark — Secos + NOA-title">
            <a:extLst>
              <a:ext uri="{FF2B5EF4-FFF2-40B4-BE49-F238E27FC236}">
                <a16:creationId xmlns:a16="http://schemas.microsoft.com/office/drawing/2014/main" id="{34B643D2-1EFE-43C4-9DED-1C598E95E620}"/>
              </a:ext>
            </a:extLst>
          </p:cNvPr>
          <p:cNvSpPr>
            <a:spLocks noGrp="1"/>
          </p:cNvSpPr>
          <p:nvPr/>
        </p:nvSpPr>
        <p:spPr>
          <a:xfrm>
            <a:off x="8267700" y="110490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Clark — Secos + NOA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8267700" y="1390650"/>
          <a:ext cx="3257551" cy="1485897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19,1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$813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$2.409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$3.775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$5.964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ontrol CHP + CBF — Secos + NOA-title">
            <a:extLst>
              <a:ext uri="{FF2B5EF4-FFF2-40B4-BE49-F238E27FC236}">
                <a16:creationId xmlns:a16="http://schemas.microsoft.com/office/drawing/2014/main" id="{652FCAE4-50F3-4CC7-BE03-0C1268E1DDC8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CHP + CBF — Secos + NOA</a:t>
            </a:r>
          </a:p>
        </p:txBody>
      </p:sp>
      <p:graphicFrame>
        <p:nvGraphicFramePr>
          <p:cNvPr id="23" name="Tabla 22"/>
          <p:cNvGraphicFramePr/>
          <p:nvPr/>
        </p:nvGraphicFramePr>
        <p:xfrm>
          <a:off x="609600" y="3762375"/>
          <a:ext cx="3257551" cy="1619248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176,8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176,9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212,0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$1.131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254,6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286,0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$1.703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286,2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$6.317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epción NOA-title">
            <a:extLst>
              <a:ext uri="{FF2B5EF4-FFF2-40B4-BE49-F238E27FC236}">
                <a16:creationId xmlns:a16="http://schemas.microsoft.com/office/drawing/2014/main" id="{96A68DA8-4AD8-49F9-8CC0-E140194E0427}"/>
              </a:ext>
            </a:extLst>
          </p:cNvPr>
          <p:cNvSpPr>
            <a:spLocks noGrp="1"/>
          </p:cNvSpPr>
          <p:nvPr/>
        </p:nvSpPr>
        <p:spPr>
          <a:xfrm>
            <a:off x="4438650" y="347662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NOA</a:t>
            </a:r>
          </a:p>
        </p:txBody>
      </p:sp>
      <p:graphicFrame>
        <p:nvGraphicFramePr>
          <p:cNvPr id="25" name="Tabla 24"/>
          <p:cNvGraphicFramePr/>
          <p:nvPr/>
        </p:nvGraphicFramePr>
        <p:xfrm>
          <a:off x="4438650" y="3762375"/>
          <a:ext cx="3257551" cy="1352550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epción Secos-title">
            <a:extLst>
              <a:ext uri="{FF2B5EF4-FFF2-40B4-BE49-F238E27FC236}">
                <a16:creationId xmlns:a16="http://schemas.microsoft.com/office/drawing/2014/main" id="{9C2D8FB9-CBD2-43D8-BBF6-0E703DF5D2E4}"/>
              </a:ext>
            </a:extLst>
          </p:cNvPr>
          <p:cNvSpPr>
            <a:spLocks noGrp="1"/>
          </p:cNvSpPr>
          <p:nvPr/>
        </p:nvSpPr>
        <p:spPr>
          <a:xfrm>
            <a:off x="8267700" y="347662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Secos</a:t>
            </a:r>
          </a:p>
        </p:txBody>
      </p:sp>
      <p:graphicFrame>
        <p:nvGraphicFramePr>
          <p:cNvPr id="27" name="Tabla 26"/>
          <p:cNvGraphicFramePr/>
          <p:nvPr/>
        </p:nvGraphicFramePr>
        <p:xfrm>
          <a:off x="8267700" y="3762375"/>
          <a:ext cx="3257551" cy="1352550"/>
        </p:xfrm>
        <a:graphic>
          <a:graphicData uri="http://schemas.openxmlformats.org/drawingml/2006/table">
            <a:tbl>
              <a:tblPr firstRow="1" bandRow="1"/>
              <a:tblGrid>
                <a:gridCol w="6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95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13,5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27,8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495">
                          <a:solidFill>
                            <a:srgbClr val="111827"/>
                          </a:solidFill>
                        </a:rPr>
                        <a:t>$2.781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flat-note">
            <a:extLst>
              <a:ext uri="{FF2B5EF4-FFF2-40B4-BE49-F238E27FC236}">
                <a16:creationId xmlns:a16="http://schemas.microsoft.com/office/drawing/2014/main" id="{298317BA-AE59-4A65-8BD1-311C9762C1F6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Escalas planas vigentes: Carga Refrigerados/Cámaras $453/h; Control Manual $544/h.</a:t>
            </a:r>
          </a:p>
        </p:txBody>
      </p:sp>
    </p:spTree>
    <p:extLst>
      <p:ext uri="{BB962C8B-B14F-4D97-AF65-F5344CB8AC3E}">
        <p14:creationId xmlns:p14="http://schemas.microsoft.com/office/powerpoint/2010/main" val="217622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5072</Words>
  <Application>Microsoft Office PowerPoint</Application>
  <DocSecurity>0</DocSecurity>
  <PresentationFormat>Panorámica</PresentationFormat>
  <Paragraphs>2426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Aptos</vt:lpstr>
      <vt:lpstr>Aptos Mono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093 Ingenieria - Cucci Adrian Augusto</cp:lastModifiedBy>
  <cp:revision>5</cp:revision>
  <dcterms:created xsi:type="dcterms:W3CDTF">2026-07-28T17:38:23Z</dcterms:created>
  <dcterms:modified xsi:type="dcterms:W3CDTF">2026-07-28T19:19:39Z</dcterms:modified>
</cp:coreProperties>
</file>