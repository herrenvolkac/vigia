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929"/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75" autoAdjust="0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24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9156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BB929-4175-4C3B-90C9-2D8DC31AE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8A942A-BD5D-405F-BDE0-4D9F9E653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40E3E3-D07C-400D-AECC-294D74B205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9B8597-644C-486D-8B8E-6AD6DB88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32C094-A41B-4A0C-A64C-AC21C0A3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6592270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D6E2C7-D205-4897-9C40-CC8DBB6E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C3BEA0-3353-4EEC-9269-EA607822D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9F1B07-314A-4F88-9E88-10668003EF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F924EF-F705-49D8-BDAA-0D69EC32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819304-CD9F-4053-8CEA-3BCE8F320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7736895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4C981-84A2-4F1E-B48A-D16B83AF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  <a:prstGeom prst="rect">
            <a:avLst/>
          </a:prstGeo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9539E8-5DE5-4995-A2EE-F58F88A5D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D75CE1-9D6D-4198-AA3A-30F874C2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48A34B-5CFB-40D7-B3D0-50DF460B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95C84D-DE9B-4703-91AA-89472CA6D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75530398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14222-BC3A-4F91-AFED-CD62D5D08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113C2F-8EB2-42BC-901E-88FE9FA8B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A9C38C-AD2A-4606-832E-7AD3841A8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7033F0-2C94-4F00-B058-12EE2CC65D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2AC4FD-2F30-40A2-A160-9C6FBFF4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5CC69E-8BCE-4C0B-ADB1-97C8949B0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1354701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D571B-B609-4945-A1F6-7854ED0B9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7D5172-1597-4C7D-9D16-4B588F96A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BEB8F9-8D27-417C-A686-833A91919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6CC6E9F-2CF2-4A63-9D4A-0AAAA050C5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706C6B-DB2D-42B6-8722-8D7888B97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652C2C9-0476-4538-8736-B4E20348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9D586D-F1C5-456C-B0D1-6086163A0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2FB9BC-773A-4110-AEA8-C857EF40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4471719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9DF51-3F9C-458A-B5D0-ECFC7E639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65582F1-D0CB-4E81-908D-32782BA0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CD4D6D-645A-4F4C-B133-3D4ED8E51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D9369D8-32DF-4F4B-BD41-62A0FA656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63275327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ECD40C-698A-45D2-9C78-488770EC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F172F0-9771-4CAB-9AF0-3E8BFBA4D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877159-5889-4624-8A24-171DA636F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93722418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3C21E-8D09-42C1-A8B5-5A95E035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4867D3-F191-4AA0-9054-E0EC765C9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0E65A4-AACE-4A4F-8018-D43518766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D937AD-6AB5-4AC7-B54F-274B5152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44C449-D909-4D86-A1EF-76008D82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454E14-6FB7-472D-9E14-99D14FF99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8446204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7B429-2F7D-4160-A0B1-1C523E803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</p:spPr>
        <p:txBody>
          <a:bodyPr anchor="b"/>
          <a:lstStyle>
            <a:lvl1pPr>
              <a:defRPr sz="384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45B17B-FD95-4F17-BB97-C0E0B5705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B646E7-EE2D-4E6C-82CC-43F3A1FE4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686C25-3D53-4391-9400-C60698E0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F24C836-4AAF-41C0-BD69-1E80BE9FD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177A8F-135F-4D1B-8A11-C345550BE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3828070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DD358-E746-4E3B-95C7-660342496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FD907F-BFFE-4C7D-A033-B6E92C291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B6DF30-BCB2-4BBF-B20C-EF007A6B47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61490C-DAF7-4906-A32D-AF62B8A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5B33CC-08BE-47F0-8B42-D13455D0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70521039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FE4134-DE51-4460-AE4F-8EF0936923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698C57-FFD0-4D6B-BF83-D023437A1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3B89F3-F403-4B8E-8D99-EF30ADA6B2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52797931-FE49-422B-B904-92BD32A3D76D}" type="datetimeFigureOut">
              <a:rPr lang="es-AR" smtClean="0"/>
              <a:t>16/4/2026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E3973F-5451-4E19-BB2E-A2DA05875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8B4E8C-1554-417B-BB8F-47E1B0A3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/>
          <a:lstStyle/>
          <a:p>
            <a:fld id="{F8498D28-AADB-454D-9A5E-5A25B086DD1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6211766"/>
      </p:ext>
    </p:extLst>
  </p:cSld>
  <p:clrMapOvr>
    <a:masterClrMapping/>
  </p:clrMapOvr>
  <p:transition spd="slow">
    <p:push dir="u"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21977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B4ABEC1-171E-4FEB-BBCB-592AD6178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027" t="24695" r="15395" b="29386"/>
          <a:stretch/>
        </p:blipFill>
        <p:spPr>
          <a:xfrm>
            <a:off x="12564271" y="7588577"/>
            <a:ext cx="2066130" cy="635796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36E01DFA-9770-45A7-9FF6-6A03BE6F67B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" y="653511"/>
            <a:ext cx="14630400" cy="80796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F46C915A-17D8-485B-99E4-B867363437B4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" y="5246"/>
            <a:ext cx="14630400" cy="6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ransition spd="slow">
    <p:push dir="u"/>
  </p:transition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321" y="127500"/>
            <a:ext cx="8749308" cy="411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00"/>
              </a:lnSpc>
            </a:pPr>
            <a:r>
              <a:rPr lang="en-US" sz="2550" b="1" i="1" dirty="0" err="1">
                <a:solidFill>
                  <a:schemeClr val="bg1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VigIA · Gemelo Operativo con IA</a:t>
            </a:r>
            <a:endParaRPr lang="en-US" sz="255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6773" y="905345"/>
            <a:ext cx="1647230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🎯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Objetivo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0629" y="1125685"/>
            <a:ext cx="6825028" cy="968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550"/>
              </a:lnSpc>
            </a:pP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Transformar el monitoreo operativo del CD Coto mediante un gemelo digital con inteligencia artificial que anticipa desvíos, proyecta el cierre de cada turno y genera alertas accionables en tiempo real — sin intervención manual.</a:t>
            </a:r>
          </a:p>
        </p:txBody>
      </p:sp>
      <p:sp>
        <p:nvSpPr>
          <p:cNvPr id="5" name="Text 3"/>
          <p:cNvSpPr/>
          <p:nvPr/>
        </p:nvSpPr>
        <p:spPr>
          <a:xfrm>
            <a:off x="136773" y="2138954"/>
            <a:ext cx="2024301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✔️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Alcance del Proyecto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5019" y="2400188"/>
            <a:ext cx="6750117" cy="4801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s-ES" sz="130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El proyecto incluye:</a:t>
            </a: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Multi-proceso: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Picking · Recepción · Reposición · Planificación. Arquitectura modular — cada proceso es independiente sobre la misma plataforma.</a:t>
            </a: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Análisis automático por IA: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Alertas generadas por Claude o Azure OpenAI sin intervención manual. El sistema analiza el estado y recomienda acciones concretas al supervisor.</a:t>
            </a: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Gemelo operativo en tiempo real: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Refleja bultos preparados vs programados, desvío acumulado y proyección de cierre por ola y sector.</a:t>
            </a:r>
            <a:endParaRPr lang="es-ES" sz="13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Proyección inteligente de cierre: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Estimación del resultado del turno según ritmo actual. En etapas avanzadas incorpora patrones históricos del propio CD.</a:t>
            </a:r>
            <a:endParaRPr lang="es-E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Modelo predictivo con ML: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XGBoost entrenado con histórico real del WMS. Predice el cierre con intervalo de confianza e identifica el factor de mayor impacto.</a:t>
            </a:r>
            <a:endParaRPr lang="es-E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Re-entrenamiento automático: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El modelo aprende de cada turno cerrado y se actualiza semanalmente — solo reemplaza la versión anterior si mejora la precisión.</a:t>
            </a: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Multi-proveedor IA: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Soporte para Claude (Anthropic) y Azure OpenAI. La clave se configura en el servidor y nunca queda expuesta al browser.</a:t>
            </a: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Integración directa con WMS: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Query read-only al SQL Server cada 10-15 minutos. Elimina la carga manual de planillas.</a:t>
            </a:r>
            <a:endParaRPr lang="es-ES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Arquitectura de datos propia: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Base SQLite con 4 tablas: turnos, movimientos, predicciones y versiones del modelo.</a:t>
            </a: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Seguridad y acceso: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Login con roles. Acceso desde cualquier PC de la red interna vía browser.</a:t>
            </a:r>
          </a:p>
          <a:p>
            <a:pPr marL="285750" indent="-285750" algn="just">
              <a:buFontTx/>
              <a:buChar char="-"/>
            </a:pPr>
            <a:r>
              <a:rPr lang="es-ES" sz="13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Roadmap: </a:t>
            </a:r>
            <a:r>
              <a:rPr lang="es-ES" sz="1300" b="0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MVP → Multi-proceso → WMS automático → Estadística histórica → ML predictivo → Producción estable</a:t>
            </a:r>
          </a:p>
        </p:txBody>
      </p:sp>
      <p:sp>
        <p:nvSpPr>
          <p:cNvPr id="28" name="Text 26"/>
          <p:cNvSpPr/>
          <p:nvPr/>
        </p:nvSpPr>
        <p:spPr>
          <a:xfrm>
            <a:off x="7464990" y="7506513"/>
            <a:ext cx="284499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📅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Fecha Estimada de Finalización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37066" y="7518925"/>
            <a:ext cx="5727740" cy="56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1300" dirty="0">
                <a:solidFill>
                  <a:srgbClr val="626C3B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Mes 4 · ~16 semanas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483078" y="897370"/>
            <a:ext cx="1938218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👥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Equipo del Proyecto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483078" y="4740196"/>
            <a:ext cx="168080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🗓️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Hitos Principales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DEB7AEBE-1C7B-4AB2-AFE0-9F73E722CDF7}"/>
              </a:ext>
            </a:extLst>
          </p:cNvPr>
          <p:cNvCxnSpPr/>
          <p:nvPr/>
        </p:nvCxnSpPr>
        <p:spPr>
          <a:xfrm>
            <a:off x="7150794" y="934268"/>
            <a:ext cx="11768" cy="7003101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 42">
            <a:extLst>
              <a:ext uri="{FF2B5EF4-FFF2-40B4-BE49-F238E27FC236}">
                <a16:creationId xmlns:a16="http://schemas.microsoft.com/office/drawing/2014/main" id="{BCCC0D2F-AC8A-42F5-9A5E-CFC63EA636C1}"/>
              </a:ext>
            </a:extLst>
          </p:cNvPr>
          <p:cNvSpPr/>
          <p:nvPr/>
        </p:nvSpPr>
        <p:spPr>
          <a:xfrm>
            <a:off x="568768" y="7442752"/>
            <a:ext cx="20243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 err="1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Restricciones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mayores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áfico 8" descr="Prohibido">
            <a:extLst>
              <a:ext uri="{FF2B5EF4-FFF2-40B4-BE49-F238E27FC236}">
                <a16:creationId xmlns:a16="http://schemas.microsoft.com/office/drawing/2014/main" id="{84826103-87A9-48F2-95D7-DE7FAC576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167" y="7328402"/>
            <a:ext cx="373360" cy="373360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F1A04064-A9EE-4376-872F-8DFEEED1B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60987"/>
              </p:ext>
            </p:extLst>
          </p:nvPr>
        </p:nvGraphicFramePr>
        <p:xfrm>
          <a:off x="7428598" y="1319836"/>
          <a:ext cx="6881385" cy="20570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5234">
                  <a:extLst>
                    <a:ext uri="{9D8B030D-6E8A-4147-A177-3AD203B41FA5}">
                      <a16:colId xmlns:a16="http://schemas.microsoft.com/office/drawing/2014/main" val="1975172228"/>
                    </a:ext>
                  </a:extLst>
                </a:gridCol>
                <a:gridCol w="5156151">
                  <a:extLst>
                    <a:ext uri="{9D8B030D-6E8A-4147-A177-3AD203B41FA5}">
                      <a16:colId xmlns:a16="http://schemas.microsoft.com/office/drawing/2014/main" val="4151712692"/>
                    </a:ext>
                  </a:extLst>
                </a:gridCol>
              </a:tblGrid>
              <a:tr h="338083">
                <a:tc>
                  <a:txBody>
                    <a:bodyPr/>
                    <a:lstStyle/>
                    <a:p>
                      <a:pPr algn="just"/>
                      <a:r>
                        <a:rPr lang="es-AR" sz="1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Patrocinador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 completar)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694175"/>
                  </a:ext>
                </a:extLst>
              </a:tr>
              <a:tr h="338083">
                <a:tc>
                  <a:txBody>
                    <a:bodyPr/>
                    <a:lstStyle/>
                    <a:p>
                      <a:pPr algn="just"/>
                      <a:r>
                        <a:rPr lang="es-AR" sz="1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Líder de proyecto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Adrián Cucci — Ing. en Informática · Procesos Logísticos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5418743"/>
                  </a:ext>
                </a:extLst>
              </a:tr>
              <a:tr h="800724">
                <a:tc>
                  <a:txBody>
                    <a:bodyPr/>
                    <a:lstStyle/>
                    <a:p>
                      <a:pPr algn="just"/>
                      <a:r>
                        <a:rPr lang="es-AR" sz="1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Equipo técnico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Ingeniería Logística — CD Coto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29345"/>
                  </a:ext>
                </a:extLst>
              </a:tr>
              <a:tr h="290605">
                <a:tc>
                  <a:txBody>
                    <a:bodyPr/>
                    <a:lstStyle/>
                    <a:p>
                      <a:pPr algn="just"/>
                      <a:r>
                        <a:rPr lang="es-AR" sz="1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 completar)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539133"/>
                  </a:ext>
                </a:extLst>
              </a:tr>
              <a:tr h="275320">
                <a:tc>
                  <a:txBody>
                    <a:bodyPr/>
                    <a:lstStyle/>
                    <a:p>
                      <a:pPr algn="just"/>
                      <a:r>
                        <a:rPr lang="es-AR" sz="13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Áreas interesadas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Operaciones · IT · Data · Gerencia CD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72704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33548592-70EE-477C-BDD1-1390229B4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332362"/>
              </p:ext>
            </p:extLst>
          </p:nvPr>
        </p:nvGraphicFramePr>
        <p:xfrm>
          <a:off x="7428598" y="5121527"/>
          <a:ext cx="6881381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118">
                  <a:extLst>
                    <a:ext uri="{9D8B030D-6E8A-4147-A177-3AD203B41FA5}">
                      <a16:colId xmlns:a16="http://schemas.microsoft.com/office/drawing/2014/main" val="2693452299"/>
                    </a:ext>
                  </a:extLst>
                </a:gridCol>
                <a:gridCol w="624118">
                  <a:extLst>
                    <a:ext uri="{9D8B030D-6E8A-4147-A177-3AD203B41FA5}">
                      <a16:colId xmlns:a16="http://schemas.microsoft.com/office/drawing/2014/main" val="2036672439"/>
                    </a:ext>
                  </a:extLst>
                </a:gridCol>
                <a:gridCol w="624118">
                  <a:extLst>
                    <a:ext uri="{9D8B030D-6E8A-4147-A177-3AD203B41FA5}">
                      <a16:colId xmlns:a16="http://schemas.microsoft.com/office/drawing/2014/main" val="123653483"/>
                    </a:ext>
                  </a:extLst>
                </a:gridCol>
                <a:gridCol w="624118">
                  <a:extLst>
                    <a:ext uri="{9D8B030D-6E8A-4147-A177-3AD203B41FA5}">
                      <a16:colId xmlns:a16="http://schemas.microsoft.com/office/drawing/2014/main" val="1973268598"/>
                    </a:ext>
                  </a:extLst>
                </a:gridCol>
                <a:gridCol w="624118">
                  <a:extLst>
                    <a:ext uri="{9D8B030D-6E8A-4147-A177-3AD203B41FA5}">
                      <a16:colId xmlns:a16="http://schemas.microsoft.com/office/drawing/2014/main" val="2738107247"/>
                    </a:ext>
                  </a:extLst>
                </a:gridCol>
                <a:gridCol w="624118">
                  <a:extLst>
                    <a:ext uri="{9D8B030D-6E8A-4147-A177-3AD203B41FA5}">
                      <a16:colId xmlns:a16="http://schemas.microsoft.com/office/drawing/2014/main" val="2744020798"/>
                    </a:ext>
                  </a:extLst>
                </a:gridCol>
                <a:gridCol w="624118">
                  <a:extLst>
                    <a:ext uri="{9D8B030D-6E8A-4147-A177-3AD203B41FA5}">
                      <a16:colId xmlns:a16="http://schemas.microsoft.com/office/drawing/2014/main" val="2989318895"/>
                    </a:ext>
                  </a:extLst>
                </a:gridCol>
                <a:gridCol w="624118">
                  <a:extLst>
                    <a:ext uri="{9D8B030D-6E8A-4147-A177-3AD203B41FA5}">
                      <a16:colId xmlns:a16="http://schemas.microsoft.com/office/drawing/2014/main" val="1701086332"/>
                    </a:ext>
                  </a:extLst>
                </a:gridCol>
                <a:gridCol w="624118">
                  <a:extLst>
                    <a:ext uri="{9D8B030D-6E8A-4147-A177-3AD203B41FA5}">
                      <a16:colId xmlns:a16="http://schemas.microsoft.com/office/drawing/2014/main" val="3369009260"/>
                    </a:ext>
                  </a:extLst>
                </a:gridCol>
                <a:gridCol w="624118">
                  <a:extLst>
                    <a:ext uri="{9D8B030D-6E8A-4147-A177-3AD203B41FA5}">
                      <a16:colId xmlns:a16="http://schemas.microsoft.com/office/drawing/2014/main" val="1927122364"/>
                    </a:ext>
                  </a:extLst>
                </a:gridCol>
                <a:gridCol w="640201">
                  <a:extLst>
                    <a:ext uri="{9D8B030D-6E8A-4147-A177-3AD203B41FA5}">
                      <a16:colId xmlns:a16="http://schemas.microsoft.com/office/drawing/2014/main" val="933395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5125200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Mes 1 · MVP Operativo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524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2134485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r>
                        <a:rPr lang="es-AR" sz="13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Mes 2 · Multi-proceso + Arquitectura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312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45618100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3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Mes 3 · Integración WMS automática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AR" sz="110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437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AR" sz="10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AR" sz="13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75%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89148559"/>
                  </a:ext>
                </a:extLst>
              </a:tr>
              <a:tr h="0">
                <a:tc gridSpan="10"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3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Mes 3-4 · Modelo ML predictivo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AR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020935"/>
                  </a:ext>
                </a:extLst>
              </a:tr>
            </a:tbl>
          </a:graphicData>
        </a:graphic>
      </p:graphicFrame>
      <p:sp>
        <p:nvSpPr>
          <p:cNvPr id="86" name="Text 42">
            <a:extLst>
              <a:ext uri="{FF2B5EF4-FFF2-40B4-BE49-F238E27FC236}">
                <a16:creationId xmlns:a16="http://schemas.microsoft.com/office/drawing/2014/main" id="{BBE15152-4404-4404-ACEA-D2ACE2D8C598}"/>
              </a:ext>
            </a:extLst>
          </p:cNvPr>
          <p:cNvSpPr/>
          <p:nvPr/>
        </p:nvSpPr>
        <p:spPr>
          <a:xfrm>
            <a:off x="7909620" y="3716020"/>
            <a:ext cx="2024301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 err="1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Etapas</a:t>
            </a:r>
            <a:r>
              <a:rPr lang="en-US" b="1" dirty="0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1F1E1E"/>
                </a:solidFill>
                <a:latin typeface="Arial" panose="020B0604020202020204" pitchFamily="34" charset="0"/>
                <a:ea typeface="Sora Semi Bold" pitchFamily="34" charset="-122"/>
                <a:cs typeface="Arial" panose="020B0604020202020204" pitchFamily="34" charset="0"/>
              </a:rPr>
              <a:t>Principales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7" name="Gráfico 86" descr="Estadísticas">
            <a:extLst>
              <a:ext uri="{FF2B5EF4-FFF2-40B4-BE49-F238E27FC236}">
                <a16:creationId xmlns:a16="http://schemas.microsoft.com/office/drawing/2014/main" id="{90976D1E-28FF-4702-B45E-6A55D37307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990" y="3630424"/>
            <a:ext cx="373360" cy="373360"/>
          </a:xfrm>
          <a:prstGeom prst="rect">
            <a:avLst/>
          </a:prstGeom>
        </p:spPr>
      </p:pic>
      <p:graphicFrame>
        <p:nvGraphicFramePr>
          <p:cNvPr id="88" name="Tabla 87">
            <a:extLst>
              <a:ext uri="{FF2B5EF4-FFF2-40B4-BE49-F238E27FC236}">
                <a16:creationId xmlns:a16="http://schemas.microsoft.com/office/drawing/2014/main" id="{3ABB064E-1D96-48FF-AC8C-5868EAE01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8480044"/>
              </p:ext>
            </p:extLst>
          </p:nvPr>
        </p:nvGraphicFramePr>
        <p:xfrm>
          <a:off x="7428598" y="4061271"/>
          <a:ext cx="6881385" cy="649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6277">
                  <a:extLst>
                    <a:ext uri="{9D8B030D-6E8A-4147-A177-3AD203B41FA5}">
                      <a16:colId xmlns:a16="http://schemas.microsoft.com/office/drawing/2014/main" val="2408959622"/>
                    </a:ext>
                  </a:extLst>
                </a:gridCol>
                <a:gridCol w="1376277">
                  <a:extLst>
                    <a:ext uri="{9D8B030D-6E8A-4147-A177-3AD203B41FA5}">
                      <a16:colId xmlns:a16="http://schemas.microsoft.com/office/drawing/2014/main" val="2264488763"/>
                    </a:ext>
                  </a:extLst>
                </a:gridCol>
                <a:gridCol w="1376277">
                  <a:extLst>
                    <a:ext uri="{9D8B030D-6E8A-4147-A177-3AD203B41FA5}">
                      <a16:colId xmlns:a16="http://schemas.microsoft.com/office/drawing/2014/main" val="3686772267"/>
                    </a:ext>
                  </a:extLst>
                </a:gridCol>
                <a:gridCol w="1376277">
                  <a:extLst>
                    <a:ext uri="{9D8B030D-6E8A-4147-A177-3AD203B41FA5}">
                      <a16:colId xmlns:a16="http://schemas.microsoft.com/office/drawing/2014/main" val="393653385"/>
                    </a:ext>
                  </a:extLst>
                </a:gridCol>
                <a:gridCol w="1376277">
                  <a:extLst>
                    <a:ext uri="{9D8B030D-6E8A-4147-A177-3AD203B41FA5}">
                      <a16:colId xmlns:a16="http://schemas.microsoft.com/office/drawing/2014/main" val="3802159718"/>
                    </a:ext>
                  </a:extLst>
                </a:gridCol>
              </a:tblGrid>
              <a:tr h="222851">
                <a:tc>
                  <a:txBody>
                    <a:bodyPr/>
                    <a:lstStyle/>
                    <a:p>
                      <a:pPr algn="ctr"/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Análisis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Planificación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Ejecución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Monitoreo y Control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9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Cierre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1111880"/>
                  </a:ext>
                </a:extLst>
              </a:tr>
              <a:tr h="16099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AR" sz="9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803126"/>
                  </a:ext>
                </a:extLst>
              </a:tr>
            </a:tbl>
          </a:graphicData>
        </a:graphic>
      </p:graphicFrame>
      <p:sp>
        <p:nvSpPr>
          <p:cNvPr id="89" name="Text 2">
            <a:extLst>
              <a:ext uri="{FF2B5EF4-FFF2-40B4-BE49-F238E27FC236}">
                <a16:creationId xmlns:a16="http://schemas.microsoft.com/office/drawing/2014/main" id="{3EBBEB4B-509F-4D97-BD9B-BB074FF25ABF}"/>
              </a:ext>
            </a:extLst>
          </p:cNvPr>
          <p:cNvSpPr/>
          <p:nvPr/>
        </p:nvSpPr>
        <p:spPr>
          <a:xfrm>
            <a:off x="175019" y="7705812"/>
            <a:ext cx="6850638" cy="453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1550"/>
              </a:lnSpc>
            </a:pPr>
            <a:r>
              <a:rPr lang="es-ES" sz="13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Acceso al WMS (SQL Server read-only) depende de gestión con IT  ·  Sin histórico estructurado hasta inicio de captura operativa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8264</TotalTime>
  <Words>430</Words>
  <Application>Microsoft Office PowerPoint</Application>
  <PresentationFormat>Personalizado</PresentationFormat>
  <Paragraphs>47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093 Jefe Ingenieria - Tonon Urbieta Caterina</dc:creator>
  <cp:lastModifiedBy>093 Ingenieria - Cucci Adrian Augusto</cp:lastModifiedBy>
  <cp:revision>120</cp:revision>
  <dcterms:created xsi:type="dcterms:W3CDTF">2025-09-03T13:53:30Z</dcterms:created>
  <dcterms:modified xsi:type="dcterms:W3CDTF">2026-04-16T14:24:49Z</dcterms:modified>
</cp:coreProperties>
</file>