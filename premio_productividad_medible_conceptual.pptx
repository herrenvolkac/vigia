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49af9e982c48a0" /><Relationship Type="http://schemas.openxmlformats.org/officeDocument/2006/relationships/extended-properties" Target="/docProps/app.xml" Id="Rb26deab26e504e87" /><Relationship Type="http://schemas.openxmlformats.org/officeDocument/2006/relationships/officeDocument" Target="/ppt/presentation.xml" Id="R68cc09ebfc1b4e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eb80a07c264c5c"/>
  </p:sldMasterIdLst>
  <p:notesMasterIdLst>
    <p:notesMasterId xmlns:r="http://schemas.openxmlformats.org/officeDocument/2006/relationships" r:id="R102d11c6da964802"/>
  </p:notesMasterIdLst>
  <p:sldIdLst>
    <p:sldId xmlns:r="http://schemas.openxmlformats.org/officeDocument/2006/relationships" id="256" r:id="Re6f041cf3f0c418d"/>
    <p:sldId xmlns:r="http://schemas.openxmlformats.org/officeDocument/2006/relationships" id="257" r:id="Rb153757259724f66"/>
    <p:sldId xmlns:r="http://schemas.openxmlformats.org/officeDocument/2006/relationships" id="258" r:id="R042d3f4e12254a0c"/>
    <p:sldId xmlns:r="http://schemas.openxmlformats.org/officeDocument/2006/relationships" id="259" r:id="Ra78682d192784f3b"/>
    <p:sldId xmlns:r="http://schemas.openxmlformats.org/officeDocument/2006/relationships" id="260" r:id="R57f0a179ceb944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9ef78a024241a0" /><Relationship Type="http://schemas.openxmlformats.org/officeDocument/2006/relationships/slideMaster" Target="/ppt/slideMasters/slideMaster1.xml" Id="R5beb80a07c264c5c" /><Relationship Type="http://schemas.openxmlformats.org/officeDocument/2006/relationships/notesMaster" Target="/ppt/notesMasters/notesMaster1.xml" Id="R102d11c6da964802" /><Relationship Type="http://schemas.openxmlformats.org/officeDocument/2006/relationships/presProps" Target="/ppt/presProps.xml" Id="R00341ca386ae4ced" /><Relationship Type="http://schemas.openxmlformats.org/officeDocument/2006/relationships/tableStyles" Target="/ppt/tableStyles.xml" Id="Rfe95e34867204c2d" /><Relationship Type="http://schemas.openxmlformats.org/officeDocument/2006/relationships/slide" Target="/ppt/slides/slide1.xml" Id="Re6f041cf3f0c418d" /><Relationship Type="http://schemas.openxmlformats.org/officeDocument/2006/relationships/slide" Target="/ppt/slides/slide2.xml" Id="Rb153757259724f66" /><Relationship Type="http://schemas.openxmlformats.org/officeDocument/2006/relationships/slide" Target="/ppt/slides/slide3.xml" Id="R042d3f4e12254a0c" /><Relationship Type="http://schemas.openxmlformats.org/officeDocument/2006/relationships/slide" Target="/ppt/slides/slide4.xml" Id="Ra78682d192784f3b" /><Relationship Type="http://schemas.openxmlformats.org/officeDocument/2006/relationships/slide" Target="/ppt/slides/slide5.xml" Id="R57f0a179ceb944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1811c78c9f48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5eba8be9cf42bb" /><Relationship Type="http://schemas.openxmlformats.org/officeDocument/2006/relationships/notesMaster" Target="/ppt/notesMasters/notesMaster1.xml" Id="R822b18d4567f4a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b62cc5cd6c4f5e" /><Relationship Type="http://schemas.openxmlformats.org/officeDocument/2006/relationships/notesMaster" Target="/ppt/notesMasters/notesMaster1.xml" Id="R584703df6f3e47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351d7a6d994c5f" /><Relationship Type="http://schemas.openxmlformats.org/officeDocument/2006/relationships/notesMaster" Target="/ppt/notesMasters/notesMaster1.xml" Id="R7edf628d07f94e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05c567a8f441d8" /><Relationship Type="http://schemas.openxmlformats.org/officeDocument/2006/relationships/notesMaster" Target="/ppt/notesMasters/notesMaster1.xml" Id="R94eac43738ac4e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34fa9bd11146ea" /><Relationship Type="http://schemas.openxmlformats.org/officeDocument/2006/relationships/notesMaster" Target="/ppt/notesMasters/notesMaster1.xml" Id="R7d38adff9fe446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7da9949fa4c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a6869cd1154988" /><Relationship Type="http://schemas.openxmlformats.org/officeDocument/2006/relationships/slideLayout" Target="/ppt/slideLayouts/slideLayout1.xml" Id="R459d5832d1504b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9d5832d1504b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5ba23dabf475b" /><Relationship Type="http://schemas.openxmlformats.org/officeDocument/2006/relationships/notesSlide" Target="/ppt/notesSlides/notesSlide1.xml" Id="R18d07098ff9c4f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dbaf81b544965" /><Relationship Type="http://schemas.openxmlformats.org/officeDocument/2006/relationships/notesSlide" Target="/ppt/notesSlides/notesSlide2.xml" Id="R88e84af2cc2b4d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3dff1b1aa4d0a" /><Relationship Type="http://schemas.openxmlformats.org/officeDocument/2006/relationships/notesSlide" Target="/ppt/notesSlides/notesSlide3.xml" Id="R9536a8a2d56a49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69621714b482b" /><Relationship Type="http://schemas.openxmlformats.org/officeDocument/2006/relationships/notesSlide" Target="/ppt/notesSlides/notesSlide4.xml" Id="Rab02d84ac6be4a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8974e493b465d" /><Relationship Type="http://schemas.openxmlformats.org/officeDocument/2006/relationships/notesSlide" Target="/ppt/notesSlides/notesSlide5.xml" Id="R8114622520eb42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3D3FB1-0F06-413E-A71E-2FDB9990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La propuesta cambia la forma de medir, no redefine el valor del premio</a:t>
            </a:r>
          </a:p>
        </p:txBody>
      </p:sp>
      <p:sp>
        <p:nvSpPr>
          <p:cNvPr id="2" name="slide-body">
            <a:extLst xmlns:a="http://schemas.openxmlformats.org/drawingml/2006/main">
              <a:ext uri="{FF2B5EF4-FFF2-40B4-BE49-F238E27FC236}">
                <a16:creationId xmlns:a16="http://schemas.microsoft.com/office/drawing/2014/main" id="{DF806B7B-CD0C-4021-A3A5-3985F812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521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Actualizar el método de medición y pago de premios de productividad para operaciones medibles.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Cambio propuesto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Pasar de una liquidación basada en jornada completa a una medición fraccionada por hora.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Mantener trazabilidad con las escalas económicas actuales: no se redefine inicialmente el valor del premio.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Separar tres componentes que hoy aparecen mezclados: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 1. qué actividad se mide,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 2. contra qué escala o target se compara,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 3. cómo se transforma el resultado en pago.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Principio de resguardo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Escala horaria propuesta = escala vigente de jornada / 6,5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 esta forma, si una escala horaria se multiplica por 6,5 horas, reproduce la escala económica vigente.</a:t>
            </a:r>
          </a:p>
        </p:txBody>
      </p:sp>
    </p:spTree>
    <p:extLst>
      <p:ext uri="{BB962C8B-B14F-4D97-AF65-F5344CB8AC3E}">
        <p14:creationId xmlns:p14="http://schemas.microsoft.com/office/powerpoint/2010/main" val="1690507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512BE4-0210-47B6-877D-80E52CD8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El pago diario se calcula como suma de premios horarios netos</a:t>
            </a:r>
          </a:p>
        </p:txBody>
      </p:sp>
      <p:sp>
        <p:nvSpPr>
          <p:cNvPr id="2" name="slide-body-left">
            <a:extLst xmlns:a="http://schemas.openxmlformats.org/drawingml/2006/main">
              <a:ext uri="{FF2B5EF4-FFF2-40B4-BE49-F238E27FC236}">
                <a16:creationId xmlns:a16="http://schemas.microsoft.com/office/drawing/2014/main" id="{826C1B0E-6FE7-40E7-A178-552A5B25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5257800" cy="506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Medición individual por hora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Para cada legajo i, operación o, sector s y hora 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Pᵢ,o,s,h = producción real observada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Eₒ,s,h = escala horaria vigente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Premioᵢ,h = f(Pᵢ,o,s,h, Eₒ,s,h)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Premio individual bruto diario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PIBᵢ,d = Σₕ Premioᵢ,h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Descuentos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D_TNCᵢ,d = exceso TNC según tabla de máximos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D_ERRᵢ,d = errores computados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Premio individual neto diario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PINᵢ,d = max(PIBᵢ,d - D_TNCᵢ,d - D_ERRᵢ,d, 0)</a:t>
            </a:r>
          </a:p>
        </p:txBody>
      </p:sp>
      <p:sp>
        <p:nvSpPr>
          <p:cNvPr id="3" name="slide-body-right">
            <a:extLst xmlns:a="http://schemas.openxmlformats.org/drawingml/2006/main">
              <a:ext uri="{FF2B5EF4-FFF2-40B4-BE49-F238E27FC236}">
                <a16:creationId xmlns:a16="http://schemas.microsoft.com/office/drawing/2014/main" id="{14969908-097F-45A6-9141-7447A0EF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143000"/>
            <a:ext cx="5219700" cy="506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Pago grupal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El premio grupal se activa sólo si el grupo supera el target definido.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Bolsa grupal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BolsaG_g,d =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PremioMinHora × Q operarios_g,d × FactorColchón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Participación individual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Partᵢ,g,d =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Producciónᵢ,g,d / Σⱼ Producciónⱼ,g,d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Pago grupal individual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PGᵢ,d = BolsaG_g,d × Partᵢ,g,d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Pago total diario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PTᵢ,d = PINᵢ,d + PGᵢ,d</a:t>
            </a:r>
          </a:p>
        </p:txBody>
      </p:sp>
    </p:spTree>
    <p:extLst>
      <p:ext uri="{BB962C8B-B14F-4D97-AF65-F5344CB8AC3E}">
        <p14:creationId xmlns:p14="http://schemas.microsoft.com/office/powerpoint/2010/main" val="295538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4094B3-E506-4261-9BEB-0D4E021C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La escala horaria se obtiene por división directa de la escala vigente</a:t>
            </a:r>
          </a:p>
        </p:txBody>
      </p:sp>
      <p:sp>
        <p:nvSpPr>
          <p:cNvPr id="2" name="slide-body">
            <a:extLst xmlns:a="http://schemas.openxmlformats.org/drawingml/2006/main">
              <a:ext uri="{FF2B5EF4-FFF2-40B4-BE49-F238E27FC236}">
                <a16:creationId xmlns:a16="http://schemas.microsoft.com/office/drawing/2014/main" id="{F16D9F7B-5642-48EE-84D3-7ECFEA6B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521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Criterio general para construir las escalas horarias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 cada operación medible o y división/sector 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DesdeHoraₙ = DesdeJornadaₙ / 6,5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HastaHoraₙ = HastaJornadaₙ / 6,5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PremioHoraₙ = PremioJornadaₙ / 6,5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 escala no se convierte a porcentajes en esta etapa.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Motivo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Evita discutir una redefinición económica del premio.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Permite validar primero el cambio metodológico: medir por hora.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Mantiene una conciliación directa contra la tabla vigente.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Reduce sesgos por cargas fijas o datos históricos que hoy no están normalizados.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Regla de lectura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 un operario alcanza en una hora el tramo correspondiente de la escala horaria,</a:t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 el premio horario de ese tramo.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El pago diario es la suma de los tramos horarios efectivamente alcanzados.</a:t>
            </a:r>
          </a:p>
        </p:txBody>
      </p:sp>
    </p:spTree>
    <p:extLst>
      <p:ext uri="{BB962C8B-B14F-4D97-AF65-F5344CB8AC3E}">
        <p14:creationId xmlns:p14="http://schemas.microsoft.com/office/powerpoint/2010/main" val="13343358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BC2E45-96CE-42C6-9D31-E645991C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Picking se separa en Secos, NOA y Refrigerados</a:t>
            </a:r>
          </a:p>
        </p:txBody>
      </p:sp>
      <p:sp>
        <p:nvSpPr>
          <p:cNvPr id="2" name="slide-body">
            <a:extLst xmlns:a="http://schemas.openxmlformats.org/drawingml/2006/main">
              <a:ext uri="{FF2B5EF4-FFF2-40B4-BE49-F238E27FC236}">
                <a16:creationId xmlns:a16="http://schemas.microsoft.com/office/drawing/2014/main" id="{DE5C99A2-7E07-49F7-8771-E18026EC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521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Picking — escalas horarias propuestas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Unidad medida: bultos preparados por hora.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Base: PV_ESCALA_DE_PREMIOS vigente / 6,5.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Picking Secos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Base vigente: escala “SECOS + NOA”.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Nivel | Desde/h | Hasta/h | Premio/h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     | 0,0     | 153,7   | $0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     | 153,8   | 172,2   | $740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     | 172,3   | 195,2   | $1.017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4     | 195,4   | 218,3   | $1.991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5     | 218,5   | 241,4   | $2.783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6     | 241,5   | 279,8   | $3.902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     | 280,0   | 346,0   | $5.523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8     | 346,2   | +       | $8.013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Picking NOA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Base vigente: misma escala “SECOS + NOA”, aplicada a sectores/almacenes NOA.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Picking Refrigerados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Base vigente: escalas “CÁMARA 06” y “OTRAS CÁMARAS”.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Cámara 06: primer pago desde 67,7 bultos/h; básico $740/h.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Otras Cámaras: primer pago desde 118,5 bultos/h; básico $740/h.</a:t>
            </a:r>
          </a:p>
        </p:txBody>
      </p:sp>
    </p:spTree>
    <p:extLst>
      <p:ext uri="{BB962C8B-B14F-4D97-AF65-F5344CB8AC3E}">
        <p14:creationId xmlns:p14="http://schemas.microsoft.com/office/powerpoint/2010/main" val="1384771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4A62F1-0EAC-4E6F-9DF2-D3B04898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5. El resto de operaciones mantiene su escala vigente convertida a hora</a:t>
            </a:r>
          </a:p>
        </p:txBody>
      </p:sp>
      <p:sp>
        <p:nvSpPr>
          <p:cNvPr id="2" name="slide-body">
            <a:extLst xmlns:a="http://schemas.openxmlformats.org/drawingml/2006/main">
              <a:ext uri="{FF2B5EF4-FFF2-40B4-BE49-F238E27FC236}">
                <a16:creationId xmlns:a16="http://schemas.microsoft.com/office/drawing/2014/main" id="{241181CF-2A0E-4B3A-BC5C-81F43AD4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521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Resto de operaciones medibles — escalas horarias propuestas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Unidad y escala según operación vigente. Todos los valores son PREMIO / 6,5.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Operación                  | Unidad | División / criterio vigente        | Básico horario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Carga                      | Pallet | Secos y No Alimentarios             | $1.413/h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Carreteo                   | Pallet | Cross-división                      | $1.021/h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Clark                      | Pallet | Secos + NOA                         | $813/h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Clark                      | Pallet | Cámara 06 / Otras Cámaras           | $811/h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Control CHP + CBF          | Hueco  | Secos + NOA                         | $621/h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Control Procesos Manual    | Hueco  | Cross-división                      | $544/h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Recepción NOA              | Pallet | Tabla submódulo                     | $621/h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Recepción Secos            | Pallet | Tabla submódulo                     | $621/h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Criterio de aplicación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• Cuando la tabla vigente diferencia división, se mantiene esa apertura.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• Cuando la tabla vigente no diferencia división, se aplica como escala general.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• Clark conserva escala económica vigente, pero requiere definición operativa del target/movimiento equivalente.</a:t>
            </a:r>
          </a:p>
          <a:p xmlns:a="http://schemas.openxmlformats.org/drawingml/2006/main">
            <a:pPr>
              <a:def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• Recepción debe tomar como base las tablas de submódulo, no las filas planas con premio cero.</a:t>
            </a:r>
          </a:p>
        </p:txBody>
      </p:sp>
    </p:spTree>
    <p:extLst>
      <p:ext uri="{BB962C8B-B14F-4D97-AF65-F5344CB8AC3E}">
        <p14:creationId xmlns:p14="http://schemas.microsoft.com/office/powerpoint/2010/main" val="1155119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2026-07-28T15:04:15.8420000Z</dcterms:created>
  <dcterms:modified xsi:type="dcterms:W3CDTF">2026-07-28T15:04:15.8430000Z</dcterms:modified>
</coreProperties>
</file>